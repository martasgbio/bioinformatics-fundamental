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8" r:id="rId2"/>
    <p:sldId id="257" r:id="rId3"/>
    <p:sldId id="335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36" r:id="rId12"/>
    <p:sldId id="266" r:id="rId13"/>
    <p:sldId id="337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>
      <p:cViewPr varScale="1">
        <p:scale>
          <a:sx n="102" d="100"/>
          <a:sy n="102" d="100"/>
        </p:scale>
        <p:origin x="856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2454" y="337311"/>
            <a:ext cx="11567090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adroTexto 20">
            <a:extLst>
              <a:ext uri="{FF2B5EF4-FFF2-40B4-BE49-F238E27FC236}">
                <a16:creationId xmlns:a16="http://schemas.microsoft.com/office/drawing/2014/main" id="{ECEBB2E2-DBE2-7D45-85D9-738DBA6B0366}"/>
              </a:ext>
            </a:extLst>
          </p:cNvPr>
          <p:cNvSpPr txBox="1"/>
          <p:nvPr userDrawn="1"/>
        </p:nvSpPr>
        <p:spPr>
          <a:xfrm>
            <a:off x="10915587" y="6399354"/>
            <a:ext cx="10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Font typeface="Arial" panose="020B0604020202020204" pitchFamily="34" charset="0"/>
              <a:buNone/>
            </a:pPr>
            <a:fld id="{494B85F6-9C12-014E-82BC-60AF8367F8F5}" type="datetime1">
              <a:rPr lang="es-ES" sz="1200" b="0" i="0" smtClean="0">
                <a:solidFill>
                  <a:schemeClr val="tx1"/>
                </a:solidFill>
                <a:latin typeface="Visuelt Pro" panose="020B0503040202040104" pitchFamily="34" charset="0"/>
                <a:cs typeface="Arial" panose="020B0604020202020204" pitchFamily="34" charset="0"/>
              </a:rPr>
              <a:t>1/5/24</a:t>
            </a:fld>
            <a:endParaRPr lang="es-ES" sz="1200" b="0" i="0" dirty="0">
              <a:solidFill>
                <a:schemeClr val="tx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0" i="0">
                <a:solidFill>
                  <a:schemeClr val="bg2"/>
                </a:solidFill>
                <a:latin typeface="Periodico Display" panose="0200050408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9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bg2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32" name="Marcador de texto 25">
            <a:extLst>
              <a:ext uri="{FF2B5EF4-FFF2-40B4-BE49-F238E27FC236}">
                <a16:creationId xmlns:a16="http://schemas.microsoft.com/office/drawing/2014/main" id="{66002469-9E56-F043-A66E-8B630B63C4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464" y="6399353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3552BD7-4574-8743-9150-E62FBA47D1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7A7AF40-AA69-3442-B768-E2C84B1EC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92740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2B78233-A5DB-994B-BD41-02BB62B89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095" y="0"/>
            <a:ext cx="12204096" cy="6858000"/>
          </a:xfrm>
          <a:prstGeom prst="rect">
            <a:avLst/>
          </a:prstGeom>
        </p:spPr>
      </p:pic>
      <p:sp>
        <p:nvSpPr>
          <p:cNvPr id="9" name="Marcador de texto 13">
            <a:extLst>
              <a:ext uri="{FF2B5EF4-FFF2-40B4-BE49-F238E27FC236}">
                <a16:creationId xmlns:a16="http://schemas.microsoft.com/office/drawing/2014/main" id="{204741AB-5D58-1643-89C3-8D22DB98A0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893" y="325097"/>
            <a:ext cx="7580339" cy="902393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5400" b="0" i="0" spc="-100" baseline="0">
                <a:solidFill>
                  <a:schemeClr val="tx1"/>
                </a:solidFill>
                <a:latin typeface="Periodico Display UltraLight" panose="02000504070000020004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10" name="Marcador de texto 13">
            <a:extLst>
              <a:ext uri="{FF2B5EF4-FFF2-40B4-BE49-F238E27FC236}">
                <a16:creationId xmlns:a16="http://schemas.microsoft.com/office/drawing/2014/main" id="{DF7306E1-EC40-8E43-99C5-762DD98192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893" y="1264063"/>
            <a:ext cx="7570912" cy="56360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300" b="0" i="0" spc="0" baseline="0">
                <a:solidFill>
                  <a:schemeClr val="tx1"/>
                </a:solidFill>
                <a:latin typeface="Visuelt Pro" panose="020B05030402020401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Subtítulo presentación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96E94D9-77ED-4844-97B3-F10D42E565D1}"/>
              </a:ext>
            </a:extLst>
          </p:cNvPr>
          <p:cNvSpPr txBox="1"/>
          <p:nvPr userDrawn="1"/>
        </p:nvSpPr>
        <p:spPr>
          <a:xfrm>
            <a:off x="329937" y="6202837"/>
            <a:ext cx="1259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98507C16-89E1-4D43-9171-A1CEEE7C010C}" type="datetime1">
              <a:rPr lang="es-ES" sz="1400" b="0" i="0" smtClean="0">
                <a:solidFill>
                  <a:schemeClr val="bg1"/>
                </a:solidFill>
                <a:latin typeface="Visuelt Pro" panose="020B0503040202040104" pitchFamily="34" charset="0"/>
                <a:cs typeface="Arial" panose="020B0604020202020204" pitchFamily="34" charset="0"/>
              </a:rPr>
              <a:t>1/5/24</a:t>
            </a:fld>
            <a:endParaRPr lang="es-ES" sz="1400" b="0" i="0" dirty="0">
              <a:solidFill>
                <a:schemeClr val="bg1"/>
              </a:solidFill>
              <a:latin typeface="Visuelt Pro" panose="020B05030402020401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645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952758" y="224884"/>
            <a:ext cx="1015039" cy="4050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5460" y="1573784"/>
            <a:ext cx="10205085" cy="922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65795" y="1240558"/>
            <a:ext cx="7611745" cy="4640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204" y="6425872"/>
            <a:ext cx="588644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438826" y="6425872"/>
            <a:ext cx="454659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segatalab.cibio.unitn.it/data/Pasolli_et_al.html)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://segatalab.cibio.unitn.it/data/Pasolli_et_al.html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obakery/graphla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5911E35-1556-9C46-AA83-C01215B09DED}"/>
              </a:ext>
            </a:extLst>
          </p:cNvPr>
          <p:cNvSpPr txBox="1"/>
          <p:nvPr/>
        </p:nvSpPr>
        <p:spPr>
          <a:xfrm>
            <a:off x="5950478" y="4774872"/>
            <a:ext cx="4269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Apex New"/>
                <a:ea typeface="+mj-ea"/>
                <a:cs typeface="+mj-cs"/>
              </a:rPr>
              <a:t>Dra. María </a:t>
            </a:r>
            <a:r>
              <a:rPr lang="es-ES" dirty="0" err="1">
                <a:latin typeface="Apex New"/>
                <a:ea typeface="+mj-ea"/>
                <a:cs typeface="+mj-cs"/>
              </a:rPr>
              <a:t>Lairón</a:t>
            </a:r>
            <a:r>
              <a:rPr lang="es-ES" dirty="0">
                <a:latin typeface="Apex New"/>
                <a:ea typeface="+mj-ea"/>
                <a:cs typeface="+mj-cs"/>
              </a:rPr>
              <a:t> Peris</a:t>
            </a:r>
          </a:p>
          <a:p>
            <a:r>
              <a:rPr lang="es-ES" dirty="0" err="1">
                <a:latin typeface="Apex New"/>
                <a:ea typeface="+mj-ea"/>
                <a:cs typeface="+mj-cs"/>
              </a:rPr>
              <a:t>maria.lairon@professor.universidadviu.com</a:t>
            </a:r>
            <a:endParaRPr lang="es-ES" dirty="0">
              <a:latin typeface="Apex New"/>
              <a:ea typeface="+mj-ea"/>
              <a:cs typeface="+mj-cs"/>
            </a:endParaRPr>
          </a:p>
        </p:txBody>
      </p:sp>
      <p:sp>
        <p:nvSpPr>
          <p:cNvPr id="8" name="Marcador de texto 1">
            <a:extLst>
              <a:ext uri="{FF2B5EF4-FFF2-40B4-BE49-F238E27FC236}">
                <a16:creationId xmlns:a16="http://schemas.microsoft.com/office/drawing/2014/main" id="{F5F6069F-BB47-E34D-A889-C63883D40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893" y="325097"/>
            <a:ext cx="11007170" cy="902393"/>
          </a:xfrm>
        </p:spPr>
        <p:txBody>
          <a:bodyPr/>
          <a:lstStyle/>
          <a:p>
            <a:r>
              <a:rPr lang="es-ES" sz="4800" dirty="0"/>
              <a:t>Máster en Bioinformática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1A0F4B86-AE2F-3948-8993-7AFE7A762C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0794" y="1306974"/>
            <a:ext cx="11490411" cy="563602"/>
          </a:xfrm>
        </p:spPr>
        <p:txBody>
          <a:bodyPr/>
          <a:lstStyle/>
          <a:p>
            <a:r>
              <a:rPr lang="es-ES_tradnl" b="1" dirty="0"/>
              <a:t> </a:t>
            </a:r>
            <a:endParaRPr lang="es-ES" dirty="0"/>
          </a:p>
          <a:p>
            <a:r>
              <a:rPr lang="es-ES" b="1" dirty="0"/>
              <a:t> Análisis de datos </a:t>
            </a:r>
            <a:r>
              <a:rPr lang="es-ES" b="1" dirty="0" err="1"/>
              <a:t>ómicos</a:t>
            </a:r>
            <a:r>
              <a:rPr lang="es-ES" b="1" dirty="0"/>
              <a:t> para poblaciones</a:t>
            </a:r>
            <a:endParaRPr lang="es-ES" dirty="0"/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C6CD89A9-538F-A841-AA70-63BC030F6B98}"/>
              </a:ext>
            </a:extLst>
          </p:cNvPr>
          <p:cNvSpPr txBox="1">
            <a:spLocks/>
          </p:cNvSpPr>
          <p:nvPr/>
        </p:nvSpPr>
        <p:spPr>
          <a:xfrm>
            <a:off x="446893" y="2415023"/>
            <a:ext cx="3256828" cy="56360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300" b="0" i="0" kern="1200" spc="0" baseline="0">
                <a:solidFill>
                  <a:schemeClr val="tx1"/>
                </a:solidFill>
                <a:latin typeface="Visuelt Pro" panose="020B05030402020401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/>
              <a:t>Curso </a:t>
            </a:r>
            <a:r>
              <a:rPr lang="es-ES" sz="1600"/>
              <a:t>académico 2024-25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926806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806" y="0"/>
            <a:ext cx="10047208" cy="43663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155700" marR="5080" indent="-1143000">
              <a:lnSpc>
                <a:spcPct val="78200"/>
              </a:lnSpc>
              <a:spcBef>
                <a:spcPts val="960"/>
              </a:spcBef>
              <a:tabLst>
                <a:tab pos="1155065" algn="l"/>
              </a:tabLst>
            </a:pPr>
            <a:r>
              <a:rPr spc="-50" dirty="0"/>
              <a:t>1.	</a:t>
            </a:r>
            <a:r>
              <a:rPr spc="-100" dirty="0"/>
              <a:t>Introducción</a:t>
            </a:r>
            <a:r>
              <a:rPr spc="-195" dirty="0"/>
              <a:t> </a:t>
            </a:r>
            <a:r>
              <a:rPr spc="-55" dirty="0"/>
              <a:t>al</a:t>
            </a:r>
            <a:r>
              <a:rPr spc="-200" dirty="0"/>
              <a:t> </a:t>
            </a:r>
            <a:r>
              <a:rPr spc="-95" dirty="0"/>
              <a:t>análisis</a:t>
            </a:r>
            <a:r>
              <a:rPr spc="-200" dirty="0"/>
              <a:t> </a:t>
            </a:r>
            <a:r>
              <a:rPr spc="-50" dirty="0"/>
              <a:t>de</a:t>
            </a:r>
            <a:r>
              <a:rPr spc="-190" dirty="0"/>
              <a:t> </a:t>
            </a:r>
            <a:r>
              <a:rPr spc="-95" dirty="0"/>
              <a:t>datos</a:t>
            </a:r>
            <a:r>
              <a:rPr spc="-204" dirty="0"/>
              <a:t> </a:t>
            </a:r>
            <a:r>
              <a:rPr spc="-90" dirty="0"/>
              <a:t>ómicos</a:t>
            </a:r>
            <a:r>
              <a:rPr spc="-210" dirty="0"/>
              <a:t> </a:t>
            </a:r>
            <a:r>
              <a:rPr spc="-50" dirty="0"/>
              <a:t>de</a:t>
            </a:r>
            <a:r>
              <a:rPr spc="-195" dirty="0"/>
              <a:t> </a:t>
            </a:r>
            <a:r>
              <a:rPr spc="-95" dirty="0"/>
              <a:t>poblaciones. </a:t>
            </a:r>
            <a:r>
              <a:rPr spc="-730" dirty="0"/>
              <a:t> </a:t>
            </a:r>
            <a:r>
              <a:rPr spc="-110" dirty="0"/>
              <a:t>D</a:t>
            </a:r>
            <a:r>
              <a:rPr spc="-105" dirty="0"/>
              <a:t>is</a:t>
            </a:r>
            <a:r>
              <a:rPr spc="-100" dirty="0"/>
              <a:t>eño</a:t>
            </a:r>
            <a:r>
              <a:rPr dirty="0"/>
              <a:t>s</a:t>
            </a:r>
            <a:r>
              <a:rPr spc="-200" dirty="0"/>
              <a:t> </a:t>
            </a:r>
            <a:r>
              <a:rPr spc="-155" dirty="0"/>
              <a:t>e</a:t>
            </a:r>
            <a:r>
              <a:rPr spc="-105" dirty="0"/>
              <a:t>x</a:t>
            </a:r>
            <a:r>
              <a:rPr spc="-100" dirty="0"/>
              <a:t>perime</a:t>
            </a:r>
            <a:r>
              <a:rPr spc="-130" dirty="0"/>
              <a:t>nt</a:t>
            </a:r>
            <a:r>
              <a:rPr spc="-105" dirty="0"/>
              <a:t>a</a:t>
            </a:r>
            <a:r>
              <a:rPr spc="-100" dirty="0"/>
              <a:t>le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5460" y="2375408"/>
            <a:ext cx="10807700" cy="2546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0" indent="-1143000">
              <a:lnSpc>
                <a:spcPts val="3575"/>
              </a:lnSpc>
              <a:spcBef>
                <a:spcPts val="100"/>
              </a:spcBef>
              <a:buAutoNum type="arabicPeriod" startAt="2"/>
              <a:tabLst>
                <a:tab pos="1155065" algn="l"/>
                <a:tab pos="1155700" algn="l"/>
              </a:tabLst>
            </a:pPr>
            <a:r>
              <a:rPr sz="3300" b="1" spc="-100" dirty="0">
                <a:latin typeface="Calibri"/>
                <a:cs typeface="Calibri"/>
              </a:rPr>
              <a:t>M</a:t>
            </a:r>
            <a:r>
              <a:rPr sz="3300" b="1" spc="-120" dirty="0">
                <a:latin typeface="Calibri"/>
                <a:cs typeface="Calibri"/>
              </a:rPr>
              <a:t>e</a:t>
            </a:r>
            <a:r>
              <a:rPr sz="3300" b="1" spc="-130" dirty="0">
                <a:latin typeface="Calibri"/>
                <a:cs typeface="Calibri"/>
              </a:rPr>
              <a:t>t</a:t>
            </a:r>
            <a:r>
              <a:rPr sz="3300" b="1" spc="-110" dirty="0">
                <a:latin typeface="Calibri"/>
                <a:cs typeface="Calibri"/>
              </a:rPr>
              <a:t>a</a:t>
            </a:r>
            <a:r>
              <a:rPr sz="3300" b="1" spc="-140" dirty="0">
                <a:latin typeface="Calibri"/>
                <a:cs typeface="Calibri"/>
              </a:rPr>
              <a:t>g</a:t>
            </a:r>
            <a:r>
              <a:rPr sz="3300" b="1" spc="-100" dirty="0">
                <a:latin typeface="Calibri"/>
                <a:cs typeface="Calibri"/>
              </a:rPr>
              <a:t>en</a:t>
            </a:r>
            <a:r>
              <a:rPr sz="3300" b="1" spc="-105" dirty="0">
                <a:latin typeface="Calibri"/>
                <a:cs typeface="Calibri"/>
              </a:rPr>
              <a:t>ó</a:t>
            </a:r>
            <a:r>
              <a:rPr sz="3300" b="1" spc="-100" dirty="0">
                <a:latin typeface="Calibri"/>
                <a:cs typeface="Calibri"/>
              </a:rPr>
              <a:t>m</a:t>
            </a:r>
            <a:r>
              <a:rPr sz="3300" b="1" spc="-105" dirty="0">
                <a:latin typeface="Calibri"/>
                <a:cs typeface="Calibri"/>
              </a:rPr>
              <a:t>i</a:t>
            </a:r>
            <a:r>
              <a:rPr sz="3300" b="1" spc="-125" dirty="0">
                <a:latin typeface="Calibri"/>
                <a:cs typeface="Calibri"/>
              </a:rPr>
              <a:t>c</a:t>
            </a:r>
            <a:r>
              <a:rPr sz="3300" b="1" dirty="0">
                <a:latin typeface="Calibri"/>
                <a:cs typeface="Calibri"/>
              </a:rPr>
              <a:t>a</a:t>
            </a:r>
            <a:r>
              <a:rPr sz="3300" b="1" spc="-195" dirty="0">
                <a:latin typeface="Calibri"/>
                <a:cs typeface="Calibri"/>
              </a:rPr>
              <a:t> </a:t>
            </a:r>
            <a:r>
              <a:rPr sz="3300" b="1" i="1" spc="-105" dirty="0">
                <a:latin typeface="Calibri"/>
                <a:cs typeface="Calibri"/>
              </a:rPr>
              <a:t>(</a:t>
            </a:r>
            <a:r>
              <a:rPr sz="3300" b="1" i="1" spc="-100" dirty="0">
                <a:latin typeface="Calibri"/>
                <a:cs typeface="Calibri"/>
              </a:rPr>
              <a:t>w</a:t>
            </a:r>
            <a:r>
              <a:rPr sz="3300" b="1" i="1" spc="-105" dirty="0">
                <a:latin typeface="Calibri"/>
                <a:cs typeface="Calibri"/>
              </a:rPr>
              <a:t>ho</a:t>
            </a:r>
            <a:r>
              <a:rPr sz="3300" b="1" i="1" spc="-100" dirty="0">
                <a:latin typeface="Calibri"/>
                <a:cs typeface="Calibri"/>
              </a:rPr>
              <a:t>l</a:t>
            </a:r>
            <a:r>
              <a:rPr sz="3300" b="1" i="1" dirty="0">
                <a:latin typeface="Calibri"/>
                <a:cs typeface="Calibri"/>
              </a:rPr>
              <a:t>e</a:t>
            </a:r>
            <a:r>
              <a:rPr sz="3300" b="1" i="1" spc="-195" dirty="0">
                <a:latin typeface="Calibri"/>
                <a:cs typeface="Calibri"/>
              </a:rPr>
              <a:t> </a:t>
            </a:r>
            <a:r>
              <a:rPr sz="3300" b="1" i="1" spc="-105" dirty="0">
                <a:latin typeface="Calibri"/>
                <a:cs typeface="Calibri"/>
              </a:rPr>
              <a:t>g</a:t>
            </a:r>
            <a:r>
              <a:rPr sz="3300" b="1" i="1" spc="-95" dirty="0">
                <a:latin typeface="Calibri"/>
                <a:cs typeface="Calibri"/>
              </a:rPr>
              <a:t>e</a:t>
            </a:r>
            <a:r>
              <a:rPr sz="3300" b="1" i="1" spc="-105" dirty="0">
                <a:latin typeface="Calibri"/>
                <a:cs typeface="Calibri"/>
              </a:rPr>
              <a:t>nom</a:t>
            </a:r>
            <a:r>
              <a:rPr sz="3300" b="1" i="1" dirty="0">
                <a:latin typeface="Calibri"/>
                <a:cs typeface="Calibri"/>
              </a:rPr>
              <a:t>e</a:t>
            </a:r>
            <a:r>
              <a:rPr sz="3300" b="1" i="1" spc="-195" dirty="0">
                <a:latin typeface="Calibri"/>
                <a:cs typeface="Calibri"/>
              </a:rPr>
              <a:t> </a:t>
            </a:r>
            <a:r>
              <a:rPr sz="3300" b="1" i="1" spc="-105" dirty="0">
                <a:latin typeface="Calibri"/>
                <a:cs typeface="Calibri"/>
              </a:rPr>
              <a:t>s</a:t>
            </a:r>
            <a:r>
              <a:rPr sz="3300" b="1" i="1" spc="-95" dirty="0">
                <a:latin typeface="Calibri"/>
                <a:cs typeface="Calibri"/>
              </a:rPr>
              <a:t>e</a:t>
            </a:r>
            <a:r>
              <a:rPr sz="3300" b="1" i="1" spc="-105" dirty="0">
                <a:latin typeface="Calibri"/>
                <a:cs typeface="Calibri"/>
              </a:rPr>
              <a:t>qu</a:t>
            </a:r>
            <a:r>
              <a:rPr sz="3300" b="1" i="1" spc="-95" dirty="0">
                <a:latin typeface="Calibri"/>
                <a:cs typeface="Calibri"/>
              </a:rPr>
              <a:t>e</a:t>
            </a:r>
            <a:r>
              <a:rPr sz="3300" b="1" i="1" spc="-105" dirty="0">
                <a:latin typeface="Calibri"/>
                <a:cs typeface="Calibri"/>
              </a:rPr>
              <a:t>n</a:t>
            </a:r>
            <a:r>
              <a:rPr sz="3300" b="1" i="1" spc="-100" dirty="0">
                <a:latin typeface="Calibri"/>
                <a:cs typeface="Calibri"/>
              </a:rPr>
              <a:t>cin</a:t>
            </a:r>
            <a:r>
              <a:rPr sz="3300" b="1" i="1" spc="-114" dirty="0">
                <a:latin typeface="Calibri"/>
                <a:cs typeface="Calibri"/>
              </a:rPr>
              <a:t>g</a:t>
            </a:r>
            <a:r>
              <a:rPr sz="3300" b="1" dirty="0">
                <a:latin typeface="Calibri"/>
                <a:cs typeface="Calibri"/>
              </a:rPr>
              <a:t>)</a:t>
            </a:r>
            <a:endParaRPr sz="3300">
              <a:latin typeface="Calibri"/>
              <a:cs typeface="Calibri"/>
            </a:endParaRPr>
          </a:p>
          <a:p>
            <a:pPr marL="1155700" indent="-1143000">
              <a:lnSpc>
                <a:spcPts val="3145"/>
              </a:lnSpc>
              <a:buAutoNum type="arabicPeriod" startAt="2"/>
              <a:tabLst>
                <a:tab pos="1155065" algn="l"/>
                <a:tab pos="1155700" algn="l"/>
              </a:tabLst>
            </a:pPr>
            <a:r>
              <a:rPr sz="3300" b="1" spc="-114" dirty="0">
                <a:solidFill>
                  <a:srgbClr val="E7E6E6"/>
                </a:solidFill>
                <a:latin typeface="Calibri"/>
                <a:cs typeface="Calibri"/>
              </a:rPr>
              <a:t>Metataxonómica</a:t>
            </a:r>
            <a:endParaRPr sz="3300">
              <a:latin typeface="Calibri"/>
              <a:cs typeface="Calibri"/>
            </a:endParaRPr>
          </a:p>
          <a:p>
            <a:pPr marL="1155700" marR="5080" indent="-1143000">
              <a:lnSpc>
                <a:spcPts val="3190"/>
              </a:lnSpc>
              <a:spcBef>
                <a:spcPts val="315"/>
              </a:spcBef>
              <a:buAutoNum type="arabicPeriod" startAt="2"/>
              <a:tabLst>
                <a:tab pos="1155065" algn="l"/>
                <a:tab pos="1155700" algn="l"/>
              </a:tabLst>
            </a:pP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An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á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li</a:t>
            </a:r>
            <a:r>
              <a:rPr sz="3300" b="1" spc="-105" dirty="0">
                <a:solidFill>
                  <a:srgbClr val="E7E6E6"/>
                </a:solidFill>
                <a:latin typeface="Calibri"/>
                <a:cs typeface="Calibri"/>
              </a:rPr>
              <a:t>s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i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s</a:t>
            </a:r>
            <a:r>
              <a:rPr sz="3300" b="1" spc="-2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e</a:t>
            </a:r>
            <a:r>
              <a:rPr sz="3300" b="1" spc="-19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i</a:t>
            </a:r>
            <a:r>
              <a:rPr sz="3300" b="1" spc="-130" dirty="0">
                <a:solidFill>
                  <a:srgbClr val="E7E6E6"/>
                </a:solidFill>
                <a:latin typeface="Calibri"/>
                <a:cs typeface="Calibri"/>
              </a:rPr>
              <a:t>n</a:t>
            </a:r>
            <a:r>
              <a:rPr sz="3300" b="1" spc="-135" dirty="0">
                <a:solidFill>
                  <a:srgbClr val="E7E6E6"/>
                </a:solidFill>
                <a:latin typeface="Calibri"/>
                <a:cs typeface="Calibri"/>
              </a:rPr>
              <a:t>t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erp</a:t>
            </a:r>
            <a:r>
              <a:rPr sz="3300" b="1" spc="-135" dirty="0">
                <a:solidFill>
                  <a:srgbClr val="E7E6E6"/>
                </a:solidFill>
                <a:latin typeface="Calibri"/>
                <a:cs typeface="Calibri"/>
              </a:rPr>
              <a:t>r</a:t>
            </a:r>
            <a:r>
              <a:rPr sz="3300" b="1" spc="-125" dirty="0">
                <a:solidFill>
                  <a:srgbClr val="E7E6E6"/>
                </a:solidFill>
                <a:latin typeface="Calibri"/>
                <a:cs typeface="Calibri"/>
              </a:rPr>
              <a:t>et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spc="-105" dirty="0">
                <a:solidFill>
                  <a:srgbClr val="E7E6E6"/>
                </a:solidFill>
                <a:latin typeface="Calibri"/>
                <a:cs typeface="Calibri"/>
              </a:rPr>
              <a:t>c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ió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n</a:t>
            </a:r>
            <a:r>
              <a:rPr sz="3300" b="1" spc="-19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bioló</a:t>
            </a:r>
            <a:r>
              <a:rPr sz="3300" b="1" spc="-105" dirty="0">
                <a:solidFill>
                  <a:srgbClr val="E7E6E6"/>
                </a:solidFill>
                <a:latin typeface="Calibri"/>
                <a:cs typeface="Calibri"/>
              </a:rPr>
              <a:t>g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i</a:t>
            </a:r>
            <a:r>
              <a:rPr sz="3300" b="1" spc="-125" dirty="0">
                <a:solidFill>
                  <a:srgbClr val="E7E6E6"/>
                </a:solidFill>
                <a:latin typeface="Calibri"/>
                <a:cs typeface="Calibri"/>
              </a:rPr>
              <a:t>c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spc="-204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d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e</a:t>
            </a:r>
            <a:r>
              <a:rPr sz="3300" b="1" spc="-19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35" dirty="0">
                <a:solidFill>
                  <a:srgbClr val="E7E6E6"/>
                </a:solidFill>
                <a:latin typeface="Calibri"/>
                <a:cs typeface="Calibri"/>
              </a:rPr>
              <a:t>r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e</a:t>
            </a:r>
            <a:r>
              <a:rPr sz="3300" b="1" spc="-105" dirty="0">
                <a:solidFill>
                  <a:srgbClr val="E7E6E6"/>
                </a:solidFill>
                <a:latin typeface="Calibri"/>
                <a:cs typeface="Calibri"/>
              </a:rPr>
              <a:t>s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ul</a:t>
            </a:r>
            <a:r>
              <a:rPr sz="3300" b="1" spc="-125" dirty="0">
                <a:solidFill>
                  <a:srgbClr val="E7E6E6"/>
                </a:solidFill>
                <a:latin typeface="Calibri"/>
                <a:cs typeface="Calibri"/>
              </a:rPr>
              <a:t>t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do</a:t>
            </a:r>
            <a:r>
              <a:rPr sz="3300" b="1" spc="-105" dirty="0">
                <a:solidFill>
                  <a:srgbClr val="E7E6E6"/>
                </a:solidFill>
                <a:latin typeface="Calibri"/>
                <a:cs typeface="Calibri"/>
              </a:rPr>
              <a:t>s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,</a:t>
            </a:r>
            <a:r>
              <a:rPr sz="3300" b="1" spc="-2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prin</a:t>
            </a:r>
            <a:r>
              <a:rPr sz="3300" b="1" spc="-105" dirty="0">
                <a:solidFill>
                  <a:srgbClr val="E7E6E6"/>
                </a:solidFill>
                <a:latin typeface="Calibri"/>
                <a:cs typeface="Calibri"/>
              </a:rPr>
              <a:t>c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ip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le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s  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her</a:t>
            </a:r>
            <a:r>
              <a:rPr sz="3300" b="1" spc="-170" dirty="0">
                <a:solidFill>
                  <a:srgbClr val="E7E6E6"/>
                </a:solidFill>
                <a:latin typeface="Calibri"/>
                <a:cs typeface="Calibri"/>
              </a:rPr>
              <a:t>r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mie</a:t>
            </a:r>
            <a:r>
              <a:rPr sz="3300" b="1" spc="-130" dirty="0">
                <a:solidFill>
                  <a:srgbClr val="E7E6E6"/>
                </a:solidFill>
                <a:latin typeface="Calibri"/>
                <a:cs typeface="Calibri"/>
              </a:rPr>
              <a:t>nt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s</a:t>
            </a:r>
            <a:r>
              <a:rPr sz="3300" b="1" spc="-204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95" dirty="0">
                <a:solidFill>
                  <a:srgbClr val="E7E6E6"/>
                </a:solidFill>
                <a:latin typeface="Calibri"/>
                <a:cs typeface="Calibri"/>
              </a:rPr>
              <a:t>d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e</a:t>
            </a:r>
            <a:r>
              <a:rPr sz="3300" b="1" spc="-19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n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á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li</a:t>
            </a:r>
            <a:r>
              <a:rPr sz="3300" b="1" spc="-105" dirty="0">
                <a:solidFill>
                  <a:srgbClr val="E7E6E6"/>
                </a:solidFill>
                <a:latin typeface="Calibri"/>
                <a:cs typeface="Calibri"/>
              </a:rPr>
              <a:t>s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i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s</a:t>
            </a:r>
            <a:r>
              <a:rPr sz="3300" b="1" spc="-204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bioe</a:t>
            </a:r>
            <a:r>
              <a:rPr sz="3300" b="1" spc="-145" dirty="0">
                <a:solidFill>
                  <a:srgbClr val="E7E6E6"/>
                </a:solidFill>
                <a:latin typeface="Calibri"/>
                <a:cs typeface="Calibri"/>
              </a:rPr>
              <a:t>s</a:t>
            </a:r>
            <a:r>
              <a:rPr sz="3300" b="1" spc="-130" dirty="0">
                <a:solidFill>
                  <a:srgbClr val="E7E6E6"/>
                </a:solidFill>
                <a:latin typeface="Calibri"/>
                <a:cs typeface="Calibri"/>
              </a:rPr>
              <a:t>t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dí</a:t>
            </a:r>
            <a:r>
              <a:rPr sz="3300" b="1" spc="-140" dirty="0">
                <a:solidFill>
                  <a:srgbClr val="E7E6E6"/>
                </a:solidFill>
                <a:latin typeface="Calibri"/>
                <a:cs typeface="Calibri"/>
              </a:rPr>
              <a:t>s</a:t>
            </a:r>
            <a:r>
              <a:rPr sz="3300" b="1" spc="-95" dirty="0">
                <a:solidFill>
                  <a:srgbClr val="E7E6E6"/>
                </a:solidFill>
                <a:latin typeface="Calibri"/>
                <a:cs typeface="Calibri"/>
              </a:rPr>
              <a:t>t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i</a:t>
            </a:r>
            <a:r>
              <a:rPr sz="3300" b="1" spc="-125" dirty="0">
                <a:solidFill>
                  <a:srgbClr val="E7E6E6"/>
                </a:solidFill>
                <a:latin typeface="Calibri"/>
                <a:cs typeface="Calibri"/>
              </a:rPr>
              <a:t>c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o</a:t>
            </a:r>
            <a:endParaRPr sz="3300">
              <a:latin typeface="Calibri"/>
              <a:cs typeface="Calibri"/>
            </a:endParaRPr>
          </a:p>
          <a:p>
            <a:pPr marL="1155700" marR="843915" indent="-1143000">
              <a:lnSpc>
                <a:spcPts val="3190"/>
              </a:lnSpc>
              <a:spcBef>
                <a:spcPts val="25"/>
              </a:spcBef>
              <a:buAutoNum type="arabicPeriod" startAt="2"/>
              <a:tabLst>
                <a:tab pos="1155065" algn="l"/>
                <a:tab pos="1155700" algn="l"/>
              </a:tabLst>
            </a:pPr>
            <a:r>
              <a:rPr sz="3300" b="1" spc="-95" dirty="0">
                <a:solidFill>
                  <a:srgbClr val="E7E6E6"/>
                </a:solidFill>
                <a:latin typeface="Calibri"/>
                <a:cs typeface="Calibri"/>
              </a:rPr>
              <a:t>O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t</a:t>
            </a:r>
            <a:r>
              <a:rPr sz="3300" b="1" spc="-175" dirty="0">
                <a:solidFill>
                  <a:srgbClr val="E7E6E6"/>
                </a:solidFill>
                <a:latin typeface="Calibri"/>
                <a:cs typeface="Calibri"/>
              </a:rPr>
              <a:t>r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s</a:t>
            </a:r>
            <a:r>
              <a:rPr sz="3300" b="1" spc="-2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her</a:t>
            </a:r>
            <a:r>
              <a:rPr sz="3300" b="1" spc="-175" dirty="0">
                <a:solidFill>
                  <a:srgbClr val="E7E6E6"/>
                </a:solidFill>
                <a:latin typeface="Calibri"/>
                <a:cs typeface="Calibri"/>
              </a:rPr>
              <a:t>r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mie</a:t>
            </a:r>
            <a:r>
              <a:rPr sz="3300" b="1" spc="-130" dirty="0">
                <a:solidFill>
                  <a:srgbClr val="E7E6E6"/>
                </a:solidFill>
                <a:latin typeface="Calibri"/>
                <a:cs typeface="Calibri"/>
              </a:rPr>
              <a:t>nt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s</a:t>
            </a:r>
            <a:r>
              <a:rPr sz="3300" b="1" spc="-2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e</a:t>
            </a:r>
            <a:r>
              <a:rPr sz="3300" b="1" spc="-19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i</a:t>
            </a:r>
            <a:r>
              <a:rPr sz="3300" b="1" spc="-130" dirty="0">
                <a:solidFill>
                  <a:srgbClr val="E7E6E6"/>
                </a:solidFill>
                <a:latin typeface="Calibri"/>
                <a:cs typeface="Calibri"/>
              </a:rPr>
              <a:t>n</a:t>
            </a:r>
            <a:r>
              <a:rPr sz="3300" b="1" spc="-140" dirty="0">
                <a:solidFill>
                  <a:srgbClr val="E7E6E6"/>
                </a:solidFill>
                <a:latin typeface="Calibri"/>
                <a:cs typeface="Calibri"/>
              </a:rPr>
              <a:t>t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er</a:t>
            </a:r>
            <a:r>
              <a:rPr sz="3300" b="1" spc="-150" dirty="0">
                <a:solidFill>
                  <a:srgbClr val="E7E6E6"/>
                </a:solidFill>
                <a:latin typeface="Calibri"/>
                <a:cs typeface="Calibri"/>
              </a:rPr>
              <a:t>f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spc="-105" dirty="0">
                <a:solidFill>
                  <a:srgbClr val="E7E6E6"/>
                </a:solidFill>
                <a:latin typeface="Calibri"/>
                <a:cs typeface="Calibri"/>
              </a:rPr>
              <a:t>c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e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s</a:t>
            </a:r>
            <a:r>
              <a:rPr sz="3300" b="1" spc="-2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25" dirty="0">
                <a:solidFill>
                  <a:srgbClr val="E7E6E6"/>
                </a:solidFill>
                <a:latin typeface="Calibri"/>
                <a:cs typeface="Calibri"/>
              </a:rPr>
              <a:t>w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e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b</a:t>
            </a:r>
            <a:r>
              <a:rPr sz="3300" b="1" spc="-19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p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spc="-175" dirty="0">
                <a:solidFill>
                  <a:srgbClr val="E7E6E6"/>
                </a:solidFill>
                <a:latin typeface="Calibri"/>
                <a:cs typeface="Calibri"/>
              </a:rPr>
              <a:t>r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spc="-204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ll</a:t>
            </a:r>
            <a:r>
              <a:rPr sz="3300" b="1" spc="-114" dirty="0">
                <a:solidFill>
                  <a:srgbClr val="E7E6E6"/>
                </a:solidFill>
                <a:latin typeface="Calibri"/>
                <a:cs typeface="Calibri"/>
              </a:rPr>
              <a:t>e</a:t>
            </a:r>
            <a:r>
              <a:rPr sz="3300" b="1" spc="-150" dirty="0">
                <a:solidFill>
                  <a:srgbClr val="E7E6E6"/>
                </a:solidFill>
                <a:latin typeface="Calibri"/>
                <a:cs typeface="Calibri"/>
              </a:rPr>
              <a:t>v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r</a:t>
            </a:r>
            <a:r>
              <a:rPr sz="3300" b="1" spc="-20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spc="-204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25" dirty="0">
                <a:solidFill>
                  <a:srgbClr val="E7E6E6"/>
                </a:solidFill>
                <a:latin typeface="Calibri"/>
                <a:cs typeface="Calibri"/>
              </a:rPr>
              <a:t>c</a:t>
            </a:r>
            <a:r>
              <a:rPr sz="3300" b="1" spc="-11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3300" b="1" spc="-100" dirty="0">
                <a:solidFill>
                  <a:srgbClr val="E7E6E6"/>
                </a:solidFill>
                <a:latin typeface="Calibri"/>
                <a:cs typeface="Calibri"/>
              </a:rPr>
              <a:t>b</a:t>
            </a:r>
            <a:r>
              <a:rPr sz="3300" b="1" dirty="0">
                <a:solidFill>
                  <a:srgbClr val="E7E6E6"/>
                </a:solidFill>
                <a:latin typeface="Calibri"/>
                <a:cs typeface="Calibri"/>
              </a:rPr>
              <a:t>o  </a:t>
            </a:r>
            <a:r>
              <a:rPr sz="3300" b="1" spc="-90" dirty="0">
                <a:solidFill>
                  <a:srgbClr val="E7E6E6"/>
                </a:solidFill>
                <a:latin typeface="Calibri"/>
                <a:cs typeface="Calibri"/>
              </a:rPr>
              <a:t>análisis</a:t>
            </a:r>
            <a:r>
              <a:rPr sz="3300" b="1" spc="-204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50" dirty="0">
                <a:solidFill>
                  <a:srgbClr val="E7E6E6"/>
                </a:solidFill>
                <a:latin typeface="Calibri"/>
                <a:cs typeface="Calibri"/>
              </a:rPr>
              <a:t>en</a:t>
            </a:r>
            <a:r>
              <a:rPr sz="3300" b="1" spc="-19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95" dirty="0">
                <a:solidFill>
                  <a:srgbClr val="E7E6E6"/>
                </a:solidFill>
                <a:latin typeface="Calibri"/>
                <a:cs typeface="Calibri"/>
              </a:rPr>
              <a:t>estudios</a:t>
            </a:r>
            <a:r>
              <a:rPr sz="3300" b="1" spc="-21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90" dirty="0">
                <a:solidFill>
                  <a:srgbClr val="E7E6E6"/>
                </a:solidFill>
                <a:latin typeface="Calibri"/>
                <a:cs typeface="Calibri"/>
              </a:rPr>
              <a:t>ómicos</a:t>
            </a:r>
            <a:r>
              <a:rPr sz="3300" b="1" spc="-21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50" dirty="0">
                <a:solidFill>
                  <a:srgbClr val="E7E6E6"/>
                </a:solidFill>
                <a:latin typeface="Calibri"/>
                <a:cs typeface="Calibri"/>
              </a:rPr>
              <a:t>de</a:t>
            </a:r>
            <a:r>
              <a:rPr sz="3300" b="1" spc="-19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3300" b="1" spc="-105" dirty="0">
                <a:solidFill>
                  <a:srgbClr val="E7E6E6"/>
                </a:solidFill>
                <a:latin typeface="Calibri"/>
                <a:cs typeface="Calibri"/>
              </a:rPr>
              <a:t>poblaciones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900" y="6409435"/>
            <a:ext cx="9245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 err="1">
                <a:latin typeface="Calibri"/>
                <a:cs typeface="Calibri"/>
              </a:rPr>
              <a:t>Curso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202</a:t>
            </a:r>
            <a:r>
              <a:rPr lang="es-ES" sz="1200" spc="-5" dirty="0">
                <a:latin typeface="Calibri"/>
                <a:cs typeface="Calibri"/>
              </a:rPr>
              <a:t>3</a:t>
            </a:r>
            <a:r>
              <a:rPr sz="1200" spc="-5" dirty="0">
                <a:latin typeface="Calibri"/>
                <a:cs typeface="Calibri"/>
              </a:rPr>
              <a:t>-2</a:t>
            </a:r>
            <a:r>
              <a:rPr lang="es-ES" sz="1200" spc="-5" dirty="0">
                <a:latin typeface="Calibri"/>
                <a:cs typeface="Calibri"/>
              </a:rPr>
              <a:t>4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552A25-CDC3-AB44-9550-30A1844501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7464" y="327710"/>
            <a:ext cx="7800687" cy="615553"/>
          </a:xfrm>
        </p:spPr>
        <p:txBody>
          <a:bodyPr/>
          <a:lstStyle/>
          <a:p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</a:rPr>
              <a:t>Planificación de las sesiones</a:t>
            </a:r>
          </a:p>
          <a:p>
            <a:endParaRPr lang="es-ES" sz="20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FCBDE14-640F-6849-B588-F8CC5F228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475665"/>
              </p:ext>
            </p:extLst>
          </p:nvPr>
        </p:nvGraphicFramePr>
        <p:xfrm>
          <a:off x="1326141" y="637308"/>
          <a:ext cx="8522938" cy="6039043"/>
        </p:xfrm>
        <a:graphic>
          <a:graphicData uri="http://schemas.openxmlformats.org/drawingml/2006/table">
            <a:tbl>
              <a:tblPr>
                <a:effectLst/>
                <a:tableStyleId>{073A0DAA-6AF3-43AB-8588-CEC1D06C72B9}</a:tableStyleId>
              </a:tblPr>
              <a:tblGrid>
                <a:gridCol w="2250284">
                  <a:extLst>
                    <a:ext uri="{9D8B030D-6E8A-4147-A177-3AD203B41FA5}">
                      <a16:colId xmlns:a16="http://schemas.microsoft.com/office/drawing/2014/main" val="3185949673"/>
                    </a:ext>
                  </a:extLst>
                </a:gridCol>
                <a:gridCol w="1440711">
                  <a:extLst>
                    <a:ext uri="{9D8B030D-6E8A-4147-A177-3AD203B41FA5}">
                      <a16:colId xmlns:a16="http://schemas.microsoft.com/office/drawing/2014/main" val="870755196"/>
                    </a:ext>
                  </a:extLst>
                </a:gridCol>
                <a:gridCol w="4831943">
                  <a:extLst>
                    <a:ext uri="{9D8B030D-6E8A-4147-A177-3AD203B41FA5}">
                      <a16:colId xmlns:a16="http://schemas.microsoft.com/office/drawing/2014/main" val="3537705430"/>
                    </a:ext>
                  </a:extLst>
                </a:gridCol>
              </a:tblGrid>
              <a:tr h="58305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Fecha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Contenido/Tema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77979889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1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16/09/2024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Tutoría colectiva / Introducción Asignatura</a:t>
                      </a:r>
                      <a:r>
                        <a:rPr lang="es-ES" sz="80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s-ES" sz="1050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670330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2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18/09/2024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Diseños experimentales- Metagenómica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6458192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3</a:t>
                      </a:r>
                      <a:endParaRPr lang="es-ES" sz="105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23/09/2024</a:t>
                      </a:r>
                      <a:endParaRPr lang="es-ES" sz="105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Metagenómica</a:t>
                      </a:r>
                      <a:endParaRPr lang="es-ES" sz="105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33042498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4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25/09/2024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Metagenómica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54527061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5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30/09/2024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Metataxonómica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65065924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6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02/10/2024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QIIME 2 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2005042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7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07/10/2024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QIIME 2 – Práctica I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04226495"/>
                  </a:ext>
                </a:extLst>
              </a:tr>
              <a:tr h="805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8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14/10/2024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QIIME 2 – Práctica II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1947217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9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16/10/2024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QIIME +Análisis e interpretación de resultados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1405790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10</a:t>
                      </a:r>
                      <a:endParaRPr lang="es-ES" sz="105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21/10/2024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Análisis e interpretación de resultados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1261339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11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23/10/2024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Análisis e interpretación de resultados- Práctica I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6555305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12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28/10/2024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Análisis e interpretación de resultados- Práctica II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7636368"/>
                  </a:ext>
                </a:extLst>
              </a:tr>
              <a:tr h="3875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 13</a:t>
                      </a:r>
                      <a:endParaRPr lang="es-ES" sz="105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30/10/2024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s-ES" sz="105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Tutoría colectiva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86723286"/>
                  </a:ext>
                </a:extLst>
              </a:tr>
            </a:tbl>
          </a:graphicData>
        </a:graphic>
      </p:graphicFrame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03EF7D3-2AC0-C040-9834-4C38EA06FB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SESIÓN 1</a:t>
            </a:r>
          </a:p>
        </p:txBody>
      </p:sp>
    </p:spTree>
    <p:extLst>
      <p:ext uri="{BB962C8B-B14F-4D97-AF65-F5344CB8AC3E}">
        <p14:creationId xmlns:p14="http://schemas.microsoft.com/office/powerpoint/2010/main" val="153616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852423"/>
            <a:ext cx="216027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i="1" dirty="0">
                <a:solidFill>
                  <a:srgbClr val="ED7D31"/>
                </a:solidFill>
                <a:latin typeface="Calibri"/>
                <a:cs typeface="Calibri"/>
              </a:rPr>
              <a:t>Final</a:t>
            </a:r>
            <a:r>
              <a:rPr sz="3100" b="0" i="1" spc="-5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i="1" spc="-5" dirty="0">
                <a:solidFill>
                  <a:srgbClr val="ED7D31"/>
                </a:solidFill>
                <a:latin typeface="Calibri"/>
                <a:cs typeface="Calibri"/>
              </a:rPr>
              <a:t>sesión</a:t>
            </a:r>
            <a:r>
              <a:rPr sz="3100" b="0" i="1" spc="-4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i="1" dirty="0">
                <a:solidFill>
                  <a:srgbClr val="ED7D31"/>
                </a:solidFill>
                <a:latin typeface="Calibri"/>
                <a:cs typeface="Calibri"/>
              </a:rPr>
              <a:t>2</a:t>
            </a:r>
            <a:endParaRPr sz="3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0450" y="1417731"/>
            <a:ext cx="7531100" cy="48513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852423"/>
            <a:ext cx="216027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i="1" dirty="0">
                <a:solidFill>
                  <a:srgbClr val="ED7D31"/>
                </a:solidFill>
                <a:latin typeface="Calibri"/>
                <a:cs typeface="Calibri"/>
              </a:rPr>
              <a:t>Final</a:t>
            </a:r>
            <a:r>
              <a:rPr sz="3100" b="0" i="1" spc="-5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i="1" spc="-5" dirty="0">
                <a:solidFill>
                  <a:srgbClr val="ED7D31"/>
                </a:solidFill>
                <a:latin typeface="Calibri"/>
                <a:cs typeface="Calibri"/>
              </a:rPr>
              <a:t>sesión</a:t>
            </a:r>
            <a:r>
              <a:rPr sz="3100" b="0" i="1" spc="-4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i="1" dirty="0">
                <a:solidFill>
                  <a:srgbClr val="ED7D31"/>
                </a:solidFill>
                <a:latin typeface="Calibri"/>
                <a:cs typeface="Calibri"/>
              </a:rPr>
              <a:t>2</a:t>
            </a:r>
            <a:endParaRPr sz="3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13" y="1847795"/>
            <a:ext cx="7345136" cy="48285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852423"/>
            <a:ext cx="216027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i="1" dirty="0">
                <a:solidFill>
                  <a:srgbClr val="ED7D31"/>
                </a:solidFill>
                <a:latin typeface="Calibri"/>
                <a:cs typeface="Calibri"/>
              </a:rPr>
              <a:t>Final</a:t>
            </a:r>
            <a:r>
              <a:rPr sz="3100" b="0" i="1" spc="-5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i="1" spc="-5" dirty="0">
                <a:solidFill>
                  <a:srgbClr val="ED7D31"/>
                </a:solidFill>
                <a:latin typeface="Calibri"/>
                <a:cs typeface="Calibri"/>
              </a:rPr>
              <a:t>sesión</a:t>
            </a:r>
            <a:r>
              <a:rPr sz="3100" b="0" i="1" spc="-4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i="1" dirty="0">
                <a:solidFill>
                  <a:srgbClr val="ED7D31"/>
                </a:solidFill>
                <a:latin typeface="Calibri"/>
                <a:cs typeface="Calibri"/>
              </a:rPr>
              <a:t>2</a:t>
            </a:r>
            <a:endParaRPr sz="3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4550" y="1430011"/>
            <a:ext cx="7962900" cy="4533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852423"/>
            <a:ext cx="371411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i="1" dirty="0">
                <a:solidFill>
                  <a:srgbClr val="ED7D31"/>
                </a:solidFill>
                <a:latin typeface="Calibri"/>
                <a:cs typeface="Calibri"/>
              </a:rPr>
              <a:t>Binning</a:t>
            </a:r>
            <a:r>
              <a:rPr sz="3100" b="0" i="1" spc="-4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metagenómico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4529" y="1703323"/>
            <a:ext cx="10627995" cy="339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 algn="just">
              <a:lnSpc>
                <a:spcPct val="111100"/>
              </a:lnSpc>
              <a:spcBef>
                <a:spcPts val="100"/>
              </a:spcBef>
              <a:buChar char="-"/>
              <a:tabLst>
                <a:tab pos="298450" algn="l"/>
              </a:tabLst>
            </a:pPr>
            <a:r>
              <a:rPr sz="1800" spc="-5" dirty="0">
                <a:latin typeface="Arial MT"/>
                <a:cs typeface="Arial MT"/>
              </a:rPr>
              <a:t>Proceso que agrupa los </a:t>
            </a:r>
            <a:r>
              <a:rPr sz="1800" i="1" spc="-5" dirty="0">
                <a:latin typeface="Arial"/>
                <a:cs typeface="Arial"/>
              </a:rPr>
              <a:t>contigs </a:t>
            </a:r>
            <a:r>
              <a:rPr sz="1800" spc="-5" dirty="0">
                <a:latin typeface="Arial MT"/>
                <a:cs typeface="Arial MT"/>
              </a:rPr>
              <a:t>obtenidos tras un ensamblaje </a:t>
            </a:r>
            <a:r>
              <a:rPr sz="1800" dirty="0">
                <a:latin typeface="Arial MT"/>
                <a:cs typeface="Arial MT"/>
              </a:rPr>
              <a:t>y </a:t>
            </a:r>
            <a:r>
              <a:rPr sz="1800" spc="-5" dirty="0">
                <a:latin typeface="Arial MT"/>
                <a:cs typeface="Arial MT"/>
              </a:rPr>
              <a:t>los asigna en distintos cajones </a:t>
            </a:r>
            <a:r>
              <a:rPr sz="1800" dirty="0">
                <a:latin typeface="Arial MT"/>
                <a:cs typeface="Arial MT"/>
              </a:rPr>
              <a:t>o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contenedores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 genomas individuales.</a:t>
            </a:r>
            <a:endParaRPr sz="1800">
              <a:latin typeface="Arial MT"/>
              <a:cs typeface="Arial MT"/>
            </a:endParaRPr>
          </a:p>
          <a:p>
            <a:pPr marL="298450" marR="5080" indent="-285750" algn="just">
              <a:lnSpc>
                <a:spcPct val="115599"/>
              </a:lnSpc>
              <a:spcBef>
                <a:spcPts val="600"/>
              </a:spcBef>
              <a:buChar char="-"/>
              <a:tabLst>
                <a:tab pos="298450" algn="l"/>
              </a:tabLst>
            </a:pPr>
            <a:r>
              <a:rPr sz="1800" spc="-5" dirty="0">
                <a:latin typeface="Arial MT"/>
                <a:cs typeface="Arial MT"/>
              </a:rPr>
              <a:t>Método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que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b="1" spc="-5" dirty="0">
                <a:solidFill>
                  <a:srgbClr val="E64F13"/>
                </a:solidFill>
                <a:latin typeface="Arial"/>
                <a:cs typeface="Arial"/>
              </a:rPr>
              <a:t>agrupa</a:t>
            </a:r>
            <a:r>
              <a:rPr sz="1800" b="1" spc="55" dirty="0">
                <a:solidFill>
                  <a:srgbClr val="E64F13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estos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b="1" i="1" spc="-5" dirty="0">
                <a:solidFill>
                  <a:srgbClr val="E64F13"/>
                </a:solidFill>
                <a:latin typeface="Arial"/>
                <a:cs typeface="Arial"/>
              </a:rPr>
              <a:t>contigs</a:t>
            </a:r>
            <a:r>
              <a:rPr sz="1800" b="1" i="1" spc="50" dirty="0">
                <a:solidFill>
                  <a:srgbClr val="E64F13"/>
                </a:solidFill>
                <a:latin typeface="Arial"/>
                <a:cs typeface="Arial"/>
              </a:rPr>
              <a:t> </a:t>
            </a:r>
            <a:r>
              <a:rPr sz="1800" spc="-5" dirty="0">
                <a:latin typeface="Arial MT"/>
                <a:cs typeface="Arial MT"/>
              </a:rPr>
              <a:t>entre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sí,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que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puede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basarse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características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como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similitud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5" dirty="0">
                <a:latin typeface="Arial MT"/>
                <a:cs typeface="Arial MT"/>
              </a:rPr>
              <a:t> alineación entre </a:t>
            </a:r>
            <a:r>
              <a:rPr sz="1800" i="1" spc="-5" dirty="0">
                <a:latin typeface="Arial"/>
                <a:cs typeface="Arial"/>
              </a:rPr>
              <a:t>contigs</a:t>
            </a:r>
            <a:r>
              <a:rPr sz="1800" i="1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5" dirty="0">
                <a:latin typeface="Arial MT"/>
                <a:cs typeface="Arial MT"/>
              </a:rPr>
              <a:t> similaridad en </a:t>
            </a:r>
            <a:r>
              <a:rPr sz="1800" dirty="0">
                <a:latin typeface="Arial MT"/>
                <a:cs typeface="Arial MT"/>
              </a:rPr>
              <a:t>la </a:t>
            </a:r>
            <a:r>
              <a:rPr sz="1800" spc="-5" dirty="0">
                <a:latin typeface="Arial MT"/>
                <a:cs typeface="Arial MT"/>
              </a:rPr>
              <a:t>composición de los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mismos.</a:t>
            </a:r>
            <a:endParaRPr sz="1800">
              <a:latin typeface="Arial MT"/>
              <a:cs typeface="Arial MT"/>
            </a:endParaRPr>
          </a:p>
          <a:p>
            <a:pPr marL="298450" marR="5080" indent="-285750" algn="just">
              <a:lnSpc>
                <a:spcPct val="115599"/>
              </a:lnSpc>
              <a:spcBef>
                <a:spcPts val="620"/>
              </a:spcBef>
              <a:buChar char="-"/>
              <a:tabLst>
                <a:tab pos="298450" algn="l"/>
              </a:tabLst>
            </a:pPr>
            <a:r>
              <a:rPr sz="1800" spc="-5" dirty="0">
                <a:latin typeface="Arial MT"/>
                <a:cs typeface="Arial MT"/>
              </a:rPr>
              <a:t>En </a:t>
            </a:r>
            <a:r>
              <a:rPr sz="1800" dirty="0">
                <a:latin typeface="Arial MT"/>
                <a:cs typeface="Arial MT"/>
              </a:rPr>
              <a:t>la </a:t>
            </a:r>
            <a:r>
              <a:rPr sz="1800" spc="-5" dirty="0">
                <a:latin typeface="Arial MT"/>
                <a:cs typeface="Arial MT"/>
              </a:rPr>
              <a:t>gran mayoría de los casos, al utilizar tecnologías como Illumina </a:t>
            </a:r>
            <a:r>
              <a:rPr sz="1800" dirty="0">
                <a:latin typeface="Arial MT"/>
                <a:cs typeface="Arial MT"/>
              </a:rPr>
              <a:t>o </a:t>
            </a:r>
            <a:r>
              <a:rPr sz="1800" spc="-25" dirty="0">
                <a:latin typeface="Arial MT"/>
                <a:cs typeface="Arial MT"/>
              </a:rPr>
              <a:t>IonTorrent </a:t>
            </a:r>
            <a:r>
              <a:rPr sz="1800" spc="-5" dirty="0">
                <a:latin typeface="Arial MT"/>
                <a:cs typeface="Arial MT"/>
              </a:rPr>
              <a:t>que generan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lecturas cortas de distintos organismos muy relacionados entre sí, es difícil llegar </a:t>
            </a:r>
            <a:r>
              <a:rPr sz="1800" dirty="0">
                <a:latin typeface="Arial MT"/>
                <a:cs typeface="Arial MT"/>
              </a:rPr>
              <a:t>a </a:t>
            </a:r>
            <a:r>
              <a:rPr sz="1800" spc="-5" dirty="0">
                <a:latin typeface="Arial MT"/>
                <a:cs typeface="Arial MT"/>
              </a:rPr>
              <a:t>ensamblar genes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 manera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individual </a:t>
            </a:r>
            <a:r>
              <a:rPr sz="1800" dirty="0">
                <a:latin typeface="Arial MT"/>
                <a:cs typeface="Arial MT"/>
              </a:rPr>
              <a:t>y </a:t>
            </a:r>
            <a:r>
              <a:rPr sz="1800" spc="-5" dirty="0">
                <a:latin typeface="Arial MT"/>
                <a:cs typeface="Arial MT"/>
              </a:rPr>
              <a:t>mucho menos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recuperar los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genomas completos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 cada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organismo.</a:t>
            </a:r>
            <a:endParaRPr sz="1800">
              <a:latin typeface="Arial MT"/>
              <a:cs typeface="Arial MT"/>
            </a:endParaRPr>
          </a:p>
          <a:p>
            <a:pPr marL="298450" marR="5080" indent="-285750" algn="just">
              <a:lnSpc>
                <a:spcPct val="113300"/>
              </a:lnSpc>
              <a:spcBef>
                <a:spcPts val="650"/>
              </a:spcBef>
              <a:buChar char="-"/>
              <a:tabLst>
                <a:tab pos="298450" algn="l"/>
              </a:tabLst>
            </a:pPr>
            <a:r>
              <a:rPr sz="1800" spc="-5" dirty="0">
                <a:latin typeface="Arial MT"/>
                <a:cs typeface="Arial MT"/>
              </a:rPr>
              <a:t>Se utilizan estas técnicas para agrupar </a:t>
            </a:r>
            <a:r>
              <a:rPr sz="1800" dirty="0">
                <a:latin typeface="Arial MT"/>
                <a:cs typeface="Arial MT"/>
              </a:rPr>
              <a:t>a </a:t>
            </a:r>
            <a:r>
              <a:rPr sz="1800" spc="-5" dirty="0">
                <a:latin typeface="Arial MT"/>
                <a:cs typeface="Arial MT"/>
              </a:rPr>
              <a:t>los </a:t>
            </a:r>
            <a:r>
              <a:rPr sz="1800" i="1" spc="-5" dirty="0">
                <a:latin typeface="Arial"/>
                <a:cs typeface="Arial"/>
              </a:rPr>
              <a:t>contigs </a:t>
            </a:r>
            <a:r>
              <a:rPr sz="1800" spc="-5" dirty="0">
                <a:latin typeface="Arial MT"/>
                <a:cs typeface="Arial MT"/>
              </a:rPr>
              <a:t>dentro de un </a:t>
            </a:r>
            <a:r>
              <a:rPr sz="1800" dirty="0">
                <a:latin typeface="Arial MT"/>
                <a:cs typeface="Arial MT"/>
              </a:rPr>
              <a:t>mismo </a:t>
            </a:r>
            <a:r>
              <a:rPr sz="1800" b="1" i="1" spc="-5" dirty="0">
                <a:solidFill>
                  <a:srgbClr val="E64F13"/>
                </a:solidFill>
                <a:latin typeface="Arial"/>
                <a:cs typeface="Arial"/>
              </a:rPr>
              <a:t>metagenome assembled </a:t>
            </a:r>
            <a:r>
              <a:rPr sz="1800" b="1" i="1" dirty="0">
                <a:solidFill>
                  <a:srgbClr val="E64F13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E64F13"/>
                </a:solidFill>
                <a:latin typeface="Arial"/>
                <a:cs typeface="Arial"/>
              </a:rPr>
              <a:t>genome </a:t>
            </a:r>
            <a:r>
              <a:rPr sz="1800" spc="-5" dirty="0">
                <a:latin typeface="Arial MT"/>
                <a:cs typeface="Arial MT"/>
              </a:rPr>
              <a:t>(MAG). La taxonomía de estos MAGs </a:t>
            </a:r>
            <a:r>
              <a:rPr sz="1800" dirty="0">
                <a:latin typeface="Arial MT"/>
                <a:cs typeface="Arial MT"/>
              </a:rPr>
              <a:t>se </a:t>
            </a:r>
            <a:r>
              <a:rPr sz="1800" spc="-5" dirty="0">
                <a:latin typeface="Arial MT"/>
                <a:cs typeface="Arial MT"/>
              </a:rPr>
              <a:t>puede inferir colocando un árbol filogenético de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referencia.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83" y="3479524"/>
            <a:ext cx="878205" cy="720725"/>
          </a:xfrm>
          <a:custGeom>
            <a:avLst/>
            <a:gdLst/>
            <a:ahLst/>
            <a:cxnLst/>
            <a:rect l="l" t="t" r="r" b="b"/>
            <a:pathLst>
              <a:path w="878205" h="720725">
                <a:moveTo>
                  <a:pt x="0" y="360277"/>
                </a:moveTo>
                <a:lnTo>
                  <a:pt x="2953" y="318261"/>
                </a:lnTo>
                <a:lnTo>
                  <a:pt x="11595" y="277668"/>
                </a:lnTo>
                <a:lnTo>
                  <a:pt x="25596" y="238770"/>
                </a:lnTo>
                <a:lnTo>
                  <a:pt x="44625" y="201836"/>
                </a:lnTo>
                <a:lnTo>
                  <a:pt x="68355" y="167136"/>
                </a:lnTo>
                <a:lnTo>
                  <a:pt x="96455" y="134942"/>
                </a:lnTo>
                <a:lnTo>
                  <a:pt x="128595" y="105522"/>
                </a:lnTo>
                <a:lnTo>
                  <a:pt x="164447" y="79148"/>
                </a:lnTo>
                <a:lnTo>
                  <a:pt x="203682" y="56090"/>
                </a:lnTo>
                <a:lnTo>
                  <a:pt x="245968" y="36618"/>
                </a:lnTo>
                <a:lnTo>
                  <a:pt x="290978" y="21003"/>
                </a:lnTo>
                <a:lnTo>
                  <a:pt x="338382" y="9515"/>
                </a:lnTo>
                <a:lnTo>
                  <a:pt x="387850" y="2423"/>
                </a:lnTo>
                <a:lnTo>
                  <a:pt x="439053" y="0"/>
                </a:lnTo>
                <a:lnTo>
                  <a:pt x="490256" y="2423"/>
                </a:lnTo>
                <a:lnTo>
                  <a:pt x="539724" y="9515"/>
                </a:lnTo>
                <a:lnTo>
                  <a:pt x="587128" y="21003"/>
                </a:lnTo>
                <a:lnTo>
                  <a:pt x="632138" y="36618"/>
                </a:lnTo>
                <a:lnTo>
                  <a:pt x="674424" y="56090"/>
                </a:lnTo>
                <a:lnTo>
                  <a:pt x="713659" y="79148"/>
                </a:lnTo>
                <a:lnTo>
                  <a:pt x="749511" y="105522"/>
                </a:lnTo>
                <a:lnTo>
                  <a:pt x="781651" y="134942"/>
                </a:lnTo>
                <a:lnTo>
                  <a:pt x="809751" y="167136"/>
                </a:lnTo>
                <a:lnTo>
                  <a:pt x="833481" y="201836"/>
                </a:lnTo>
                <a:lnTo>
                  <a:pt x="852510" y="238770"/>
                </a:lnTo>
                <a:lnTo>
                  <a:pt x="866511" y="277668"/>
                </a:lnTo>
                <a:lnTo>
                  <a:pt x="875153" y="318261"/>
                </a:lnTo>
                <a:lnTo>
                  <a:pt x="878107" y="360277"/>
                </a:lnTo>
                <a:lnTo>
                  <a:pt x="875153" y="402292"/>
                </a:lnTo>
                <a:lnTo>
                  <a:pt x="866511" y="442885"/>
                </a:lnTo>
                <a:lnTo>
                  <a:pt x="852510" y="481783"/>
                </a:lnTo>
                <a:lnTo>
                  <a:pt x="833481" y="518717"/>
                </a:lnTo>
                <a:lnTo>
                  <a:pt x="809751" y="553417"/>
                </a:lnTo>
                <a:lnTo>
                  <a:pt x="781651" y="585611"/>
                </a:lnTo>
                <a:lnTo>
                  <a:pt x="749511" y="615031"/>
                </a:lnTo>
                <a:lnTo>
                  <a:pt x="713659" y="641405"/>
                </a:lnTo>
                <a:lnTo>
                  <a:pt x="674424" y="664463"/>
                </a:lnTo>
                <a:lnTo>
                  <a:pt x="632138" y="683935"/>
                </a:lnTo>
                <a:lnTo>
                  <a:pt x="587128" y="699550"/>
                </a:lnTo>
                <a:lnTo>
                  <a:pt x="539724" y="711038"/>
                </a:lnTo>
                <a:lnTo>
                  <a:pt x="490256" y="718130"/>
                </a:lnTo>
                <a:lnTo>
                  <a:pt x="439053" y="720554"/>
                </a:lnTo>
                <a:lnTo>
                  <a:pt x="387850" y="718130"/>
                </a:lnTo>
                <a:lnTo>
                  <a:pt x="338382" y="711038"/>
                </a:lnTo>
                <a:lnTo>
                  <a:pt x="290978" y="699550"/>
                </a:lnTo>
                <a:lnTo>
                  <a:pt x="245968" y="683935"/>
                </a:lnTo>
                <a:lnTo>
                  <a:pt x="203682" y="664463"/>
                </a:lnTo>
                <a:lnTo>
                  <a:pt x="164447" y="641405"/>
                </a:lnTo>
                <a:lnTo>
                  <a:pt x="128595" y="615031"/>
                </a:lnTo>
                <a:lnTo>
                  <a:pt x="96455" y="585611"/>
                </a:lnTo>
                <a:lnTo>
                  <a:pt x="68355" y="553417"/>
                </a:lnTo>
                <a:lnTo>
                  <a:pt x="44625" y="518717"/>
                </a:lnTo>
                <a:lnTo>
                  <a:pt x="25596" y="481783"/>
                </a:lnTo>
                <a:lnTo>
                  <a:pt x="11595" y="442885"/>
                </a:lnTo>
                <a:lnTo>
                  <a:pt x="2953" y="402292"/>
                </a:lnTo>
                <a:lnTo>
                  <a:pt x="0" y="360277"/>
                </a:lnTo>
                <a:close/>
              </a:path>
            </a:pathLst>
          </a:custGeom>
          <a:ln w="28575">
            <a:solidFill>
              <a:srgbClr val="70AD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7842" y="3001924"/>
            <a:ext cx="878205" cy="720725"/>
          </a:xfrm>
          <a:custGeom>
            <a:avLst/>
            <a:gdLst/>
            <a:ahLst/>
            <a:cxnLst/>
            <a:rect l="l" t="t" r="r" b="b"/>
            <a:pathLst>
              <a:path w="878204" h="720725">
                <a:moveTo>
                  <a:pt x="0" y="360277"/>
                </a:moveTo>
                <a:lnTo>
                  <a:pt x="2953" y="318261"/>
                </a:lnTo>
                <a:lnTo>
                  <a:pt x="11595" y="277668"/>
                </a:lnTo>
                <a:lnTo>
                  <a:pt x="25596" y="238770"/>
                </a:lnTo>
                <a:lnTo>
                  <a:pt x="44625" y="201836"/>
                </a:lnTo>
                <a:lnTo>
                  <a:pt x="68355" y="167136"/>
                </a:lnTo>
                <a:lnTo>
                  <a:pt x="96455" y="134942"/>
                </a:lnTo>
                <a:lnTo>
                  <a:pt x="128595" y="105522"/>
                </a:lnTo>
                <a:lnTo>
                  <a:pt x="164447" y="79148"/>
                </a:lnTo>
                <a:lnTo>
                  <a:pt x="203682" y="56090"/>
                </a:lnTo>
                <a:lnTo>
                  <a:pt x="245968" y="36618"/>
                </a:lnTo>
                <a:lnTo>
                  <a:pt x="290978" y="21003"/>
                </a:lnTo>
                <a:lnTo>
                  <a:pt x="338382" y="9515"/>
                </a:lnTo>
                <a:lnTo>
                  <a:pt x="387850" y="2423"/>
                </a:lnTo>
                <a:lnTo>
                  <a:pt x="439053" y="0"/>
                </a:lnTo>
                <a:lnTo>
                  <a:pt x="490256" y="2423"/>
                </a:lnTo>
                <a:lnTo>
                  <a:pt x="539724" y="9515"/>
                </a:lnTo>
                <a:lnTo>
                  <a:pt x="587128" y="21003"/>
                </a:lnTo>
                <a:lnTo>
                  <a:pt x="632138" y="36618"/>
                </a:lnTo>
                <a:lnTo>
                  <a:pt x="674424" y="56090"/>
                </a:lnTo>
                <a:lnTo>
                  <a:pt x="713659" y="79148"/>
                </a:lnTo>
                <a:lnTo>
                  <a:pt x="749511" y="105522"/>
                </a:lnTo>
                <a:lnTo>
                  <a:pt x="781651" y="134942"/>
                </a:lnTo>
                <a:lnTo>
                  <a:pt x="809751" y="167136"/>
                </a:lnTo>
                <a:lnTo>
                  <a:pt x="833481" y="201836"/>
                </a:lnTo>
                <a:lnTo>
                  <a:pt x="852510" y="238770"/>
                </a:lnTo>
                <a:lnTo>
                  <a:pt x="866511" y="277668"/>
                </a:lnTo>
                <a:lnTo>
                  <a:pt x="875153" y="318261"/>
                </a:lnTo>
                <a:lnTo>
                  <a:pt x="878107" y="360277"/>
                </a:lnTo>
                <a:lnTo>
                  <a:pt x="875153" y="402292"/>
                </a:lnTo>
                <a:lnTo>
                  <a:pt x="866511" y="442885"/>
                </a:lnTo>
                <a:lnTo>
                  <a:pt x="852510" y="481783"/>
                </a:lnTo>
                <a:lnTo>
                  <a:pt x="833481" y="518717"/>
                </a:lnTo>
                <a:lnTo>
                  <a:pt x="809751" y="553417"/>
                </a:lnTo>
                <a:lnTo>
                  <a:pt x="781651" y="585611"/>
                </a:lnTo>
                <a:lnTo>
                  <a:pt x="749511" y="615031"/>
                </a:lnTo>
                <a:lnTo>
                  <a:pt x="713659" y="641405"/>
                </a:lnTo>
                <a:lnTo>
                  <a:pt x="674424" y="664463"/>
                </a:lnTo>
                <a:lnTo>
                  <a:pt x="632138" y="683935"/>
                </a:lnTo>
                <a:lnTo>
                  <a:pt x="587128" y="699550"/>
                </a:lnTo>
                <a:lnTo>
                  <a:pt x="539724" y="711038"/>
                </a:lnTo>
                <a:lnTo>
                  <a:pt x="490256" y="718130"/>
                </a:lnTo>
                <a:lnTo>
                  <a:pt x="439053" y="720554"/>
                </a:lnTo>
                <a:lnTo>
                  <a:pt x="387850" y="718130"/>
                </a:lnTo>
                <a:lnTo>
                  <a:pt x="338382" y="711038"/>
                </a:lnTo>
                <a:lnTo>
                  <a:pt x="290978" y="699550"/>
                </a:lnTo>
                <a:lnTo>
                  <a:pt x="245968" y="683935"/>
                </a:lnTo>
                <a:lnTo>
                  <a:pt x="203682" y="664463"/>
                </a:lnTo>
                <a:lnTo>
                  <a:pt x="164447" y="641405"/>
                </a:lnTo>
                <a:lnTo>
                  <a:pt x="128595" y="615031"/>
                </a:lnTo>
                <a:lnTo>
                  <a:pt x="96455" y="585611"/>
                </a:lnTo>
                <a:lnTo>
                  <a:pt x="68355" y="553417"/>
                </a:lnTo>
                <a:lnTo>
                  <a:pt x="44625" y="518717"/>
                </a:lnTo>
                <a:lnTo>
                  <a:pt x="25596" y="481783"/>
                </a:lnTo>
                <a:lnTo>
                  <a:pt x="11595" y="442885"/>
                </a:lnTo>
                <a:lnTo>
                  <a:pt x="2953" y="402292"/>
                </a:lnTo>
                <a:lnTo>
                  <a:pt x="0" y="360277"/>
                </a:lnTo>
                <a:close/>
              </a:path>
            </a:pathLst>
          </a:custGeom>
          <a:ln w="28575">
            <a:solidFill>
              <a:srgbClr val="70AD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43202" y="4606874"/>
            <a:ext cx="522605" cy="494030"/>
          </a:xfrm>
          <a:custGeom>
            <a:avLst/>
            <a:gdLst/>
            <a:ahLst/>
            <a:cxnLst/>
            <a:rect l="l" t="t" r="r" b="b"/>
            <a:pathLst>
              <a:path w="522605" h="494029">
                <a:moveTo>
                  <a:pt x="0" y="246936"/>
                </a:moveTo>
                <a:lnTo>
                  <a:pt x="4206" y="202548"/>
                </a:lnTo>
                <a:lnTo>
                  <a:pt x="16332" y="160772"/>
                </a:lnTo>
                <a:lnTo>
                  <a:pt x="35642" y="122302"/>
                </a:lnTo>
                <a:lnTo>
                  <a:pt x="61397" y="87838"/>
                </a:lnTo>
                <a:lnTo>
                  <a:pt x="92862" y="58076"/>
                </a:lnTo>
                <a:lnTo>
                  <a:pt x="129297" y="33714"/>
                </a:lnTo>
                <a:lnTo>
                  <a:pt x="169967" y="15448"/>
                </a:lnTo>
                <a:lnTo>
                  <a:pt x="214133" y="3978"/>
                </a:lnTo>
                <a:lnTo>
                  <a:pt x="261059" y="0"/>
                </a:lnTo>
                <a:lnTo>
                  <a:pt x="307984" y="3978"/>
                </a:lnTo>
                <a:lnTo>
                  <a:pt x="352150" y="15448"/>
                </a:lnTo>
                <a:lnTo>
                  <a:pt x="392820" y="33714"/>
                </a:lnTo>
                <a:lnTo>
                  <a:pt x="429255" y="58076"/>
                </a:lnTo>
                <a:lnTo>
                  <a:pt x="460720" y="87838"/>
                </a:lnTo>
                <a:lnTo>
                  <a:pt x="486475" y="122302"/>
                </a:lnTo>
                <a:lnTo>
                  <a:pt x="505785" y="160772"/>
                </a:lnTo>
                <a:lnTo>
                  <a:pt x="517911" y="202548"/>
                </a:lnTo>
                <a:lnTo>
                  <a:pt x="522118" y="246936"/>
                </a:lnTo>
                <a:lnTo>
                  <a:pt x="517911" y="291323"/>
                </a:lnTo>
                <a:lnTo>
                  <a:pt x="505785" y="333099"/>
                </a:lnTo>
                <a:lnTo>
                  <a:pt x="486475" y="371569"/>
                </a:lnTo>
                <a:lnTo>
                  <a:pt x="460720" y="406033"/>
                </a:lnTo>
                <a:lnTo>
                  <a:pt x="429255" y="435795"/>
                </a:lnTo>
                <a:lnTo>
                  <a:pt x="392820" y="460158"/>
                </a:lnTo>
                <a:lnTo>
                  <a:pt x="352150" y="478423"/>
                </a:lnTo>
                <a:lnTo>
                  <a:pt x="307984" y="489893"/>
                </a:lnTo>
                <a:lnTo>
                  <a:pt x="261059" y="493872"/>
                </a:lnTo>
                <a:lnTo>
                  <a:pt x="214133" y="489893"/>
                </a:lnTo>
                <a:lnTo>
                  <a:pt x="169967" y="478423"/>
                </a:lnTo>
                <a:lnTo>
                  <a:pt x="129297" y="460158"/>
                </a:lnTo>
                <a:lnTo>
                  <a:pt x="92862" y="435795"/>
                </a:lnTo>
                <a:lnTo>
                  <a:pt x="61397" y="406033"/>
                </a:lnTo>
                <a:lnTo>
                  <a:pt x="35642" y="371569"/>
                </a:lnTo>
                <a:lnTo>
                  <a:pt x="16332" y="333099"/>
                </a:lnTo>
                <a:lnTo>
                  <a:pt x="4206" y="291323"/>
                </a:lnTo>
                <a:lnTo>
                  <a:pt x="0" y="246936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43258" y="4079261"/>
            <a:ext cx="522605" cy="494030"/>
          </a:xfrm>
          <a:custGeom>
            <a:avLst/>
            <a:gdLst/>
            <a:ahLst/>
            <a:cxnLst/>
            <a:rect l="l" t="t" r="r" b="b"/>
            <a:pathLst>
              <a:path w="522604" h="494029">
                <a:moveTo>
                  <a:pt x="0" y="246936"/>
                </a:moveTo>
                <a:lnTo>
                  <a:pt x="4206" y="202548"/>
                </a:lnTo>
                <a:lnTo>
                  <a:pt x="16332" y="160772"/>
                </a:lnTo>
                <a:lnTo>
                  <a:pt x="35642" y="122302"/>
                </a:lnTo>
                <a:lnTo>
                  <a:pt x="61397" y="87838"/>
                </a:lnTo>
                <a:lnTo>
                  <a:pt x="92862" y="58076"/>
                </a:lnTo>
                <a:lnTo>
                  <a:pt x="129297" y="33714"/>
                </a:lnTo>
                <a:lnTo>
                  <a:pt x="169967" y="15448"/>
                </a:lnTo>
                <a:lnTo>
                  <a:pt x="214133" y="3978"/>
                </a:lnTo>
                <a:lnTo>
                  <a:pt x="261059" y="0"/>
                </a:lnTo>
                <a:lnTo>
                  <a:pt x="307984" y="3978"/>
                </a:lnTo>
                <a:lnTo>
                  <a:pt x="352150" y="15448"/>
                </a:lnTo>
                <a:lnTo>
                  <a:pt x="392820" y="33714"/>
                </a:lnTo>
                <a:lnTo>
                  <a:pt x="429255" y="58076"/>
                </a:lnTo>
                <a:lnTo>
                  <a:pt x="460720" y="87838"/>
                </a:lnTo>
                <a:lnTo>
                  <a:pt x="486475" y="122302"/>
                </a:lnTo>
                <a:lnTo>
                  <a:pt x="505785" y="160772"/>
                </a:lnTo>
                <a:lnTo>
                  <a:pt x="517911" y="202548"/>
                </a:lnTo>
                <a:lnTo>
                  <a:pt x="522118" y="246936"/>
                </a:lnTo>
                <a:lnTo>
                  <a:pt x="517911" y="291323"/>
                </a:lnTo>
                <a:lnTo>
                  <a:pt x="505785" y="333099"/>
                </a:lnTo>
                <a:lnTo>
                  <a:pt x="486475" y="371569"/>
                </a:lnTo>
                <a:lnTo>
                  <a:pt x="460720" y="406033"/>
                </a:lnTo>
                <a:lnTo>
                  <a:pt x="429255" y="435795"/>
                </a:lnTo>
                <a:lnTo>
                  <a:pt x="392820" y="460158"/>
                </a:lnTo>
                <a:lnTo>
                  <a:pt x="352150" y="478423"/>
                </a:lnTo>
                <a:lnTo>
                  <a:pt x="307984" y="489893"/>
                </a:lnTo>
                <a:lnTo>
                  <a:pt x="261059" y="493872"/>
                </a:lnTo>
                <a:lnTo>
                  <a:pt x="214133" y="489893"/>
                </a:lnTo>
                <a:lnTo>
                  <a:pt x="169967" y="478423"/>
                </a:lnTo>
                <a:lnTo>
                  <a:pt x="129297" y="460158"/>
                </a:lnTo>
                <a:lnTo>
                  <a:pt x="92862" y="435795"/>
                </a:lnTo>
                <a:lnTo>
                  <a:pt x="61397" y="406033"/>
                </a:lnTo>
                <a:lnTo>
                  <a:pt x="35642" y="371569"/>
                </a:lnTo>
                <a:lnTo>
                  <a:pt x="16332" y="333099"/>
                </a:lnTo>
                <a:lnTo>
                  <a:pt x="4206" y="291323"/>
                </a:lnTo>
                <a:lnTo>
                  <a:pt x="0" y="246936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30483" y="3057376"/>
            <a:ext cx="522605" cy="494030"/>
          </a:xfrm>
          <a:custGeom>
            <a:avLst/>
            <a:gdLst/>
            <a:ahLst/>
            <a:cxnLst/>
            <a:rect l="l" t="t" r="r" b="b"/>
            <a:pathLst>
              <a:path w="522605" h="494029">
                <a:moveTo>
                  <a:pt x="0" y="246936"/>
                </a:moveTo>
                <a:lnTo>
                  <a:pt x="4206" y="202548"/>
                </a:lnTo>
                <a:lnTo>
                  <a:pt x="16332" y="160772"/>
                </a:lnTo>
                <a:lnTo>
                  <a:pt x="35642" y="122302"/>
                </a:lnTo>
                <a:lnTo>
                  <a:pt x="61397" y="87838"/>
                </a:lnTo>
                <a:lnTo>
                  <a:pt x="92862" y="58076"/>
                </a:lnTo>
                <a:lnTo>
                  <a:pt x="129297" y="33714"/>
                </a:lnTo>
                <a:lnTo>
                  <a:pt x="169967" y="15448"/>
                </a:lnTo>
                <a:lnTo>
                  <a:pt x="214133" y="3978"/>
                </a:lnTo>
                <a:lnTo>
                  <a:pt x="261059" y="0"/>
                </a:lnTo>
                <a:lnTo>
                  <a:pt x="307984" y="3978"/>
                </a:lnTo>
                <a:lnTo>
                  <a:pt x="352150" y="15448"/>
                </a:lnTo>
                <a:lnTo>
                  <a:pt x="392820" y="33714"/>
                </a:lnTo>
                <a:lnTo>
                  <a:pt x="429255" y="58076"/>
                </a:lnTo>
                <a:lnTo>
                  <a:pt x="460720" y="87838"/>
                </a:lnTo>
                <a:lnTo>
                  <a:pt x="486475" y="122302"/>
                </a:lnTo>
                <a:lnTo>
                  <a:pt x="505785" y="160772"/>
                </a:lnTo>
                <a:lnTo>
                  <a:pt x="517911" y="202548"/>
                </a:lnTo>
                <a:lnTo>
                  <a:pt x="522118" y="246936"/>
                </a:lnTo>
                <a:lnTo>
                  <a:pt x="517911" y="291323"/>
                </a:lnTo>
                <a:lnTo>
                  <a:pt x="505785" y="333099"/>
                </a:lnTo>
                <a:lnTo>
                  <a:pt x="486475" y="371569"/>
                </a:lnTo>
                <a:lnTo>
                  <a:pt x="460720" y="406033"/>
                </a:lnTo>
                <a:lnTo>
                  <a:pt x="429255" y="435795"/>
                </a:lnTo>
                <a:lnTo>
                  <a:pt x="392820" y="460158"/>
                </a:lnTo>
                <a:lnTo>
                  <a:pt x="352150" y="478423"/>
                </a:lnTo>
                <a:lnTo>
                  <a:pt x="307984" y="489893"/>
                </a:lnTo>
                <a:lnTo>
                  <a:pt x="261059" y="493872"/>
                </a:lnTo>
                <a:lnTo>
                  <a:pt x="214133" y="489893"/>
                </a:lnTo>
                <a:lnTo>
                  <a:pt x="169967" y="478423"/>
                </a:lnTo>
                <a:lnTo>
                  <a:pt x="129297" y="460158"/>
                </a:lnTo>
                <a:lnTo>
                  <a:pt x="92862" y="435795"/>
                </a:lnTo>
                <a:lnTo>
                  <a:pt x="61397" y="406033"/>
                </a:lnTo>
                <a:lnTo>
                  <a:pt x="35642" y="371569"/>
                </a:lnTo>
                <a:lnTo>
                  <a:pt x="16332" y="333099"/>
                </a:lnTo>
                <a:lnTo>
                  <a:pt x="4206" y="291323"/>
                </a:lnTo>
                <a:lnTo>
                  <a:pt x="0" y="246936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62055" y="4079261"/>
            <a:ext cx="522605" cy="494030"/>
          </a:xfrm>
          <a:custGeom>
            <a:avLst/>
            <a:gdLst/>
            <a:ahLst/>
            <a:cxnLst/>
            <a:rect l="l" t="t" r="r" b="b"/>
            <a:pathLst>
              <a:path w="522605" h="494029">
                <a:moveTo>
                  <a:pt x="0" y="246936"/>
                </a:moveTo>
                <a:lnTo>
                  <a:pt x="4206" y="202548"/>
                </a:lnTo>
                <a:lnTo>
                  <a:pt x="16332" y="160772"/>
                </a:lnTo>
                <a:lnTo>
                  <a:pt x="35642" y="122302"/>
                </a:lnTo>
                <a:lnTo>
                  <a:pt x="61397" y="87838"/>
                </a:lnTo>
                <a:lnTo>
                  <a:pt x="92862" y="58076"/>
                </a:lnTo>
                <a:lnTo>
                  <a:pt x="129297" y="33714"/>
                </a:lnTo>
                <a:lnTo>
                  <a:pt x="169967" y="15448"/>
                </a:lnTo>
                <a:lnTo>
                  <a:pt x="214133" y="3978"/>
                </a:lnTo>
                <a:lnTo>
                  <a:pt x="261059" y="0"/>
                </a:lnTo>
                <a:lnTo>
                  <a:pt x="307984" y="3978"/>
                </a:lnTo>
                <a:lnTo>
                  <a:pt x="352150" y="15448"/>
                </a:lnTo>
                <a:lnTo>
                  <a:pt x="392820" y="33714"/>
                </a:lnTo>
                <a:lnTo>
                  <a:pt x="429255" y="58076"/>
                </a:lnTo>
                <a:lnTo>
                  <a:pt x="460720" y="87838"/>
                </a:lnTo>
                <a:lnTo>
                  <a:pt x="486475" y="122302"/>
                </a:lnTo>
                <a:lnTo>
                  <a:pt x="505785" y="160772"/>
                </a:lnTo>
                <a:lnTo>
                  <a:pt x="517911" y="202548"/>
                </a:lnTo>
                <a:lnTo>
                  <a:pt x="522118" y="246936"/>
                </a:lnTo>
                <a:lnTo>
                  <a:pt x="517911" y="291323"/>
                </a:lnTo>
                <a:lnTo>
                  <a:pt x="505785" y="333099"/>
                </a:lnTo>
                <a:lnTo>
                  <a:pt x="486475" y="371569"/>
                </a:lnTo>
                <a:lnTo>
                  <a:pt x="460720" y="406033"/>
                </a:lnTo>
                <a:lnTo>
                  <a:pt x="429255" y="435795"/>
                </a:lnTo>
                <a:lnTo>
                  <a:pt x="392820" y="460158"/>
                </a:lnTo>
                <a:lnTo>
                  <a:pt x="352150" y="478423"/>
                </a:lnTo>
                <a:lnTo>
                  <a:pt x="307984" y="489893"/>
                </a:lnTo>
                <a:lnTo>
                  <a:pt x="261059" y="493872"/>
                </a:lnTo>
                <a:lnTo>
                  <a:pt x="214133" y="489893"/>
                </a:lnTo>
                <a:lnTo>
                  <a:pt x="169967" y="478423"/>
                </a:lnTo>
                <a:lnTo>
                  <a:pt x="129297" y="460158"/>
                </a:lnTo>
                <a:lnTo>
                  <a:pt x="92862" y="435795"/>
                </a:lnTo>
                <a:lnTo>
                  <a:pt x="61397" y="406033"/>
                </a:lnTo>
                <a:lnTo>
                  <a:pt x="35642" y="371569"/>
                </a:lnTo>
                <a:lnTo>
                  <a:pt x="16332" y="333099"/>
                </a:lnTo>
                <a:lnTo>
                  <a:pt x="4206" y="291323"/>
                </a:lnTo>
                <a:lnTo>
                  <a:pt x="0" y="246936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1808" y="2908711"/>
            <a:ext cx="250190" cy="203200"/>
          </a:xfrm>
          <a:custGeom>
            <a:avLst/>
            <a:gdLst/>
            <a:ahLst/>
            <a:cxnLst/>
            <a:rect l="l" t="t" r="r" b="b"/>
            <a:pathLst>
              <a:path w="250190" h="203200">
                <a:moveTo>
                  <a:pt x="0" y="101397"/>
                </a:moveTo>
                <a:lnTo>
                  <a:pt x="9817" y="61928"/>
                </a:lnTo>
                <a:lnTo>
                  <a:pt x="36592" y="29698"/>
                </a:lnTo>
                <a:lnTo>
                  <a:pt x="76304" y="7968"/>
                </a:lnTo>
                <a:lnTo>
                  <a:pt x="124934" y="0"/>
                </a:lnTo>
                <a:lnTo>
                  <a:pt x="173563" y="7968"/>
                </a:lnTo>
                <a:lnTo>
                  <a:pt x="213275" y="29698"/>
                </a:lnTo>
                <a:lnTo>
                  <a:pt x="240050" y="61928"/>
                </a:lnTo>
                <a:lnTo>
                  <a:pt x="249868" y="101397"/>
                </a:lnTo>
                <a:lnTo>
                  <a:pt x="240050" y="140865"/>
                </a:lnTo>
                <a:lnTo>
                  <a:pt x="213275" y="173095"/>
                </a:lnTo>
                <a:lnTo>
                  <a:pt x="173563" y="194825"/>
                </a:lnTo>
                <a:lnTo>
                  <a:pt x="124934" y="202794"/>
                </a:lnTo>
                <a:lnTo>
                  <a:pt x="76304" y="194825"/>
                </a:lnTo>
                <a:lnTo>
                  <a:pt x="36592" y="173095"/>
                </a:lnTo>
                <a:lnTo>
                  <a:pt x="9817" y="140865"/>
                </a:lnTo>
                <a:lnTo>
                  <a:pt x="0" y="101397"/>
                </a:lnTo>
                <a:close/>
              </a:path>
            </a:pathLst>
          </a:custGeom>
          <a:ln w="28575">
            <a:solidFill>
              <a:srgbClr val="7671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43861" y="3492215"/>
            <a:ext cx="522605" cy="494030"/>
          </a:xfrm>
          <a:custGeom>
            <a:avLst/>
            <a:gdLst/>
            <a:ahLst/>
            <a:cxnLst/>
            <a:rect l="l" t="t" r="r" b="b"/>
            <a:pathLst>
              <a:path w="522604" h="494029">
                <a:moveTo>
                  <a:pt x="0" y="246936"/>
                </a:moveTo>
                <a:lnTo>
                  <a:pt x="4206" y="202548"/>
                </a:lnTo>
                <a:lnTo>
                  <a:pt x="16332" y="160772"/>
                </a:lnTo>
                <a:lnTo>
                  <a:pt x="35642" y="122302"/>
                </a:lnTo>
                <a:lnTo>
                  <a:pt x="61397" y="87838"/>
                </a:lnTo>
                <a:lnTo>
                  <a:pt x="92862" y="58076"/>
                </a:lnTo>
                <a:lnTo>
                  <a:pt x="129297" y="33714"/>
                </a:lnTo>
                <a:lnTo>
                  <a:pt x="169967" y="15448"/>
                </a:lnTo>
                <a:lnTo>
                  <a:pt x="214133" y="3978"/>
                </a:lnTo>
                <a:lnTo>
                  <a:pt x="261059" y="0"/>
                </a:lnTo>
                <a:lnTo>
                  <a:pt x="307984" y="3978"/>
                </a:lnTo>
                <a:lnTo>
                  <a:pt x="352150" y="15448"/>
                </a:lnTo>
                <a:lnTo>
                  <a:pt x="392820" y="33714"/>
                </a:lnTo>
                <a:lnTo>
                  <a:pt x="429255" y="58076"/>
                </a:lnTo>
                <a:lnTo>
                  <a:pt x="460720" y="87838"/>
                </a:lnTo>
                <a:lnTo>
                  <a:pt x="486475" y="122302"/>
                </a:lnTo>
                <a:lnTo>
                  <a:pt x="505785" y="160772"/>
                </a:lnTo>
                <a:lnTo>
                  <a:pt x="517911" y="202548"/>
                </a:lnTo>
                <a:lnTo>
                  <a:pt x="522118" y="246936"/>
                </a:lnTo>
                <a:lnTo>
                  <a:pt x="517911" y="291323"/>
                </a:lnTo>
                <a:lnTo>
                  <a:pt x="505785" y="333099"/>
                </a:lnTo>
                <a:lnTo>
                  <a:pt x="486475" y="371569"/>
                </a:lnTo>
                <a:lnTo>
                  <a:pt x="460720" y="406033"/>
                </a:lnTo>
                <a:lnTo>
                  <a:pt x="429255" y="435795"/>
                </a:lnTo>
                <a:lnTo>
                  <a:pt x="392820" y="460158"/>
                </a:lnTo>
                <a:lnTo>
                  <a:pt x="352150" y="478423"/>
                </a:lnTo>
                <a:lnTo>
                  <a:pt x="307984" y="489893"/>
                </a:lnTo>
                <a:lnTo>
                  <a:pt x="261059" y="493872"/>
                </a:lnTo>
                <a:lnTo>
                  <a:pt x="214133" y="489893"/>
                </a:lnTo>
                <a:lnTo>
                  <a:pt x="169967" y="478423"/>
                </a:lnTo>
                <a:lnTo>
                  <a:pt x="129297" y="460158"/>
                </a:lnTo>
                <a:lnTo>
                  <a:pt x="92862" y="435795"/>
                </a:lnTo>
                <a:lnTo>
                  <a:pt x="61397" y="406033"/>
                </a:lnTo>
                <a:lnTo>
                  <a:pt x="35642" y="371569"/>
                </a:lnTo>
                <a:lnTo>
                  <a:pt x="16332" y="333099"/>
                </a:lnTo>
                <a:lnTo>
                  <a:pt x="4206" y="291323"/>
                </a:lnTo>
                <a:lnTo>
                  <a:pt x="0" y="246936"/>
                </a:lnTo>
                <a:close/>
              </a:path>
            </a:pathLst>
          </a:custGeom>
          <a:ln w="28575">
            <a:solidFill>
              <a:srgbClr val="2F55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54727" y="2831434"/>
            <a:ext cx="250190" cy="203200"/>
          </a:xfrm>
          <a:custGeom>
            <a:avLst/>
            <a:gdLst/>
            <a:ahLst/>
            <a:cxnLst/>
            <a:rect l="l" t="t" r="r" b="b"/>
            <a:pathLst>
              <a:path w="250189" h="203200">
                <a:moveTo>
                  <a:pt x="0" y="101397"/>
                </a:moveTo>
                <a:lnTo>
                  <a:pt x="9817" y="61928"/>
                </a:lnTo>
                <a:lnTo>
                  <a:pt x="36592" y="29698"/>
                </a:lnTo>
                <a:lnTo>
                  <a:pt x="76304" y="7968"/>
                </a:lnTo>
                <a:lnTo>
                  <a:pt x="124934" y="0"/>
                </a:lnTo>
                <a:lnTo>
                  <a:pt x="173563" y="7968"/>
                </a:lnTo>
                <a:lnTo>
                  <a:pt x="213275" y="29698"/>
                </a:lnTo>
                <a:lnTo>
                  <a:pt x="240050" y="61928"/>
                </a:lnTo>
                <a:lnTo>
                  <a:pt x="249868" y="101397"/>
                </a:lnTo>
                <a:lnTo>
                  <a:pt x="240050" y="140865"/>
                </a:lnTo>
                <a:lnTo>
                  <a:pt x="213275" y="173095"/>
                </a:lnTo>
                <a:lnTo>
                  <a:pt x="173563" y="194825"/>
                </a:lnTo>
                <a:lnTo>
                  <a:pt x="124934" y="202794"/>
                </a:lnTo>
                <a:lnTo>
                  <a:pt x="76304" y="194825"/>
                </a:lnTo>
                <a:lnTo>
                  <a:pt x="36592" y="173095"/>
                </a:lnTo>
                <a:lnTo>
                  <a:pt x="9817" y="140865"/>
                </a:lnTo>
                <a:lnTo>
                  <a:pt x="0" y="101397"/>
                </a:lnTo>
                <a:close/>
              </a:path>
            </a:pathLst>
          </a:custGeom>
          <a:ln w="28575">
            <a:solidFill>
              <a:srgbClr val="7671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88719" y="4831265"/>
            <a:ext cx="250190" cy="203200"/>
          </a:xfrm>
          <a:custGeom>
            <a:avLst/>
            <a:gdLst/>
            <a:ahLst/>
            <a:cxnLst/>
            <a:rect l="l" t="t" r="r" b="b"/>
            <a:pathLst>
              <a:path w="250189" h="203200">
                <a:moveTo>
                  <a:pt x="0" y="101397"/>
                </a:moveTo>
                <a:lnTo>
                  <a:pt x="9817" y="61928"/>
                </a:lnTo>
                <a:lnTo>
                  <a:pt x="36592" y="29698"/>
                </a:lnTo>
                <a:lnTo>
                  <a:pt x="76304" y="7968"/>
                </a:lnTo>
                <a:lnTo>
                  <a:pt x="124934" y="0"/>
                </a:lnTo>
                <a:lnTo>
                  <a:pt x="173563" y="7968"/>
                </a:lnTo>
                <a:lnTo>
                  <a:pt x="213275" y="29698"/>
                </a:lnTo>
                <a:lnTo>
                  <a:pt x="240050" y="61928"/>
                </a:lnTo>
                <a:lnTo>
                  <a:pt x="249868" y="101397"/>
                </a:lnTo>
                <a:lnTo>
                  <a:pt x="240050" y="140865"/>
                </a:lnTo>
                <a:lnTo>
                  <a:pt x="213275" y="173095"/>
                </a:lnTo>
                <a:lnTo>
                  <a:pt x="173563" y="194825"/>
                </a:lnTo>
                <a:lnTo>
                  <a:pt x="124934" y="202794"/>
                </a:lnTo>
                <a:lnTo>
                  <a:pt x="76304" y="194825"/>
                </a:lnTo>
                <a:lnTo>
                  <a:pt x="36592" y="173095"/>
                </a:lnTo>
                <a:lnTo>
                  <a:pt x="9817" y="140865"/>
                </a:lnTo>
                <a:lnTo>
                  <a:pt x="0" y="101397"/>
                </a:lnTo>
                <a:close/>
              </a:path>
            </a:pathLst>
          </a:custGeom>
          <a:ln w="28575">
            <a:solidFill>
              <a:srgbClr val="7671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41660" y="4568831"/>
            <a:ext cx="250190" cy="203200"/>
          </a:xfrm>
          <a:custGeom>
            <a:avLst/>
            <a:gdLst/>
            <a:ahLst/>
            <a:cxnLst/>
            <a:rect l="l" t="t" r="r" b="b"/>
            <a:pathLst>
              <a:path w="250189" h="203200">
                <a:moveTo>
                  <a:pt x="0" y="101397"/>
                </a:moveTo>
                <a:lnTo>
                  <a:pt x="9817" y="61928"/>
                </a:lnTo>
                <a:lnTo>
                  <a:pt x="36592" y="29698"/>
                </a:lnTo>
                <a:lnTo>
                  <a:pt x="76304" y="7968"/>
                </a:lnTo>
                <a:lnTo>
                  <a:pt x="124934" y="0"/>
                </a:lnTo>
                <a:lnTo>
                  <a:pt x="173563" y="7968"/>
                </a:lnTo>
                <a:lnTo>
                  <a:pt x="213275" y="29698"/>
                </a:lnTo>
                <a:lnTo>
                  <a:pt x="240050" y="61928"/>
                </a:lnTo>
                <a:lnTo>
                  <a:pt x="249868" y="101397"/>
                </a:lnTo>
                <a:lnTo>
                  <a:pt x="240050" y="140865"/>
                </a:lnTo>
                <a:lnTo>
                  <a:pt x="213275" y="173095"/>
                </a:lnTo>
                <a:lnTo>
                  <a:pt x="173563" y="194825"/>
                </a:lnTo>
                <a:lnTo>
                  <a:pt x="124934" y="202794"/>
                </a:lnTo>
                <a:lnTo>
                  <a:pt x="76304" y="194825"/>
                </a:lnTo>
                <a:lnTo>
                  <a:pt x="36592" y="173095"/>
                </a:lnTo>
                <a:lnTo>
                  <a:pt x="9817" y="140865"/>
                </a:lnTo>
                <a:lnTo>
                  <a:pt x="0" y="101397"/>
                </a:lnTo>
                <a:close/>
              </a:path>
            </a:pathLst>
          </a:custGeom>
          <a:ln w="28575">
            <a:solidFill>
              <a:srgbClr val="7671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89195" y="3777411"/>
            <a:ext cx="250190" cy="203200"/>
          </a:xfrm>
          <a:custGeom>
            <a:avLst/>
            <a:gdLst/>
            <a:ahLst/>
            <a:cxnLst/>
            <a:rect l="l" t="t" r="r" b="b"/>
            <a:pathLst>
              <a:path w="250189" h="203200">
                <a:moveTo>
                  <a:pt x="0" y="101397"/>
                </a:moveTo>
                <a:lnTo>
                  <a:pt x="9817" y="61928"/>
                </a:lnTo>
                <a:lnTo>
                  <a:pt x="36592" y="29698"/>
                </a:lnTo>
                <a:lnTo>
                  <a:pt x="76304" y="7968"/>
                </a:lnTo>
                <a:lnTo>
                  <a:pt x="124934" y="0"/>
                </a:lnTo>
                <a:lnTo>
                  <a:pt x="173563" y="7968"/>
                </a:lnTo>
                <a:lnTo>
                  <a:pt x="213275" y="29698"/>
                </a:lnTo>
                <a:lnTo>
                  <a:pt x="240050" y="61928"/>
                </a:lnTo>
                <a:lnTo>
                  <a:pt x="249868" y="101397"/>
                </a:lnTo>
                <a:lnTo>
                  <a:pt x="240050" y="140865"/>
                </a:lnTo>
                <a:lnTo>
                  <a:pt x="213275" y="173095"/>
                </a:lnTo>
                <a:lnTo>
                  <a:pt x="173563" y="194825"/>
                </a:lnTo>
                <a:lnTo>
                  <a:pt x="124934" y="202794"/>
                </a:lnTo>
                <a:lnTo>
                  <a:pt x="76304" y="194825"/>
                </a:lnTo>
                <a:lnTo>
                  <a:pt x="36592" y="173095"/>
                </a:lnTo>
                <a:lnTo>
                  <a:pt x="9817" y="140865"/>
                </a:lnTo>
                <a:lnTo>
                  <a:pt x="0" y="101397"/>
                </a:lnTo>
                <a:close/>
              </a:path>
            </a:pathLst>
          </a:custGeom>
          <a:ln w="28575">
            <a:solidFill>
              <a:srgbClr val="7671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84232" y="280136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7671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36632" y="295376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89032" y="310616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895962" y="336977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048362" y="352217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46232" y="356336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457406" y="2748451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51491" y="280136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903891" y="295376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56291" y="310616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208691" y="325856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7671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361091" y="341096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7671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513491" y="356336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7671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609806" y="2900851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762206" y="3053251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914606" y="3205651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392349" y="3006041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544749" y="3158441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697149" y="3310841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849549" y="3463241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355679" y="325856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508079" y="3410963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3987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681938" y="4295893"/>
            <a:ext cx="1807845" cy="0"/>
          </a:xfrm>
          <a:custGeom>
            <a:avLst/>
            <a:gdLst/>
            <a:ahLst/>
            <a:cxnLst/>
            <a:rect l="l" t="t" r="r" b="b"/>
            <a:pathLst>
              <a:path w="1807845">
                <a:moveTo>
                  <a:pt x="0" y="0"/>
                </a:moveTo>
                <a:lnTo>
                  <a:pt x="1807452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528487" y="4582950"/>
            <a:ext cx="1138555" cy="0"/>
          </a:xfrm>
          <a:custGeom>
            <a:avLst/>
            <a:gdLst/>
            <a:ahLst/>
            <a:cxnLst/>
            <a:rect l="l" t="t" r="r" b="b"/>
            <a:pathLst>
              <a:path w="1138554">
                <a:moveTo>
                  <a:pt x="0" y="0"/>
                </a:moveTo>
                <a:lnTo>
                  <a:pt x="1138255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775722" y="4793964"/>
            <a:ext cx="1901189" cy="0"/>
          </a:xfrm>
          <a:custGeom>
            <a:avLst/>
            <a:gdLst/>
            <a:ahLst/>
            <a:cxnLst/>
            <a:rect l="l" t="t" r="r" b="b"/>
            <a:pathLst>
              <a:path w="1901190">
                <a:moveTo>
                  <a:pt x="0" y="0"/>
                </a:moveTo>
                <a:lnTo>
                  <a:pt x="1900790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215898" y="4295893"/>
            <a:ext cx="569595" cy="0"/>
          </a:xfrm>
          <a:custGeom>
            <a:avLst/>
            <a:gdLst/>
            <a:ahLst/>
            <a:cxnLst/>
            <a:rect l="l" t="t" r="r" b="b"/>
            <a:pathLst>
              <a:path w="569595">
                <a:moveTo>
                  <a:pt x="0" y="0"/>
                </a:moveTo>
                <a:lnTo>
                  <a:pt x="569034" y="1"/>
                </a:lnTo>
              </a:path>
            </a:pathLst>
          </a:custGeom>
          <a:ln w="28575">
            <a:solidFill>
              <a:srgbClr val="7671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815639" y="4582950"/>
            <a:ext cx="695960" cy="0"/>
          </a:xfrm>
          <a:custGeom>
            <a:avLst/>
            <a:gdLst/>
            <a:ahLst/>
            <a:cxnLst/>
            <a:rect l="l" t="t" r="r" b="b"/>
            <a:pathLst>
              <a:path w="695959">
                <a:moveTo>
                  <a:pt x="0" y="0"/>
                </a:moveTo>
                <a:lnTo>
                  <a:pt x="695431" y="1"/>
                </a:lnTo>
              </a:path>
            </a:pathLst>
          </a:custGeom>
          <a:ln w="28575">
            <a:solidFill>
              <a:srgbClr val="7671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965557" y="4448291"/>
            <a:ext cx="1304925" cy="0"/>
          </a:xfrm>
          <a:custGeom>
            <a:avLst/>
            <a:gdLst/>
            <a:ahLst/>
            <a:cxnLst/>
            <a:rect l="l" t="t" r="r" b="b"/>
            <a:pathLst>
              <a:path w="1304925">
                <a:moveTo>
                  <a:pt x="0" y="0"/>
                </a:moveTo>
                <a:lnTo>
                  <a:pt x="1304651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398886" y="4670394"/>
            <a:ext cx="1096645" cy="0"/>
          </a:xfrm>
          <a:custGeom>
            <a:avLst/>
            <a:gdLst/>
            <a:ahLst/>
            <a:cxnLst/>
            <a:rect l="l" t="t" r="r" b="b"/>
            <a:pathLst>
              <a:path w="1096645">
                <a:moveTo>
                  <a:pt x="0" y="0"/>
                </a:moveTo>
                <a:lnTo>
                  <a:pt x="1096522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960872" y="4747073"/>
            <a:ext cx="1018540" cy="0"/>
          </a:xfrm>
          <a:custGeom>
            <a:avLst/>
            <a:gdLst/>
            <a:ahLst/>
            <a:cxnLst/>
            <a:rect l="l" t="t" r="r" b="b"/>
            <a:pathLst>
              <a:path w="1018540">
                <a:moveTo>
                  <a:pt x="0" y="0"/>
                </a:moveTo>
                <a:lnTo>
                  <a:pt x="1017974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552080" y="5485626"/>
            <a:ext cx="1628139" cy="0"/>
          </a:xfrm>
          <a:custGeom>
            <a:avLst/>
            <a:gdLst/>
            <a:ahLst/>
            <a:cxnLst/>
            <a:rect l="l" t="t" r="r" b="b"/>
            <a:pathLst>
              <a:path w="1628140">
                <a:moveTo>
                  <a:pt x="0" y="0"/>
                </a:moveTo>
                <a:lnTo>
                  <a:pt x="1627574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251131" y="5725473"/>
            <a:ext cx="695960" cy="0"/>
          </a:xfrm>
          <a:custGeom>
            <a:avLst/>
            <a:gdLst/>
            <a:ahLst/>
            <a:cxnLst/>
            <a:rect l="l" t="t" r="r" b="b"/>
            <a:pathLst>
              <a:path w="695959">
                <a:moveTo>
                  <a:pt x="0" y="0"/>
                </a:moveTo>
                <a:lnTo>
                  <a:pt x="695431" y="1"/>
                </a:lnTo>
              </a:path>
            </a:pathLst>
          </a:custGeom>
          <a:ln w="28575">
            <a:solidFill>
              <a:srgbClr val="7671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440548" y="5643091"/>
            <a:ext cx="569595" cy="0"/>
          </a:xfrm>
          <a:custGeom>
            <a:avLst/>
            <a:gdLst/>
            <a:ahLst/>
            <a:cxnLst/>
            <a:rect l="l" t="t" r="r" b="b"/>
            <a:pathLst>
              <a:path w="569595">
                <a:moveTo>
                  <a:pt x="0" y="0"/>
                </a:moveTo>
                <a:lnTo>
                  <a:pt x="569034" y="1"/>
                </a:lnTo>
              </a:path>
            </a:pathLst>
          </a:custGeom>
          <a:ln w="28575">
            <a:solidFill>
              <a:srgbClr val="7671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19467" y="5615218"/>
            <a:ext cx="1304925" cy="0"/>
          </a:xfrm>
          <a:custGeom>
            <a:avLst/>
            <a:gdLst/>
            <a:ahLst/>
            <a:cxnLst/>
            <a:rect l="l" t="t" r="r" b="b"/>
            <a:pathLst>
              <a:path w="1304925">
                <a:moveTo>
                  <a:pt x="0" y="0"/>
                </a:moveTo>
                <a:lnTo>
                  <a:pt x="1304651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699965" y="5743534"/>
            <a:ext cx="1096645" cy="0"/>
          </a:xfrm>
          <a:custGeom>
            <a:avLst/>
            <a:gdLst/>
            <a:ahLst/>
            <a:cxnLst/>
            <a:rect l="l" t="t" r="r" b="b"/>
            <a:pathLst>
              <a:path w="1096645">
                <a:moveTo>
                  <a:pt x="0" y="0"/>
                </a:moveTo>
                <a:lnTo>
                  <a:pt x="1096522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965557" y="5902274"/>
            <a:ext cx="1018540" cy="0"/>
          </a:xfrm>
          <a:custGeom>
            <a:avLst/>
            <a:gdLst/>
            <a:ahLst/>
            <a:cxnLst/>
            <a:rect l="l" t="t" r="r" b="b"/>
            <a:pathLst>
              <a:path w="1018540">
                <a:moveTo>
                  <a:pt x="0" y="0"/>
                </a:moveTo>
                <a:lnTo>
                  <a:pt x="1017974" y="1"/>
                </a:lnTo>
              </a:path>
            </a:pathLst>
          </a:custGeom>
          <a:ln w="28575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540733" y="5579412"/>
            <a:ext cx="1807845" cy="0"/>
          </a:xfrm>
          <a:custGeom>
            <a:avLst/>
            <a:gdLst/>
            <a:ahLst/>
            <a:cxnLst/>
            <a:rect l="l" t="t" r="r" b="b"/>
            <a:pathLst>
              <a:path w="1807845">
                <a:moveTo>
                  <a:pt x="0" y="0"/>
                </a:moveTo>
                <a:lnTo>
                  <a:pt x="1807452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0362330" y="5743534"/>
            <a:ext cx="1138555" cy="0"/>
          </a:xfrm>
          <a:custGeom>
            <a:avLst/>
            <a:gdLst/>
            <a:ahLst/>
            <a:cxnLst/>
            <a:rect l="l" t="t" r="r" b="b"/>
            <a:pathLst>
              <a:path w="1138554">
                <a:moveTo>
                  <a:pt x="0" y="0"/>
                </a:moveTo>
                <a:lnTo>
                  <a:pt x="1138255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540733" y="5901638"/>
            <a:ext cx="1901189" cy="0"/>
          </a:xfrm>
          <a:custGeom>
            <a:avLst/>
            <a:gdLst/>
            <a:ahLst/>
            <a:cxnLst/>
            <a:rect l="l" t="t" r="r" b="b"/>
            <a:pathLst>
              <a:path w="1901190">
                <a:moveTo>
                  <a:pt x="0" y="0"/>
                </a:moveTo>
                <a:lnTo>
                  <a:pt x="1900790" y="1"/>
                </a:lnTo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941593" y="2430779"/>
            <a:ext cx="2522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Genomas</a:t>
            </a:r>
            <a:r>
              <a:rPr sz="1400" b="1" spc="-15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E64F13"/>
                </a:solidFill>
                <a:latin typeface="Calibri"/>
                <a:cs typeface="Calibri"/>
              </a:rPr>
              <a:t>presentes</a:t>
            </a:r>
            <a:r>
              <a:rPr sz="1400" b="1" spc="-20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en</a:t>
            </a:r>
            <a:r>
              <a:rPr sz="1400" b="1" spc="-20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E64F13"/>
                </a:solidFill>
                <a:latin typeface="Calibri"/>
                <a:cs typeface="Calibri"/>
              </a:rPr>
              <a:t>la</a:t>
            </a:r>
            <a:r>
              <a:rPr sz="1400" b="1" spc="-25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E64F13"/>
                </a:solidFill>
                <a:latin typeface="Calibri"/>
                <a:cs typeface="Calibri"/>
              </a:rPr>
              <a:t>muestra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25072" y="2275332"/>
            <a:ext cx="33972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Secuenciación</a:t>
            </a:r>
            <a:r>
              <a:rPr sz="1400" b="1" spc="-15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-&gt;</a:t>
            </a:r>
            <a:r>
              <a:rPr sz="1400" b="1" spc="-10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Obtención</a:t>
            </a:r>
            <a:r>
              <a:rPr sz="1400" b="1" spc="-15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de</a:t>
            </a:r>
            <a:r>
              <a:rPr sz="1400" b="1" spc="-20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lecturas cortas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51646" y="3777996"/>
            <a:ext cx="26549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Ensamblaje</a:t>
            </a:r>
            <a:r>
              <a:rPr sz="1400" b="1" spc="-20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-&gt;</a:t>
            </a:r>
            <a:r>
              <a:rPr sz="1400" b="1" spc="-15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Obtención</a:t>
            </a:r>
            <a:r>
              <a:rPr sz="1400" b="1" spc="-20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de</a:t>
            </a:r>
            <a:r>
              <a:rPr sz="1400" b="1" spc="-20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i="1" spc="-5" dirty="0">
                <a:solidFill>
                  <a:srgbClr val="E64F13"/>
                </a:solidFill>
                <a:latin typeface="Calibri"/>
                <a:cs typeface="Calibri"/>
              </a:rPr>
              <a:t>contigs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33679" y="4902708"/>
            <a:ext cx="27489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Binning</a:t>
            </a:r>
            <a:r>
              <a:rPr sz="1400" b="1" spc="-15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-&gt;</a:t>
            </a:r>
            <a:r>
              <a:rPr sz="1400" b="1" spc="-10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Obtención</a:t>
            </a:r>
            <a:r>
              <a:rPr sz="1400" b="1" spc="-10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de</a:t>
            </a:r>
            <a:r>
              <a:rPr sz="1400" b="1" spc="-15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i="1" spc="-5" dirty="0">
                <a:solidFill>
                  <a:srgbClr val="E64F13"/>
                </a:solidFill>
                <a:latin typeface="Calibri"/>
                <a:cs typeface="Calibri"/>
              </a:rPr>
              <a:t>bins</a:t>
            </a:r>
            <a:r>
              <a:rPr sz="1400" b="1" i="1" spc="-15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E64F13"/>
                </a:solidFill>
                <a:latin typeface="Calibri"/>
                <a:cs typeface="Calibri"/>
              </a:rPr>
              <a:t>y</a:t>
            </a:r>
            <a:r>
              <a:rPr sz="1400" b="1" spc="-5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E64F13"/>
                </a:solidFill>
                <a:latin typeface="Calibri"/>
                <a:cs typeface="Calibri"/>
              </a:rPr>
              <a:t>MAGs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title"/>
          </p:nvPr>
        </p:nvSpPr>
        <p:spPr>
          <a:xfrm>
            <a:off x="649591" y="839724"/>
            <a:ext cx="38360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i="1" dirty="0">
                <a:solidFill>
                  <a:srgbClr val="ED7D31"/>
                </a:solidFill>
                <a:latin typeface="Calibri"/>
                <a:cs typeface="Calibri"/>
              </a:rPr>
              <a:t>Binning</a:t>
            </a:r>
            <a:r>
              <a:rPr sz="3200" b="0" i="1" spc="-7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200" b="0" spc="-10" dirty="0">
                <a:solidFill>
                  <a:srgbClr val="ED7D31"/>
                </a:solidFill>
                <a:latin typeface="Calibri"/>
                <a:cs typeface="Calibri"/>
              </a:rPr>
              <a:t>metagenómico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126182" y="3636754"/>
            <a:ext cx="803910" cy="171450"/>
          </a:xfrm>
          <a:custGeom>
            <a:avLst/>
            <a:gdLst/>
            <a:ahLst/>
            <a:cxnLst/>
            <a:rect l="l" t="t" r="r" b="b"/>
            <a:pathLst>
              <a:path w="803910" h="171450">
                <a:moveTo>
                  <a:pt x="632113" y="0"/>
                </a:moveTo>
                <a:lnTo>
                  <a:pt x="632113" y="171449"/>
                </a:lnTo>
                <a:lnTo>
                  <a:pt x="746414" y="114299"/>
                </a:lnTo>
                <a:lnTo>
                  <a:pt x="660688" y="114299"/>
                </a:lnTo>
                <a:lnTo>
                  <a:pt x="660688" y="57149"/>
                </a:lnTo>
                <a:lnTo>
                  <a:pt x="746411" y="57149"/>
                </a:lnTo>
                <a:lnTo>
                  <a:pt x="632113" y="0"/>
                </a:lnTo>
                <a:close/>
              </a:path>
              <a:path w="803910" h="171450">
                <a:moveTo>
                  <a:pt x="632113" y="57149"/>
                </a:moveTo>
                <a:lnTo>
                  <a:pt x="0" y="57149"/>
                </a:lnTo>
                <a:lnTo>
                  <a:pt x="0" y="114299"/>
                </a:lnTo>
                <a:lnTo>
                  <a:pt x="632113" y="114299"/>
                </a:lnTo>
                <a:lnTo>
                  <a:pt x="632113" y="57149"/>
                </a:lnTo>
                <a:close/>
              </a:path>
              <a:path w="803910" h="171450">
                <a:moveTo>
                  <a:pt x="746411" y="57149"/>
                </a:moveTo>
                <a:lnTo>
                  <a:pt x="660688" y="57149"/>
                </a:lnTo>
                <a:lnTo>
                  <a:pt x="660688" y="114299"/>
                </a:lnTo>
                <a:lnTo>
                  <a:pt x="746414" y="114299"/>
                </a:lnTo>
                <a:lnTo>
                  <a:pt x="803563" y="85726"/>
                </a:lnTo>
                <a:lnTo>
                  <a:pt x="746411" y="57149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852423"/>
            <a:ext cx="371411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i="1" dirty="0">
                <a:solidFill>
                  <a:srgbClr val="ED7D31"/>
                </a:solidFill>
                <a:latin typeface="Calibri"/>
                <a:cs typeface="Calibri"/>
              </a:rPr>
              <a:t>Binning</a:t>
            </a:r>
            <a:r>
              <a:rPr sz="3100" b="0" i="1" spc="-4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metagenómico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2525" y="1514348"/>
            <a:ext cx="8729980" cy="441198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just">
              <a:lnSpc>
                <a:spcPct val="113300"/>
              </a:lnSpc>
              <a:spcBef>
                <a:spcPts val="50"/>
              </a:spcBef>
            </a:pPr>
            <a:r>
              <a:rPr sz="1800" spc="-5" dirty="0">
                <a:latin typeface="Arial MT"/>
                <a:cs typeface="Arial MT"/>
              </a:rPr>
              <a:t>MaxBin2 </a:t>
            </a:r>
            <a:r>
              <a:rPr sz="1800" dirty="0">
                <a:latin typeface="Arial MT"/>
                <a:cs typeface="Arial MT"/>
              </a:rPr>
              <a:t>y </a:t>
            </a:r>
            <a:r>
              <a:rPr sz="1800" spc="-5" dirty="0">
                <a:latin typeface="Arial MT"/>
                <a:cs typeface="Arial MT"/>
              </a:rPr>
              <a:t>MetaBat permiten hacer el proceso de binning: Ambos requieren una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b="1" spc="-5" dirty="0">
                <a:solidFill>
                  <a:srgbClr val="E7E6E6"/>
                </a:solidFill>
                <a:latin typeface="Arial"/>
                <a:cs typeface="Arial"/>
              </a:rPr>
              <a:t>longitud </a:t>
            </a:r>
            <a:r>
              <a:rPr sz="1800" b="1" dirty="0">
                <a:solidFill>
                  <a:srgbClr val="E7E6E6"/>
                </a:solidFill>
                <a:latin typeface="Arial"/>
                <a:cs typeface="Arial"/>
              </a:rPr>
              <a:t>de </a:t>
            </a:r>
            <a:r>
              <a:rPr sz="1800" b="1" i="1" spc="-5" dirty="0">
                <a:solidFill>
                  <a:srgbClr val="E7E6E6"/>
                </a:solidFill>
                <a:latin typeface="Arial"/>
                <a:cs typeface="Arial"/>
              </a:rPr>
              <a:t>contig </a:t>
            </a:r>
            <a:r>
              <a:rPr sz="1800" b="1" spc="-5" dirty="0">
                <a:solidFill>
                  <a:srgbClr val="E7E6E6"/>
                </a:solidFill>
                <a:latin typeface="Arial"/>
                <a:cs typeface="Arial"/>
              </a:rPr>
              <a:t>mayor </a:t>
            </a:r>
            <a:r>
              <a:rPr sz="1800" b="1" dirty="0">
                <a:solidFill>
                  <a:srgbClr val="E7E6E6"/>
                </a:solidFill>
                <a:latin typeface="Arial"/>
                <a:cs typeface="Arial"/>
              </a:rPr>
              <a:t>a 1 </a:t>
            </a:r>
            <a:r>
              <a:rPr sz="1800" b="1" spc="-5" dirty="0">
                <a:solidFill>
                  <a:srgbClr val="E7E6E6"/>
                </a:solidFill>
                <a:latin typeface="Arial"/>
                <a:cs typeface="Arial"/>
              </a:rPr>
              <a:t>kb </a:t>
            </a:r>
            <a:r>
              <a:rPr sz="1800" dirty="0">
                <a:latin typeface="Arial MT"/>
                <a:cs typeface="Arial MT"/>
              </a:rPr>
              <a:t>y su </a:t>
            </a:r>
            <a:r>
              <a:rPr sz="1800" spc="-5" dirty="0">
                <a:latin typeface="Arial MT"/>
                <a:cs typeface="Arial MT"/>
              </a:rPr>
              <a:t>archivo de </a:t>
            </a:r>
            <a:r>
              <a:rPr sz="1800" b="1" spc="-5" dirty="0">
                <a:solidFill>
                  <a:srgbClr val="E7E6E6"/>
                </a:solidFill>
                <a:latin typeface="Arial"/>
                <a:cs typeface="Arial"/>
              </a:rPr>
              <a:t>salida </a:t>
            </a:r>
            <a:r>
              <a:rPr sz="1800" spc="-5" dirty="0">
                <a:latin typeface="Arial MT"/>
                <a:cs typeface="Arial MT"/>
              </a:rPr>
              <a:t>está en un </a:t>
            </a:r>
            <a:r>
              <a:rPr sz="1800" b="1" spc="-5" dirty="0">
                <a:solidFill>
                  <a:srgbClr val="E7E6E6"/>
                </a:solidFill>
                <a:latin typeface="Arial"/>
                <a:cs typeface="Arial"/>
              </a:rPr>
              <a:t>formato fasta </a:t>
            </a:r>
            <a:r>
              <a:rPr sz="1800" b="1" dirty="0">
                <a:solidFill>
                  <a:srgbClr val="E7E6E6"/>
                </a:solidFill>
                <a:latin typeface="Arial"/>
                <a:cs typeface="Arial"/>
              </a:rPr>
              <a:t> </a:t>
            </a:r>
            <a:r>
              <a:rPr sz="1800" spc="-5" dirty="0">
                <a:latin typeface="Arial MT"/>
                <a:cs typeface="Arial MT"/>
              </a:rPr>
              <a:t>con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agrupaciones.</a:t>
            </a:r>
            <a:endParaRPr sz="1800">
              <a:latin typeface="Arial MT"/>
              <a:cs typeface="Arial MT"/>
            </a:endParaRPr>
          </a:p>
          <a:p>
            <a:pPr marL="425450">
              <a:lnSpc>
                <a:spcPct val="100000"/>
              </a:lnSpc>
              <a:spcBef>
                <a:spcPts val="985"/>
              </a:spcBef>
            </a:pPr>
            <a:r>
              <a:rPr sz="1800" b="1" spc="-5" dirty="0">
                <a:solidFill>
                  <a:srgbClr val="E7E6E6"/>
                </a:solidFill>
                <a:latin typeface="Arial"/>
                <a:cs typeface="Arial"/>
              </a:rPr>
              <a:t>MaxBin</a:t>
            </a:r>
            <a:r>
              <a:rPr sz="1800" spc="-5" dirty="0">
                <a:solidFill>
                  <a:srgbClr val="E7E6E6"/>
                </a:solidFill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596900" marR="2840990" indent="-171450" algn="just">
              <a:lnSpc>
                <a:spcPct val="115599"/>
              </a:lnSpc>
              <a:spcBef>
                <a:spcPts val="505"/>
              </a:spcBef>
              <a:buClr>
                <a:srgbClr val="E46C0A"/>
              </a:buClr>
              <a:buChar char="-"/>
              <a:tabLst>
                <a:tab pos="597535" algn="l"/>
              </a:tabLst>
            </a:pPr>
            <a:r>
              <a:rPr sz="1800" spc="-5" dirty="0">
                <a:latin typeface="Arial MT"/>
                <a:cs typeface="Arial MT"/>
              </a:rPr>
              <a:t>Programa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clasificación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metagenomas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genomas </a:t>
            </a:r>
            <a:r>
              <a:rPr sz="1800" dirty="0">
                <a:latin typeface="Arial MT"/>
                <a:cs typeface="Arial MT"/>
              </a:rPr>
              <a:t>se </a:t>
            </a:r>
            <a:r>
              <a:rPr sz="1800" spc="-5" dirty="0">
                <a:latin typeface="Arial MT"/>
                <a:cs typeface="Arial MT"/>
              </a:rPr>
              <a:t>basa en un algoritmo de maximización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expectativas</a:t>
            </a:r>
            <a:endParaRPr sz="1800">
              <a:latin typeface="Arial MT"/>
              <a:cs typeface="Arial MT"/>
            </a:endParaRPr>
          </a:p>
          <a:p>
            <a:pPr marL="596900" marR="2840990" indent="-171450" algn="just">
              <a:lnSpc>
                <a:spcPct val="115599"/>
              </a:lnSpc>
              <a:spcBef>
                <a:spcPts val="595"/>
              </a:spcBef>
              <a:buClr>
                <a:srgbClr val="E46C0A"/>
              </a:buClr>
              <a:buChar char="-"/>
              <a:tabLst>
                <a:tab pos="597535" algn="l"/>
              </a:tabLst>
            </a:pPr>
            <a:r>
              <a:rPr sz="1800" spc="-5" dirty="0">
                <a:latin typeface="Arial MT"/>
                <a:cs typeface="Arial MT"/>
              </a:rPr>
              <a:t>obtiene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informes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que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incluyen</a:t>
            </a:r>
            <a:r>
              <a:rPr sz="1800" dirty="0">
                <a:latin typeface="Arial MT"/>
                <a:cs typeface="Arial MT"/>
              </a:rPr>
              <a:t> la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estimación</a:t>
            </a:r>
            <a:r>
              <a:rPr sz="1800" spc="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cómo de complete está el genoma, el contenido en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GC,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el tamaño calculado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del genoma, etc.</a:t>
            </a:r>
            <a:endParaRPr sz="1800">
              <a:latin typeface="Arial MT"/>
              <a:cs typeface="Arial MT"/>
            </a:endParaRPr>
          </a:p>
          <a:p>
            <a:pPr marL="596900" marR="2840990" indent="-171450" algn="just">
              <a:lnSpc>
                <a:spcPct val="113300"/>
              </a:lnSpc>
              <a:spcBef>
                <a:spcPts val="675"/>
              </a:spcBef>
              <a:buClr>
                <a:srgbClr val="E46C0A"/>
              </a:buClr>
              <a:buChar char="-"/>
              <a:tabLst>
                <a:tab pos="597535" algn="l"/>
              </a:tabLst>
            </a:pPr>
            <a:r>
              <a:rPr sz="1800" spc="-5" dirty="0">
                <a:latin typeface="Arial MT"/>
                <a:cs typeface="Arial MT"/>
              </a:rPr>
              <a:t>Además, está integrado</a:t>
            </a:r>
            <a:r>
              <a:rPr sz="1800" spc="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 el programa MEGAN, </a:t>
            </a:r>
            <a:r>
              <a:rPr sz="1800" dirty="0">
                <a:latin typeface="Arial MT"/>
                <a:cs typeface="Arial MT"/>
              </a:rPr>
              <a:t> lo </a:t>
            </a:r>
            <a:r>
              <a:rPr sz="1800" spc="-5" dirty="0">
                <a:latin typeface="Arial MT"/>
                <a:cs typeface="Arial MT"/>
              </a:rPr>
              <a:t>que permite saber </a:t>
            </a:r>
            <a:r>
              <a:rPr sz="1800" dirty="0">
                <a:latin typeface="Arial MT"/>
                <a:cs typeface="Arial MT"/>
              </a:rPr>
              <a:t>la </a:t>
            </a:r>
            <a:r>
              <a:rPr sz="1800" spc="-5" dirty="0">
                <a:latin typeface="Arial MT"/>
                <a:cs typeface="Arial MT"/>
              </a:rPr>
              <a:t>taxonomía de cada </a:t>
            </a:r>
            <a:r>
              <a:rPr sz="1800" i="1" spc="-5" dirty="0">
                <a:latin typeface="Arial"/>
                <a:cs typeface="Arial"/>
              </a:rPr>
              <a:t>bin </a:t>
            </a:r>
            <a:r>
              <a:rPr sz="1800" dirty="0">
                <a:latin typeface="Arial MT"/>
                <a:cs typeface="Arial MT"/>
              </a:rPr>
              <a:t>o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grupo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cuando el proceso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ha terminado.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9631" y="3678073"/>
            <a:ext cx="4654721" cy="24443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852423"/>
            <a:ext cx="371411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i="1" dirty="0">
                <a:solidFill>
                  <a:srgbClr val="ED7D31"/>
                </a:solidFill>
                <a:latin typeface="Calibri"/>
                <a:cs typeface="Calibri"/>
              </a:rPr>
              <a:t>Binning</a:t>
            </a:r>
            <a:r>
              <a:rPr sz="3100" b="0" i="1" spc="-4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metagenómico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525" y="1514348"/>
            <a:ext cx="8729980" cy="40671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just">
              <a:lnSpc>
                <a:spcPct val="113300"/>
              </a:lnSpc>
              <a:spcBef>
                <a:spcPts val="50"/>
              </a:spcBef>
            </a:pPr>
            <a:r>
              <a:rPr sz="1800" spc="-5" dirty="0">
                <a:latin typeface="Arial MT"/>
                <a:cs typeface="Arial MT"/>
              </a:rPr>
              <a:t>MaxBin2 </a:t>
            </a:r>
            <a:r>
              <a:rPr sz="1800" dirty="0">
                <a:latin typeface="Arial MT"/>
                <a:cs typeface="Arial MT"/>
              </a:rPr>
              <a:t>y </a:t>
            </a:r>
            <a:r>
              <a:rPr sz="1800" spc="-5" dirty="0">
                <a:latin typeface="Arial MT"/>
                <a:cs typeface="Arial MT"/>
              </a:rPr>
              <a:t>MetaBat permiten hacer el proceso de binning: Ambos requieren una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b="1" spc="-5" dirty="0">
                <a:solidFill>
                  <a:srgbClr val="E7E6E6"/>
                </a:solidFill>
                <a:latin typeface="Arial"/>
                <a:cs typeface="Arial"/>
              </a:rPr>
              <a:t>longitud </a:t>
            </a:r>
            <a:r>
              <a:rPr sz="1800" b="1" dirty="0">
                <a:solidFill>
                  <a:srgbClr val="E7E6E6"/>
                </a:solidFill>
                <a:latin typeface="Arial"/>
                <a:cs typeface="Arial"/>
              </a:rPr>
              <a:t>de </a:t>
            </a:r>
            <a:r>
              <a:rPr sz="1800" b="1" i="1" spc="-5" dirty="0">
                <a:solidFill>
                  <a:srgbClr val="E7E6E6"/>
                </a:solidFill>
                <a:latin typeface="Arial"/>
                <a:cs typeface="Arial"/>
              </a:rPr>
              <a:t>contig </a:t>
            </a:r>
            <a:r>
              <a:rPr sz="1800" b="1" spc="-5" dirty="0">
                <a:solidFill>
                  <a:srgbClr val="E7E6E6"/>
                </a:solidFill>
                <a:latin typeface="Arial"/>
                <a:cs typeface="Arial"/>
              </a:rPr>
              <a:t>mayor </a:t>
            </a:r>
            <a:r>
              <a:rPr sz="1800" b="1" dirty="0">
                <a:solidFill>
                  <a:srgbClr val="E7E6E6"/>
                </a:solidFill>
                <a:latin typeface="Arial"/>
                <a:cs typeface="Arial"/>
              </a:rPr>
              <a:t>a 1 </a:t>
            </a:r>
            <a:r>
              <a:rPr sz="1800" b="1" spc="-5" dirty="0">
                <a:solidFill>
                  <a:srgbClr val="E7E6E6"/>
                </a:solidFill>
                <a:latin typeface="Arial"/>
                <a:cs typeface="Arial"/>
              </a:rPr>
              <a:t>kb </a:t>
            </a:r>
            <a:r>
              <a:rPr sz="1800" dirty="0">
                <a:latin typeface="Arial MT"/>
                <a:cs typeface="Arial MT"/>
              </a:rPr>
              <a:t>y su </a:t>
            </a:r>
            <a:r>
              <a:rPr sz="1800" spc="-5" dirty="0">
                <a:latin typeface="Arial MT"/>
                <a:cs typeface="Arial MT"/>
              </a:rPr>
              <a:t>archivo de </a:t>
            </a:r>
            <a:r>
              <a:rPr sz="1800" b="1" spc="-5" dirty="0">
                <a:solidFill>
                  <a:srgbClr val="E7E6E6"/>
                </a:solidFill>
                <a:latin typeface="Arial"/>
                <a:cs typeface="Arial"/>
              </a:rPr>
              <a:t>salida </a:t>
            </a:r>
            <a:r>
              <a:rPr sz="1800" spc="-5" dirty="0">
                <a:latin typeface="Arial MT"/>
                <a:cs typeface="Arial MT"/>
              </a:rPr>
              <a:t>está en un </a:t>
            </a:r>
            <a:r>
              <a:rPr sz="1800" b="1" spc="-5" dirty="0">
                <a:solidFill>
                  <a:srgbClr val="E7E6E6"/>
                </a:solidFill>
                <a:latin typeface="Arial"/>
                <a:cs typeface="Arial"/>
              </a:rPr>
              <a:t>formato fasta </a:t>
            </a:r>
            <a:r>
              <a:rPr sz="1800" b="1" dirty="0">
                <a:solidFill>
                  <a:srgbClr val="E7E6E6"/>
                </a:solidFill>
                <a:latin typeface="Arial"/>
                <a:cs typeface="Arial"/>
              </a:rPr>
              <a:t> </a:t>
            </a:r>
            <a:r>
              <a:rPr sz="1800" spc="-5" dirty="0">
                <a:latin typeface="Arial MT"/>
                <a:cs typeface="Arial MT"/>
              </a:rPr>
              <a:t>con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agrupaciones.</a:t>
            </a:r>
            <a:endParaRPr sz="1800">
              <a:latin typeface="Arial MT"/>
              <a:cs typeface="Arial MT"/>
            </a:endParaRPr>
          </a:p>
          <a:p>
            <a:pPr marL="425450">
              <a:lnSpc>
                <a:spcPct val="100000"/>
              </a:lnSpc>
              <a:spcBef>
                <a:spcPts val="770"/>
              </a:spcBef>
            </a:pPr>
            <a:r>
              <a:rPr sz="1800" b="1" spc="-30" dirty="0">
                <a:solidFill>
                  <a:srgbClr val="E7E6E6"/>
                </a:solidFill>
                <a:latin typeface="Calibri"/>
                <a:cs typeface="Calibri"/>
              </a:rPr>
              <a:t>MetaBAT</a:t>
            </a:r>
            <a:r>
              <a:rPr sz="1800" b="1" spc="-4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E7E6E6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Calibri"/>
              <a:cs typeface="Calibri"/>
            </a:endParaRPr>
          </a:p>
          <a:p>
            <a:pPr marL="711200" marR="258445" indent="-285750">
              <a:lnSpc>
                <a:spcPct val="102200"/>
              </a:lnSpc>
              <a:spcBef>
                <a:spcPts val="5"/>
              </a:spcBef>
              <a:buChar char="-"/>
              <a:tabLst>
                <a:tab pos="711200" algn="l"/>
                <a:tab pos="711835" algn="l"/>
              </a:tabLst>
            </a:pPr>
            <a:r>
              <a:rPr sz="1800" spc="-10" dirty="0">
                <a:latin typeface="Calibri"/>
                <a:cs typeface="Calibri"/>
              </a:rPr>
              <a:t>Software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realiza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proceso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binning</a:t>
            </a:r>
            <a:r>
              <a:rPr sz="1800" i="1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reconstruir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genomas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únicos</a:t>
            </a:r>
            <a:r>
              <a:rPr sz="1800" dirty="0">
                <a:latin typeface="Calibri"/>
                <a:cs typeface="Calibri"/>
              </a:rPr>
              <a:t> a </a:t>
            </a:r>
            <a:r>
              <a:rPr sz="1800" spc="-5" dirty="0">
                <a:latin typeface="Calibri"/>
                <a:cs typeface="Calibri"/>
              </a:rPr>
              <a:t>partir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metagenomas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Calibri"/>
              <a:buChar char="-"/>
            </a:pPr>
            <a:endParaRPr sz="1800">
              <a:latin typeface="Calibri"/>
              <a:cs typeface="Calibri"/>
            </a:endParaRPr>
          </a:p>
          <a:p>
            <a:pPr marL="711200" marR="467359" indent="-285750">
              <a:lnSpc>
                <a:spcPts val="2110"/>
              </a:lnSpc>
              <a:spcBef>
                <a:spcPts val="5"/>
              </a:spcBef>
              <a:buFont typeface="Calibri"/>
              <a:buChar char="-"/>
              <a:tabLst>
                <a:tab pos="763905" algn="l"/>
                <a:tab pos="764540" algn="l"/>
              </a:tabLst>
            </a:pPr>
            <a:r>
              <a:rPr dirty="0"/>
              <a:t>	</a:t>
            </a:r>
            <a:r>
              <a:rPr sz="1800" spc="-5" dirty="0">
                <a:latin typeface="Calibri"/>
                <a:cs typeface="Calibri"/>
              </a:rPr>
              <a:t>Muy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eficaz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(computacionalmente),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especialmente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cuando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tienen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ensamblajes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largos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 muchas </a:t>
            </a:r>
            <a:r>
              <a:rPr sz="1800" spc="-10" dirty="0">
                <a:latin typeface="Calibri"/>
                <a:cs typeface="Calibri"/>
              </a:rPr>
              <a:t>muestras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Calibri"/>
              <a:buChar char="-"/>
            </a:pPr>
            <a:endParaRPr sz="1750">
              <a:latin typeface="Calibri"/>
              <a:cs typeface="Calibri"/>
            </a:endParaRPr>
          </a:p>
          <a:p>
            <a:pPr marL="711200" marR="568325" indent="-285750" algn="just">
              <a:lnSpc>
                <a:spcPct val="99400"/>
              </a:lnSpc>
              <a:buChar char="-"/>
              <a:tabLst>
                <a:tab pos="711835" algn="l"/>
              </a:tabLst>
            </a:pPr>
            <a:r>
              <a:rPr sz="1800" spc="-10" dirty="0">
                <a:latin typeface="Calibri"/>
                <a:cs typeface="Calibri"/>
              </a:rPr>
              <a:t>Mejoras </a:t>
            </a:r>
            <a:r>
              <a:rPr sz="1800" spc="-5" dirty="0">
                <a:latin typeface="Calibri"/>
                <a:cs typeface="Calibri"/>
              </a:rPr>
              <a:t>con </a:t>
            </a:r>
            <a:r>
              <a:rPr sz="1800" spc="-10" dirty="0">
                <a:latin typeface="Calibri"/>
                <a:cs typeface="Calibri"/>
              </a:rPr>
              <a:t>respecto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su </a:t>
            </a:r>
            <a:r>
              <a:rPr sz="1800" spc="-10" dirty="0">
                <a:latin typeface="Calibri"/>
                <a:cs typeface="Calibri"/>
              </a:rPr>
              <a:t>primera versión: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5" dirty="0">
                <a:latin typeface="Calibri"/>
                <a:cs typeface="Calibri"/>
              </a:rPr>
              <a:t>usuario </a:t>
            </a:r>
            <a:r>
              <a:rPr sz="1800" spc="-15" dirty="0">
                <a:latin typeface="Calibri"/>
                <a:cs typeface="Calibri"/>
              </a:rPr>
              <a:t>ya </a:t>
            </a:r>
            <a:r>
              <a:rPr sz="1800" dirty="0">
                <a:latin typeface="Calibri"/>
                <a:cs typeface="Calibri"/>
              </a:rPr>
              <a:t>no ha de </a:t>
            </a:r>
            <a:r>
              <a:rPr sz="1800" spc="-10" dirty="0">
                <a:latin typeface="Calibri"/>
                <a:cs typeface="Calibri"/>
              </a:rPr>
              <a:t>introducir </a:t>
            </a:r>
            <a:r>
              <a:rPr sz="1800" dirty="0">
                <a:latin typeface="Calibri"/>
                <a:cs typeface="Calibri"/>
              </a:rPr>
              <a:t>dos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parámetros </a:t>
            </a:r>
            <a:r>
              <a:rPr sz="1800" spc="-5" dirty="0">
                <a:latin typeface="Calibri"/>
                <a:cs typeface="Calibri"/>
              </a:rPr>
              <a:t>con la sensibilidad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especificidad (si </a:t>
            </a:r>
            <a:r>
              <a:rPr sz="1800" spc="-10" dirty="0">
                <a:latin typeface="Calibri"/>
                <a:cs typeface="Calibri"/>
              </a:rPr>
              <a:t>estos </a:t>
            </a:r>
            <a:r>
              <a:rPr sz="1800" dirty="0">
                <a:latin typeface="Calibri"/>
                <a:cs typeface="Calibri"/>
              </a:rPr>
              <a:t>no </a:t>
            </a:r>
            <a:r>
              <a:rPr sz="1800" spc="-15" dirty="0">
                <a:latin typeface="Calibri"/>
                <a:cs typeface="Calibri"/>
              </a:rPr>
              <a:t>eran </a:t>
            </a:r>
            <a:r>
              <a:rPr sz="1800" spc="-5" dirty="0">
                <a:latin typeface="Calibri"/>
                <a:cs typeface="Calibri"/>
              </a:rPr>
              <a:t>los adecuados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proceso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binning</a:t>
            </a:r>
            <a:r>
              <a:rPr sz="1800" i="1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empeoraba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MetaBAT)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852423"/>
            <a:ext cx="371411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i="1" dirty="0">
                <a:solidFill>
                  <a:srgbClr val="ED7D31"/>
                </a:solidFill>
                <a:latin typeface="Calibri"/>
                <a:cs typeface="Calibri"/>
              </a:rPr>
              <a:t>Binning</a:t>
            </a:r>
            <a:r>
              <a:rPr sz="3100" b="0" i="1" spc="-4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metagenómico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525" y="1514348"/>
            <a:ext cx="8729980" cy="127970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just">
              <a:lnSpc>
                <a:spcPct val="113300"/>
              </a:lnSpc>
              <a:spcBef>
                <a:spcPts val="50"/>
              </a:spcBef>
            </a:pPr>
            <a:r>
              <a:rPr lang="es-ES" sz="1800" spc="-5" dirty="0" err="1">
                <a:latin typeface="Arial MT"/>
                <a:cs typeface="Arial MT"/>
              </a:rPr>
              <a:t>Metabat</a:t>
            </a:r>
            <a:endParaRPr lang="es-ES" sz="1800" spc="-5" dirty="0">
              <a:latin typeface="Arial MT"/>
              <a:cs typeface="Arial MT"/>
            </a:endParaRPr>
          </a:p>
          <a:p>
            <a:pPr marL="12700" marR="5080" algn="just">
              <a:lnSpc>
                <a:spcPct val="113300"/>
              </a:lnSpc>
              <a:spcBef>
                <a:spcPts val="50"/>
              </a:spcBef>
            </a:pPr>
            <a:endParaRPr lang="es-ES" spc="-5" dirty="0">
              <a:latin typeface="Arial MT"/>
              <a:cs typeface="Calibri"/>
            </a:endParaRPr>
          </a:p>
          <a:p>
            <a:pPr marL="12700" marR="5080" algn="just">
              <a:lnSpc>
                <a:spcPct val="113300"/>
              </a:lnSpc>
              <a:spcBef>
                <a:spcPts val="50"/>
              </a:spcBef>
            </a:pPr>
            <a:endParaRPr lang="es-ES" sz="1800" spc="-5" dirty="0">
              <a:latin typeface="Arial MT"/>
              <a:cs typeface="Calibri"/>
            </a:endParaRPr>
          </a:p>
          <a:p>
            <a:pPr marL="12700" marR="5080" algn="just">
              <a:lnSpc>
                <a:spcPct val="113300"/>
              </a:lnSpc>
              <a:spcBef>
                <a:spcPts val="50"/>
              </a:spcBef>
            </a:pPr>
            <a:r>
              <a:rPr lang="es-ES" spc="-5" dirty="0" err="1">
                <a:latin typeface="Arial MT"/>
                <a:cs typeface="Calibri"/>
              </a:rPr>
              <a:t>Metabat</a:t>
            </a:r>
            <a:r>
              <a:rPr lang="es-ES" spc="-5" dirty="0">
                <a:latin typeface="Arial MT"/>
                <a:cs typeface="Calibri"/>
              </a:rPr>
              <a:t> –i </a:t>
            </a:r>
            <a:r>
              <a:rPr lang="es-ES" spc="-5" dirty="0" err="1">
                <a:latin typeface="Arial MT"/>
                <a:cs typeface="Calibri"/>
              </a:rPr>
              <a:t>contigs.fasta</a:t>
            </a:r>
            <a:r>
              <a:rPr lang="es-ES" spc="-5" dirty="0">
                <a:latin typeface="Arial MT"/>
                <a:cs typeface="Calibri"/>
              </a:rPr>
              <a:t> –o </a:t>
            </a:r>
            <a:r>
              <a:rPr lang="es-ES" spc="-5" dirty="0" err="1">
                <a:latin typeface="Arial MT"/>
                <a:cs typeface="Calibri"/>
              </a:rPr>
              <a:t>metabat_result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5495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852423"/>
            <a:ext cx="281241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Perfil</a:t>
            </a:r>
            <a:r>
              <a:rPr sz="3100" b="0" spc="-7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taxonómico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9916" y="1806955"/>
            <a:ext cx="6901180" cy="32258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98450" marR="5080" indent="-285750" algn="just">
              <a:lnSpc>
                <a:spcPct val="113300"/>
              </a:lnSpc>
              <a:spcBef>
                <a:spcPts val="5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Consiste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mapear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lecturas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contra</a:t>
            </a:r>
            <a:r>
              <a:rPr sz="1800" spc="38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genomas</a:t>
            </a:r>
            <a:r>
              <a:rPr sz="1800" spc="4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409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referencia </a:t>
            </a:r>
            <a:r>
              <a:rPr sz="1800" spc="-10" dirty="0">
                <a:latin typeface="Calibri"/>
                <a:cs typeface="Calibri"/>
              </a:rPr>
              <a:t> presentes </a:t>
            </a:r>
            <a:r>
              <a:rPr sz="1800" dirty="0">
                <a:latin typeface="Calibri"/>
                <a:cs typeface="Calibri"/>
              </a:rPr>
              <a:t>en </a:t>
            </a:r>
            <a:r>
              <a:rPr sz="1800" spc="-5" dirty="0">
                <a:latin typeface="Calibri"/>
                <a:cs typeface="Calibri"/>
              </a:rPr>
              <a:t>bases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datos </a:t>
            </a:r>
            <a:r>
              <a:rPr sz="1800" spc="-5" dirty="0">
                <a:latin typeface="Calibri"/>
                <a:cs typeface="Calibri"/>
              </a:rPr>
              <a:t>como NCBIo IMGs </a:t>
            </a:r>
            <a:r>
              <a:rPr sz="1800" spc="-15" dirty="0">
                <a:latin typeface="Calibri"/>
                <a:cs typeface="Calibri"/>
              </a:rPr>
              <a:t>(integrated </a:t>
            </a:r>
            <a:r>
              <a:rPr sz="1800" spc="-5" dirty="0">
                <a:latin typeface="Calibri"/>
                <a:cs typeface="Calibri"/>
              </a:rPr>
              <a:t>microbial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genomes)</a:t>
            </a:r>
            <a:endParaRPr sz="18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345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6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Cuando no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desea realizar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ensamblaje</a:t>
            </a:r>
            <a:endParaRPr sz="1800" dirty="0">
              <a:latin typeface="Arial MT"/>
              <a:cs typeface="Arial MT"/>
            </a:endParaRPr>
          </a:p>
          <a:p>
            <a:pPr marL="298450" indent="-285750" algn="just">
              <a:lnSpc>
                <a:spcPct val="100000"/>
              </a:lnSpc>
              <a:spcBef>
                <a:spcPts val="1320"/>
              </a:spcBef>
              <a:buChar char="-"/>
              <a:tabLst>
                <a:tab pos="298450" algn="l"/>
              </a:tabLst>
            </a:pPr>
            <a:r>
              <a:rPr sz="1800" spc="-10" dirty="0">
                <a:latin typeface="Calibri"/>
                <a:cs typeface="Calibri"/>
              </a:rPr>
              <a:t>Herramientas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software: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BLAST,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BWA,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Bowtie2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SOAP2.</a:t>
            </a:r>
            <a:endParaRPr sz="1800" dirty="0">
              <a:latin typeface="Calibri"/>
              <a:cs typeface="Calibri"/>
            </a:endParaRPr>
          </a:p>
          <a:p>
            <a:pPr marL="298450" marR="5080" indent="-285750" algn="just">
              <a:lnSpc>
                <a:spcPct val="114399"/>
              </a:lnSpc>
              <a:spcBef>
                <a:spcPts val="1035"/>
              </a:spcBef>
              <a:buChar char="-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Las </a:t>
            </a:r>
            <a:r>
              <a:rPr sz="1800" spc="-10" dirty="0">
                <a:latin typeface="Calibri"/>
                <a:cs typeface="Calibri"/>
              </a:rPr>
              <a:t>lecturas </a:t>
            </a:r>
            <a:r>
              <a:rPr sz="1800" spc="-5" dirty="0">
                <a:latin typeface="Calibri"/>
                <a:cs typeface="Calibri"/>
              </a:rPr>
              <a:t>mapeadas </a:t>
            </a:r>
            <a:r>
              <a:rPr sz="1800" spc="-15" dirty="0">
                <a:latin typeface="Calibri"/>
                <a:cs typeface="Calibri"/>
              </a:rPr>
              <a:t>contra </a:t>
            </a:r>
            <a:r>
              <a:rPr sz="1800" spc="-5" dirty="0">
                <a:latin typeface="Calibri"/>
                <a:cs typeface="Calibri"/>
              </a:rPr>
              <a:t>cada genoma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5" dirty="0">
                <a:latin typeface="Calibri"/>
                <a:cs typeface="Calibri"/>
              </a:rPr>
              <a:t>referencia </a:t>
            </a:r>
            <a:r>
              <a:rPr sz="1800" spc="-5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cuentan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normalizan,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normalmente</a:t>
            </a:r>
            <a:r>
              <a:rPr sz="1800" spc="-5" dirty="0">
                <a:latin typeface="Calibri"/>
                <a:cs typeface="Calibri"/>
              </a:rPr>
              <a:t> teniendo</a:t>
            </a:r>
            <a:r>
              <a:rPr sz="1800" dirty="0">
                <a:latin typeface="Calibri"/>
                <a:cs typeface="Calibri"/>
              </a:rPr>
              <a:t> 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cuenta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número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total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lecturas </a:t>
            </a:r>
            <a:r>
              <a:rPr sz="1800" spc="-5" dirty="0">
                <a:latin typeface="Calibri"/>
                <a:cs typeface="Calibri"/>
              </a:rPr>
              <a:t>mapeadas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la longitud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cada genoma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5" dirty="0">
                <a:latin typeface="Calibri"/>
                <a:cs typeface="Calibri"/>
              </a:rPr>
              <a:t>referencia, para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estimar 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abundancia </a:t>
            </a:r>
            <a:r>
              <a:rPr sz="1800" spc="-15" dirty="0">
                <a:latin typeface="Calibri"/>
                <a:cs typeface="Calibri"/>
              </a:rPr>
              <a:t>relativa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901" y="1790679"/>
            <a:ext cx="3503877" cy="346048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68255-FE5A-5647-B552-B147EE1B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60" y="1573784"/>
            <a:ext cx="10205085" cy="553998"/>
          </a:xfrm>
        </p:spPr>
        <p:txBody>
          <a:bodyPr/>
          <a:lstStyle/>
          <a:p>
            <a:r>
              <a:rPr lang="es-ES" sz="3600" spc="-5" dirty="0" err="1">
                <a:solidFill>
                  <a:schemeClr val="accent6">
                    <a:lumMod val="75000"/>
                  </a:schemeClr>
                </a:solidFill>
              </a:rPr>
              <a:t>IMGs</a:t>
            </a:r>
            <a:r>
              <a:rPr lang="es-ES" sz="3600" spc="-5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3600" spc="-15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s-ES" sz="3600" spc="-15" dirty="0" err="1">
                <a:solidFill>
                  <a:schemeClr val="accent6">
                    <a:lumMod val="75000"/>
                  </a:schemeClr>
                </a:solidFill>
              </a:rPr>
              <a:t>integrated</a:t>
            </a:r>
            <a:r>
              <a:rPr lang="es-ES" sz="3600" spc="-15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3600" spc="-5" dirty="0" err="1">
                <a:solidFill>
                  <a:schemeClr val="accent6">
                    <a:lumMod val="75000"/>
                  </a:schemeClr>
                </a:solidFill>
              </a:rPr>
              <a:t>microbial</a:t>
            </a:r>
            <a:r>
              <a:rPr lang="es-ES" sz="3600" spc="-5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3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3600" spc="-5" dirty="0" err="1">
                <a:solidFill>
                  <a:schemeClr val="accent6">
                    <a:lumMod val="75000"/>
                  </a:schemeClr>
                </a:solidFill>
              </a:rPr>
              <a:t>genomes</a:t>
            </a:r>
            <a:r>
              <a:rPr lang="es-ES" sz="3600" spc="-5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es-E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8B0E1F-CF1B-7A40-AA78-F91CFB448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5791200"/>
            <a:ext cx="7611745" cy="276999"/>
          </a:xfrm>
        </p:spPr>
        <p:txBody>
          <a:bodyPr/>
          <a:lstStyle/>
          <a:p>
            <a:r>
              <a:rPr lang="es-ES" dirty="0"/>
              <a:t>https://</a:t>
            </a:r>
            <a:r>
              <a:rPr lang="es-ES" dirty="0" err="1"/>
              <a:t>img.jgi.doe.gov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0033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852423"/>
            <a:ext cx="281241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Perfil</a:t>
            </a:r>
            <a:r>
              <a:rPr sz="3100" b="0" spc="-7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taxonómico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525" y="1389380"/>
            <a:ext cx="8730615" cy="400939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20"/>
              </a:spcBef>
            </a:pPr>
            <a:r>
              <a:rPr sz="1800" b="1" spc="-10" dirty="0">
                <a:solidFill>
                  <a:srgbClr val="E64F13"/>
                </a:solidFill>
                <a:latin typeface="Calibri"/>
                <a:cs typeface="Calibri"/>
              </a:rPr>
              <a:t>Consideraciones</a:t>
            </a:r>
            <a:r>
              <a:rPr sz="1800" b="1" spc="-5" dirty="0">
                <a:solidFill>
                  <a:srgbClr val="E64F13"/>
                </a:solidFill>
                <a:latin typeface="Calibri"/>
                <a:cs typeface="Calibri"/>
              </a:rPr>
              <a:t> al </a:t>
            </a:r>
            <a:r>
              <a:rPr sz="1800" b="1" spc="-15" dirty="0">
                <a:solidFill>
                  <a:srgbClr val="E64F13"/>
                </a:solidFill>
                <a:latin typeface="Calibri"/>
                <a:cs typeface="Calibri"/>
              </a:rPr>
              <a:t>realizar</a:t>
            </a:r>
            <a:r>
              <a:rPr sz="1800" b="1" spc="-5" dirty="0">
                <a:solidFill>
                  <a:srgbClr val="E64F13"/>
                </a:solidFill>
                <a:latin typeface="Calibri"/>
                <a:cs typeface="Calibri"/>
              </a:rPr>
              <a:t> el</a:t>
            </a:r>
            <a:r>
              <a:rPr sz="1800" b="1" dirty="0">
                <a:solidFill>
                  <a:srgbClr val="E64F13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E64F13"/>
                </a:solidFill>
                <a:latin typeface="Calibri"/>
                <a:cs typeface="Calibri"/>
              </a:rPr>
              <a:t>mapeo:</a:t>
            </a:r>
            <a:endParaRPr sz="1800">
              <a:latin typeface="Calibri"/>
              <a:cs typeface="Calibri"/>
            </a:endParaRPr>
          </a:p>
          <a:p>
            <a:pPr marL="298450" marR="5080" indent="-285750" algn="just">
              <a:lnSpc>
                <a:spcPct val="116700"/>
              </a:lnSpc>
              <a:spcBef>
                <a:spcPts val="865"/>
              </a:spcBef>
              <a:buChar char="-"/>
              <a:tabLst>
                <a:tab pos="298450" algn="l"/>
              </a:tabLst>
            </a:pPr>
            <a:r>
              <a:rPr sz="1800" spc="-10" dirty="0">
                <a:latin typeface="Calibri"/>
                <a:cs typeface="Calibri"/>
              </a:rPr>
              <a:t>Habrá </a:t>
            </a:r>
            <a:r>
              <a:rPr sz="1800" spc="-5" dirty="0">
                <a:latin typeface="Calibri"/>
                <a:cs typeface="Calibri"/>
              </a:rPr>
              <a:t>genomas </a:t>
            </a:r>
            <a:r>
              <a:rPr sz="1800" dirty="0">
                <a:latin typeface="Calibri"/>
                <a:cs typeface="Calibri"/>
              </a:rPr>
              <a:t>que no </a:t>
            </a:r>
            <a:r>
              <a:rPr sz="1800" spc="-15" dirty="0">
                <a:latin typeface="Calibri"/>
                <a:cs typeface="Calibri"/>
              </a:rPr>
              <a:t>hayan </a:t>
            </a:r>
            <a:r>
              <a:rPr sz="1800" spc="-5" dirty="0">
                <a:latin typeface="Calibri"/>
                <a:cs typeface="Calibri"/>
              </a:rPr>
              <a:t>sido depositados </a:t>
            </a:r>
            <a:r>
              <a:rPr sz="1800" dirty="0">
                <a:latin typeface="Calibri"/>
                <a:cs typeface="Calibri"/>
              </a:rPr>
              <a:t>en </a:t>
            </a:r>
            <a:r>
              <a:rPr sz="1800" spc="-5" dirty="0">
                <a:latin typeface="Calibri"/>
                <a:cs typeface="Calibri"/>
              </a:rPr>
              <a:t>las bases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datos, </a:t>
            </a:r>
            <a:r>
              <a:rPr sz="1800" dirty="0">
                <a:latin typeface="Calibri"/>
                <a:cs typeface="Calibri"/>
              </a:rPr>
              <a:t>por </a:t>
            </a:r>
            <a:r>
              <a:rPr sz="1800" spc="-5" dirty="0">
                <a:latin typeface="Calibri"/>
                <a:cs typeface="Calibri"/>
              </a:rPr>
              <a:t>lo </a:t>
            </a:r>
            <a:r>
              <a:rPr sz="1800" dirty="0">
                <a:latin typeface="Calibri"/>
                <a:cs typeface="Calibri"/>
              </a:rPr>
              <a:t>que nos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estamos </a:t>
            </a:r>
            <a:r>
              <a:rPr sz="1800" spc="-5" dirty="0">
                <a:latin typeface="Calibri"/>
                <a:cs typeface="Calibri"/>
              </a:rPr>
              <a:t>perdiendo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esta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información.</a:t>
            </a:r>
            <a:endParaRPr sz="1800">
              <a:latin typeface="Calibri"/>
              <a:cs typeface="Calibri"/>
            </a:endParaRPr>
          </a:p>
          <a:p>
            <a:pPr marL="298450" marR="5080" indent="-285750" algn="just">
              <a:lnSpc>
                <a:spcPct val="116100"/>
              </a:lnSpc>
              <a:spcBef>
                <a:spcPts val="975"/>
              </a:spcBef>
              <a:buChar char="-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Mapeos que no </a:t>
            </a:r>
            <a:r>
              <a:rPr sz="1800" spc="-5" dirty="0">
                <a:latin typeface="Calibri"/>
                <a:cs typeface="Calibri"/>
              </a:rPr>
              <a:t>se producen porque </a:t>
            </a:r>
            <a:r>
              <a:rPr sz="1800" spc="-10" dirty="0">
                <a:latin typeface="Calibri"/>
                <a:cs typeface="Calibri"/>
              </a:rPr>
              <a:t>distintas </a:t>
            </a:r>
            <a:r>
              <a:rPr sz="1800" dirty="0">
                <a:latin typeface="Calibri"/>
                <a:cs typeface="Calibri"/>
              </a:rPr>
              <a:t>cepas de un </a:t>
            </a:r>
            <a:r>
              <a:rPr sz="1800" spc="-10" dirty="0">
                <a:latin typeface="Calibri"/>
                <a:cs typeface="Calibri"/>
              </a:rPr>
              <a:t>organismo </a:t>
            </a:r>
            <a:r>
              <a:rPr sz="1800" spc="-5" dirty="0">
                <a:latin typeface="Calibri"/>
                <a:cs typeface="Calibri"/>
              </a:rPr>
              <a:t>son </a:t>
            </a:r>
            <a:r>
              <a:rPr sz="1800" dirty="0">
                <a:latin typeface="Calibri"/>
                <a:cs typeface="Calibri"/>
              </a:rPr>
              <a:t>muy </a:t>
            </a:r>
            <a:r>
              <a:rPr sz="1800" spc="-15" dirty="0">
                <a:latin typeface="Calibri"/>
                <a:cs typeface="Calibri"/>
              </a:rPr>
              <a:t>diferentes </a:t>
            </a:r>
            <a:r>
              <a:rPr sz="1800" spc="-10" dirty="0">
                <a:latin typeface="Calibri"/>
                <a:cs typeface="Calibri"/>
              </a:rPr>
              <a:t> entre</a:t>
            </a:r>
            <a:r>
              <a:rPr sz="1800" spc="-5" dirty="0">
                <a:latin typeface="Calibri"/>
                <a:cs typeface="Calibri"/>
              </a:rPr>
              <a:t> sí.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Esta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variación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genómica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entre</a:t>
            </a:r>
            <a:r>
              <a:rPr sz="1800" spc="-5" dirty="0">
                <a:latin typeface="Calibri"/>
                <a:cs typeface="Calibri"/>
              </a:rPr>
              <a:t> bacterias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impide</a:t>
            </a:r>
            <a:r>
              <a:rPr sz="1800" dirty="0">
                <a:latin typeface="Calibri"/>
                <a:cs typeface="Calibri"/>
              </a:rPr>
              <a:t> que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produzca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hit</a:t>
            </a:r>
            <a:r>
              <a:rPr sz="1800" i="1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coincidencia </a:t>
            </a:r>
            <a:r>
              <a:rPr sz="1800" dirty="0">
                <a:latin typeface="Calibri"/>
                <a:cs typeface="Calibri"/>
              </a:rPr>
              <a:t>al </a:t>
            </a:r>
            <a:r>
              <a:rPr sz="1800" spc="-10" dirty="0">
                <a:latin typeface="Calibri"/>
                <a:cs typeface="Calibri"/>
              </a:rPr>
              <a:t>realizar</a:t>
            </a:r>
            <a:r>
              <a:rPr sz="1800" dirty="0">
                <a:latin typeface="Calibri"/>
                <a:cs typeface="Calibri"/>
              </a:rPr>
              <a:t> un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mapeo.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15599"/>
              </a:lnSpc>
              <a:spcBef>
                <a:spcPts val="1005"/>
              </a:spcBef>
            </a:pPr>
            <a:r>
              <a:rPr sz="1800" b="1" spc="-5" dirty="0">
                <a:solidFill>
                  <a:srgbClr val="ED7D31"/>
                </a:solidFill>
                <a:latin typeface="Calibri"/>
                <a:cs typeface="Calibri"/>
              </a:rPr>
              <a:t>En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ED7D31"/>
                </a:solidFill>
                <a:latin typeface="Calibri"/>
                <a:cs typeface="Calibri"/>
              </a:rPr>
              <a:t>una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ED7D31"/>
                </a:solidFill>
                <a:latin typeface="Calibri"/>
                <a:cs typeface="Calibri"/>
              </a:rPr>
              <a:t>muestra</a:t>
            </a:r>
            <a:r>
              <a:rPr sz="1800" b="1" spc="-1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ED7D31"/>
                </a:solidFill>
                <a:latin typeface="Calibri"/>
                <a:cs typeface="Calibri"/>
              </a:rPr>
              <a:t>típica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ED7D31"/>
                </a:solidFill>
                <a:latin typeface="Calibri"/>
                <a:cs typeface="Calibri"/>
              </a:rPr>
              <a:t>de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ED7D31"/>
                </a:solidFill>
                <a:latin typeface="Calibri"/>
                <a:cs typeface="Calibri"/>
              </a:rPr>
              <a:t>microbioma</a:t>
            </a:r>
            <a:r>
              <a:rPr sz="1800" b="1" spc="-5" dirty="0">
                <a:solidFill>
                  <a:srgbClr val="ED7D31"/>
                </a:solidFill>
                <a:latin typeface="Calibri"/>
                <a:cs typeface="Calibri"/>
              </a:rPr>
              <a:t> humana,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ED7D31"/>
                </a:solidFill>
                <a:latin typeface="Calibri"/>
                <a:cs typeface="Calibri"/>
              </a:rPr>
              <a:t>alrededor</a:t>
            </a:r>
            <a:r>
              <a:rPr sz="1800" b="1" spc="-5" dirty="0">
                <a:solidFill>
                  <a:srgbClr val="ED7D31"/>
                </a:solidFill>
                <a:latin typeface="Calibri"/>
                <a:cs typeface="Calibri"/>
              </a:rPr>
              <a:t> del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30%–60%</a:t>
            </a:r>
            <a:r>
              <a:rPr sz="1800" b="1" spc="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ED7D31"/>
                </a:solidFill>
                <a:latin typeface="Calibri"/>
                <a:cs typeface="Calibri"/>
              </a:rPr>
              <a:t>de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ED7D31"/>
                </a:solidFill>
                <a:latin typeface="Calibri"/>
                <a:cs typeface="Calibri"/>
              </a:rPr>
              <a:t>lecturas</a:t>
            </a:r>
            <a:r>
              <a:rPr sz="1800" b="1" spc="-5" dirty="0">
                <a:solidFill>
                  <a:srgbClr val="ED7D31"/>
                </a:solidFill>
                <a:latin typeface="Calibri"/>
                <a:cs typeface="Calibri"/>
              </a:rPr>
              <a:t> no </a:t>
            </a:r>
            <a:r>
              <a:rPr sz="1800" b="1" spc="-39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ED7D31"/>
                </a:solidFill>
                <a:latin typeface="Calibri"/>
                <a:cs typeface="Calibri"/>
              </a:rPr>
              <a:t>mapean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ED7D31"/>
                </a:solidFill>
                <a:latin typeface="Calibri"/>
                <a:cs typeface="Calibri"/>
              </a:rPr>
              <a:t>debido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a </a:t>
            </a:r>
            <a:r>
              <a:rPr sz="1800" b="1" spc="-5" dirty="0">
                <a:solidFill>
                  <a:srgbClr val="ED7D31"/>
                </a:solidFill>
                <a:latin typeface="Calibri"/>
                <a:cs typeface="Calibri"/>
              </a:rPr>
              <a:t>los dos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ED7D31"/>
                </a:solidFill>
                <a:latin typeface="Calibri"/>
                <a:cs typeface="Calibri"/>
              </a:rPr>
              <a:t>problemas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ED7D31"/>
                </a:solidFill>
                <a:latin typeface="Calibri"/>
                <a:cs typeface="Calibri"/>
              </a:rPr>
              <a:t>anteriores</a:t>
            </a:r>
            <a:endParaRPr sz="1800">
              <a:latin typeface="Calibri"/>
              <a:cs typeface="Calibri"/>
            </a:endParaRPr>
          </a:p>
          <a:p>
            <a:pPr marL="469900" marR="8890">
              <a:lnSpc>
                <a:spcPct val="99400"/>
              </a:lnSpc>
              <a:spcBef>
                <a:spcPts val="1140"/>
              </a:spcBef>
            </a:pPr>
            <a:r>
              <a:rPr sz="1800" dirty="0">
                <a:latin typeface="Calibri"/>
                <a:cs typeface="Calibri"/>
              </a:rPr>
              <a:t>- Mapeo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misma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lectura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mapee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contra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organismos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distintos.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forma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asignar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organismo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esa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lectura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 </a:t>
            </a:r>
            <a:r>
              <a:rPr sz="1800" spc="-10" dirty="0">
                <a:latin typeface="Calibri"/>
                <a:cs typeface="Calibri"/>
              </a:rPr>
              <a:t>anotar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25" dirty="0">
                <a:latin typeface="Calibri"/>
                <a:cs typeface="Calibri"/>
              </a:rPr>
              <a:t>taxón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-10" dirty="0">
                <a:latin typeface="Calibri"/>
                <a:cs typeface="Calibri"/>
              </a:rPr>
              <a:t>ancestro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común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más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cercano,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ED7D31"/>
                </a:solidFill>
                <a:latin typeface="Calibri"/>
                <a:cs typeface="Calibri"/>
              </a:rPr>
              <a:t>lowest </a:t>
            </a:r>
            <a:r>
              <a:rPr sz="1800" b="1" i="1" spc="-5" dirty="0">
                <a:solidFill>
                  <a:srgbClr val="ED7D31"/>
                </a:solidFill>
                <a:latin typeface="Calibri"/>
                <a:cs typeface="Calibri"/>
              </a:rPr>
              <a:t> common</a:t>
            </a:r>
            <a:r>
              <a:rPr sz="1800" b="1" i="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ED7D31"/>
                </a:solidFill>
                <a:latin typeface="Calibri"/>
                <a:cs typeface="Calibri"/>
              </a:rPr>
              <a:t>ancestor</a:t>
            </a:r>
            <a:r>
              <a:rPr sz="1800" b="1" i="1" spc="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ED7D31"/>
                </a:solidFill>
                <a:latin typeface="Calibri"/>
                <a:cs typeface="Calibri"/>
              </a:rPr>
              <a:t>(LCA),</a:t>
            </a:r>
            <a:r>
              <a:rPr sz="1800" b="1" spc="2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ED7D31"/>
                </a:solidFill>
                <a:latin typeface="Calibri"/>
                <a:cs typeface="Calibri"/>
              </a:rPr>
              <a:t>para</a:t>
            </a:r>
            <a:r>
              <a:rPr sz="1800" b="1" spc="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ED7D31"/>
                </a:solidFill>
                <a:latin typeface="Calibri"/>
                <a:cs typeface="Calibri"/>
              </a:rPr>
              <a:t>estas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ED7D31"/>
                </a:solidFill>
                <a:latin typeface="Calibri"/>
                <a:cs typeface="Calibri"/>
              </a:rPr>
              <a:t>lecturas</a:t>
            </a:r>
            <a:r>
              <a:rPr sz="1800" b="1" spc="-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i="1" spc="-5" dirty="0">
                <a:solidFill>
                  <a:srgbClr val="ED7D31"/>
                </a:solidFill>
                <a:latin typeface="Calibri"/>
                <a:cs typeface="Calibri"/>
              </a:rPr>
              <a:t>multihit.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462279"/>
            <a:ext cx="517525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Perfil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 taxonómico:</a:t>
            </a:r>
            <a:r>
              <a:rPr sz="3100" b="0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Herramientas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9287" y="1230884"/>
            <a:ext cx="9811385" cy="4683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b="1" spc="-10" dirty="0">
                <a:solidFill>
                  <a:srgbClr val="ED7D31"/>
                </a:solidFill>
                <a:latin typeface="Calibri"/>
                <a:cs typeface="Calibri"/>
              </a:rPr>
              <a:t>MetaPhlAn2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5" dirty="0">
                <a:latin typeface="Calibri"/>
                <a:cs typeface="Calibri"/>
              </a:rPr>
              <a:t>Metagenomic</a:t>
            </a:r>
            <a:r>
              <a:rPr sz="1800" spc="-10" dirty="0">
                <a:latin typeface="Calibri"/>
                <a:cs typeface="Calibri"/>
              </a:rPr>
              <a:t> Phylogenetic </a:t>
            </a:r>
            <a:r>
              <a:rPr sz="1800" spc="-5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Calibri"/>
              <a:buChar char="-"/>
            </a:pPr>
            <a:endParaRPr sz="1800">
              <a:latin typeface="Calibri"/>
              <a:cs typeface="Calibri"/>
            </a:endParaRPr>
          </a:p>
          <a:p>
            <a:pPr marL="297815" marR="252729" indent="-285750">
              <a:lnSpc>
                <a:spcPct val="99400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5" dirty="0">
                <a:latin typeface="Calibri"/>
                <a:cs typeface="Calibri"/>
              </a:rPr>
              <a:t>Tiene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marcadores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únicos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específicos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 </a:t>
            </a:r>
            <a:r>
              <a:rPr sz="1800" b="1" spc="-10" dirty="0">
                <a:latin typeface="Calibri"/>
                <a:cs typeface="Calibri"/>
              </a:rPr>
              <a:t>nivel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 clado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sido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identificados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unos 17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000 </a:t>
            </a:r>
            <a:r>
              <a:rPr sz="1800" spc="-5" dirty="0">
                <a:latin typeface="Calibri"/>
                <a:cs typeface="Calibri"/>
              </a:rPr>
              <a:t>genomas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referencia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( 13500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bacterias</a:t>
            </a:r>
            <a:r>
              <a:rPr sz="1800" dirty="0">
                <a:latin typeface="Calibri"/>
                <a:cs typeface="Calibri"/>
              </a:rPr>
              <a:t> y </a:t>
            </a:r>
            <a:r>
              <a:rPr sz="1800" spc="-5" dirty="0">
                <a:latin typeface="Calibri"/>
                <a:cs typeface="Calibri"/>
              </a:rPr>
              <a:t>arqueas,</a:t>
            </a:r>
            <a:r>
              <a:rPr sz="1800" dirty="0">
                <a:latin typeface="Calibri"/>
                <a:cs typeface="Calibri"/>
              </a:rPr>
              <a:t> 3500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virus,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110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eucariotas)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Char char="-"/>
            </a:pPr>
            <a:endParaRPr sz="17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15" dirty="0">
                <a:latin typeface="Calibri"/>
                <a:cs typeface="Calibri"/>
              </a:rPr>
              <a:t>Permite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gran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velocidad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ya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analiza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25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000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lecturas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segundo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libri"/>
              <a:buChar char="-"/>
            </a:pPr>
            <a:endParaRPr sz="17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Char char="-"/>
              <a:tabLst>
                <a:tab pos="297815" algn="l"/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Las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asignaciones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taxonómicos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ambiguas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Calibri"/>
              <a:buChar char="-"/>
            </a:pPr>
            <a:endParaRPr sz="1700">
              <a:latin typeface="Calibri"/>
              <a:cs typeface="Calibri"/>
            </a:endParaRPr>
          </a:p>
          <a:p>
            <a:pPr marL="297815" marR="5080" indent="-285750">
              <a:lnSpc>
                <a:spcPct val="101099"/>
              </a:lnSpc>
              <a:buChar char="-"/>
              <a:tabLst>
                <a:tab pos="297815" algn="l"/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Las </a:t>
            </a:r>
            <a:r>
              <a:rPr sz="1800" spc="-5" dirty="0">
                <a:latin typeface="Calibri"/>
                <a:cs typeface="Calibri"/>
              </a:rPr>
              <a:t>abundancias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relativas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estimadas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manera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precisa,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términos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número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células</a:t>
            </a:r>
            <a:r>
              <a:rPr sz="1800" dirty="0">
                <a:latin typeface="Calibri"/>
                <a:cs typeface="Calibri"/>
              </a:rPr>
              <a:t> 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fracción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lecturas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libri"/>
              <a:buChar char="-"/>
            </a:pPr>
            <a:endParaRPr sz="17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Calibri"/>
              <a:buChar char="-"/>
              <a:tabLst>
                <a:tab pos="297815" algn="l"/>
                <a:tab pos="298450" algn="l"/>
              </a:tabLst>
            </a:pPr>
            <a:r>
              <a:rPr sz="1800" b="1" spc="-10" dirty="0">
                <a:latin typeface="Calibri"/>
                <a:cs typeface="Calibri"/>
              </a:rPr>
              <a:t>Resolución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nivel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</a:t>
            </a:r>
            <a:r>
              <a:rPr sz="1800" b="1" spc="-10" dirty="0">
                <a:latin typeface="Calibri"/>
                <a:cs typeface="Calibri"/>
              </a:rPr>
              <a:t> especie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Char char="-"/>
            </a:pPr>
            <a:endParaRPr sz="175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10" dirty="0">
                <a:latin typeface="Calibri"/>
                <a:cs typeface="Calibri"/>
              </a:rPr>
              <a:t>Precisión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valida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miles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metagenomas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reales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series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sintéticas.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462279"/>
            <a:ext cx="517525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Perfil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 taxonómico:</a:t>
            </a:r>
            <a:r>
              <a:rPr sz="3100" b="0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Herramientas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9287" y="1230884"/>
            <a:ext cx="9811385" cy="4683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b="1" spc="-10" dirty="0">
                <a:solidFill>
                  <a:srgbClr val="ED7D31"/>
                </a:solidFill>
                <a:latin typeface="Calibri"/>
                <a:cs typeface="Calibri"/>
              </a:rPr>
              <a:t>MetaPhlAn4: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ED7D31"/>
                </a:solidFill>
                <a:latin typeface="Calibri"/>
                <a:cs typeface="Calibri"/>
              </a:rPr>
              <a:t>ACTUALIZACIÓN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</a:pPr>
            <a:r>
              <a:rPr sz="1800" b="1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https://github.com/biobakery/MetaPhlAn/wiki/MetaPhlAn-4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libri"/>
              <a:cs typeface="Calibri"/>
            </a:endParaRPr>
          </a:p>
          <a:p>
            <a:pPr marL="297815" marR="287020" indent="-285750">
              <a:lnSpc>
                <a:spcPct val="99400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10" dirty="0">
                <a:latin typeface="Calibri"/>
                <a:cs typeface="Calibri"/>
              </a:rPr>
              <a:t>MetaPhlAn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relies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~5.1M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unique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clade-specific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marker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latest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marker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found</a:t>
            </a:r>
            <a:r>
              <a:rPr sz="1800" spc="10" dirty="0">
                <a:solidFill>
                  <a:srgbClr val="0563C1"/>
                </a:solidFill>
                <a:latin typeface="Calibri"/>
                <a:cs typeface="Calibri"/>
              </a:rPr>
              <a:t> </a:t>
            </a:r>
            <a:r>
              <a:rPr sz="1800" u="sng" spc="-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here</a:t>
            </a:r>
            <a:r>
              <a:rPr sz="1800" spc="-5" dirty="0">
                <a:latin typeface="Calibri"/>
                <a:cs typeface="Calibri"/>
              </a:rPr>
              <a:t>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identified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~1M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microbial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genomes</a:t>
            </a:r>
            <a:r>
              <a:rPr sz="1800" dirty="0">
                <a:latin typeface="Calibri"/>
                <a:cs typeface="Calibri"/>
              </a:rPr>
              <a:t> (~236,600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references</a:t>
            </a:r>
            <a:r>
              <a:rPr sz="1800" dirty="0">
                <a:latin typeface="Calibri"/>
                <a:cs typeface="Calibri"/>
              </a:rPr>
              <a:t> 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771,500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metagenomic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assembled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genomes)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spanning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26,970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species-level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genome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bins</a:t>
            </a:r>
            <a:endParaRPr sz="1800">
              <a:latin typeface="Calibri"/>
              <a:cs typeface="Calibri"/>
            </a:endParaRPr>
          </a:p>
          <a:p>
            <a:pPr marL="297815" marR="1057275">
              <a:lnSpc>
                <a:spcPts val="2180"/>
              </a:lnSpc>
              <a:spcBef>
                <a:spcPts val="10"/>
              </a:spcBef>
            </a:pPr>
            <a:r>
              <a:rPr sz="1800" spc="-5" dirty="0">
                <a:latin typeface="Calibri"/>
                <a:cs typeface="Calibri"/>
              </a:rPr>
              <a:t>(SGBs,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http://segatalab.cibio.unitn.it/data/Pasolli_et_al.html</a:t>
            </a:r>
            <a:r>
              <a:rPr sz="1800" spc="-10" dirty="0">
                <a:latin typeface="Calibri"/>
                <a:cs typeface="Calibri"/>
                <a:hlinkClick r:id="rId2"/>
              </a:rPr>
              <a:t>),</a:t>
            </a:r>
            <a:r>
              <a:rPr sz="1800" spc="30" dirty="0">
                <a:latin typeface="Calibri"/>
                <a:cs typeface="Calibri"/>
                <a:hlinkClick r:id="rId2"/>
              </a:rPr>
              <a:t> </a:t>
            </a:r>
            <a:r>
              <a:rPr sz="1800" dirty="0">
                <a:latin typeface="Calibri"/>
                <a:cs typeface="Calibri"/>
              </a:rPr>
              <a:t>4,992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taxonomically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unidentified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species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level</a:t>
            </a:r>
            <a:endParaRPr sz="1800">
              <a:latin typeface="Calibri"/>
              <a:cs typeface="Calibri"/>
            </a:endParaRPr>
          </a:p>
          <a:p>
            <a:pPr marL="297815" marR="252729" indent="-285750">
              <a:lnSpc>
                <a:spcPts val="2110"/>
              </a:lnSpc>
              <a:spcBef>
                <a:spcPts val="85"/>
              </a:spcBef>
              <a:buChar char="-"/>
              <a:tabLst>
                <a:tab pos="297815" algn="l"/>
                <a:tab pos="298450" algn="l"/>
              </a:tabLst>
            </a:pPr>
            <a:r>
              <a:rPr sz="1800" strike="sngStrike" dirty="0">
                <a:latin typeface="Calibri"/>
                <a:cs typeface="Calibri"/>
              </a:rPr>
              <a:t>	</a:t>
            </a:r>
            <a:r>
              <a:rPr sz="1800" strike="sngStrike" spc="-5" dirty="0">
                <a:latin typeface="Calibri"/>
                <a:cs typeface="Calibri"/>
              </a:rPr>
              <a:t>Tiene</a:t>
            </a:r>
            <a:r>
              <a:rPr sz="1800" strike="sngStrike" spc="10" dirty="0">
                <a:latin typeface="Calibri"/>
                <a:cs typeface="Calibri"/>
              </a:rPr>
              <a:t> </a:t>
            </a:r>
            <a:r>
              <a:rPr sz="1800" strike="sngStrike" dirty="0">
                <a:latin typeface="Calibri"/>
                <a:cs typeface="Calibri"/>
              </a:rPr>
              <a:t>una</a:t>
            </a:r>
            <a:r>
              <a:rPr sz="1800" strike="sngStrike" spc="10" dirty="0">
                <a:latin typeface="Calibri"/>
                <a:cs typeface="Calibri"/>
              </a:rPr>
              <a:t> </a:t>
            </a:r>
            <a:r>
              <a:rPr sz="1800" strike="sngStrike" spc="-5" dirty="0">
                <a:latin typeface="Calibri"/>
                <a:cs typeface="Calibri"/>
              </a:rPr>
              <a:t>base</a:t>
            </a:r>
            <a:r>
              <a:rPr sz="1800" strike="sngStrike" spc="10" dirty="0">
                <a:latin typeface="Calibri"/>
                <a:cs typeface="Calibri"/>
              </a:rPr>
              <a:t> </a:t>
            </a:r>
            <a:r>
              <a:rPr sz="1800" strike="sngStrike" dirty="0">
                <a:latin typeface="Calibri"/>
                <a:cs typeface="Calibri"/>
              </a:rPr>
              <a:t>de</a:t>
            </a:r>
            <a:r>
              <a:rPr sz="1800" strike="sngStrike" spc="15" dirty="0">
                <a:latin typeface="Calibri"/>
                <a:cs typeface="Calibri"/>
              </a:rPr>
              <a:t> </a:t>
            </a:r>
            <a:r>
              <a:rPr sz="1800" strike="sngStrike" spc="-10" dirty="0">
                <a:latin typeface="Calibri"/>
                <a:cs typeface="Calibri"/>
              </a:rPr>
              <a:t>datos</a:t>
            </a:r>
            <a:r>
              <a:rPr sz="1800" strike="sngStrike" dirty="0">
                <a:latin typeface="Calibri"/>
                <a:cs typeface="Calibri"/>
              </a:rPr>
              <a:t> </a:t>
            </a:r>
            <a:r>
              <a:rPr sz="1800" strike="sngStrike" spc="-5" dirty="0">
                <a:latin typeface="Calibri"/>
                <a:cs typeface="Calibri"/>
              </a:rPr>
              <a:t>con</a:t>
            </a:r>
            <a:r>
              <a:rPr sz="1800" strike="sngStrike" spc="15" dirty="0">
                <a:latin typeface="Calibri"/>
                <a:cs typeface="Calibri"/>
              </a:rPr>
              <a:t> </a:t>
            </a:r>
            <a:r>
              <a:rPr sz="1800" strike="sngStrike" spc="-5" dirty="0">
                <a:latin typeface="Calibri"/>
                <a:cs typeface="Calibri"/>
              </a:rPr>
              <a:t>genes</a:t>
            </a:r>
            <a:r>
              <a:rPr sz="1800" strike="sngStrike" dirty="0">
                <a:latin typeface="Calibri"/>
                <a:cs typeface="Calibri"/>
              </a:rPr>
              <a:t> </a:t>
            </a:r>
            <a:r>
              <a:rPr sz="1800" strike="sngStrike" spc="-10" dirty="0">
                <a:latin typeface="Calibri"/>
                <a:cs typeface="Calibri"/>
              </a:rPr>
              <a:t>marcadores</a:t>
            </a:r>
            <a:r>
              <a:rPr sz="1800" strike="sngStrike" spc="5" dirty="0">
                <a:latin typeface="Calibri"/>
                <a:cs typeface="Calibri"/>
              </a:rPr>
              <a:t> </a:t>
            </a:r>
            <a:r>
              <a:rPr sz="1800" strike="sngStrike" spc="-5" dirty="0">
                <a:latin typeface="Calibri"/>
                <a:cs typeface="Calibri"/>
              </a:rPr>
              <a:t>únicos</a:t>
            </a:r>
            <a:r>
              <a:rPr sz="1800" strike="sngStrike" spc="5" dirty="0">
                <a:latin typeface="Calibri"/>
                <a:cs typeface="Calibri"/>
              </a:rPr>
              <a:t> </a:t>
            </a:r>
            <a:r>
              <a:rPr sz="1800" strike="sngStrike" dirty="0">
                <a:latin typeface="Calibri"/>
                <a:cs typeface="Calibri"/>
              </a:rPr>
              <a:t>y</a:t>
            </a:r>
            <a:r>
              <a:rPr sz="1800" strike="sngStrike" spc="-10" dirty="0">
                <a:latin typeface="Calibri"/>
                <a:cs typeface="Calibri"/>
              </a:rPr>
              <a:t> </a:t>
            </a:r>
            <a:r>
              <a:rPr sz="1800" b="1" strike="sngStrike" spc="-10" dirty="0">
                <a:latin typeface="Calibri"/>
                <a:cs typeface="Calibri"/>
              </a:rPr>
              <a:t>específicos</a:t>
            </a:r>
            <a:r>
              <a:rPr sz="1800" b="1" strike="sngStrike" spc="5" dirty="0">
                <a:latin typeface="Calibri"/>
                <a:cs typeface="Calibri"/>
              </a:rPr>
              <a:t> </a:t>
            </a:r>
            <a:r>
              <a:rPr sz="1800" b="1" strike="sngStrike" dirty="0">
                <a:latin typeface="Calibri"/>
                <a:cs typeface="Calibri"/>
              </a:rPr>
              <a:t>a </a:t>
            </a:r>
            <a:r>
              <a:rPr sz="1800" b="1" strike="sngStrike" spc="-10" dirty="0">
                <a:latin typeface="Calibri"/>
                <a:cs typeface="Calibri"/>
              </a:rPr>
              <a:t>nivel</a:t>
            </a:r>
            <a:r>
              <a:rPr sz="1800" b="1" strike="sngStrike" dirty="0">
                <a:latin typeface="Calibri"/>
                <a:cs typeface="Calibri"/>
              </a:rPr>
              <a:t> </a:t>
            </a:r>
            <a:r>
              <a:rPr sz="1800" b="1" strike="sngStrike" spc="-5" dirty="0">
                <a:latin typeface="Calibri"/>
                <a:cs typeface="Calibri"/>
              </a:rPr>
              <a:t>de clado</a:t>
            </a:r>
            <a:r>
              <a:rPr sz="1800" b="1" strike="sngStrike" spc="5" dirty="0">
                <a:latin typeface="Calibri"/>
                <a:cs typeface="Calibri"/>
              </a:rPr>
              <a:t> </a:t>
            </a:r>
            <a:r>
              <a:rPr sz="1800" strike="sngStrike" dirty="0">
                <a:latin typeface="Calibri"/>
                <a:cs typeface="Calibri"/>
              </a:rPr>
              <a:t>que</a:t>
            </a:r>
            <a:r>
              <a:rPr sz="1800" strike="sngStrike" spc="5" dirty="0">
                <a:latin typeface="Calibri"/>
                <a:cs typeface="Calibri"/>
              </a:rPr>
              <a:t> </a:t>
            </a:r>
            <a:r>
              <a:rPr sz="1800" strike="sngStrike" spc="-5" dirty="0">
                <a:latin typeface="Calibri"/>
                <a:cs typeface="Calibri"/>
              </a:rPr>
              <a:t>han</a:t>
            </a:r>
            <a:r>
              <a:rPr sz="1800" strike="sngStrike" spc="10" dirty="0">
                <a:latin typeface="Calibri"/>
                <a:cs typeface="Calibri"/>
              </a:rPr>
              <a:t> </a:t>
            </a:r>
            <a:r>
              <a:rPr sz="1800" strike="sngStrike" spc="-5" dirty="0">
                <a:latin typeface="Calibri"/>
                <a:cs typeface="Calibri"/>
              </a:rPr>
              <a:t>sido </a:t>
            </a:r>
            <a:r>
              <a:rPr sz="1800" strike="noStrike" dirty="0">
                <a:latin typeface="Calibri"/>
                <a:cs typeface="Calibri"/>
              </a:rPr>
              <a:t> </a:t>
            </a:r>
            <a:r>
              <a:rPr sz="1800" strike="sngStrike" spc="-5" dirty="0">
                <a:latin typeface="Calibri"/>
                <a:cs typeface="Calibri"/>
              </a:rPr>
              <a:t>identificados </a:t>
            </a:r>
            <a:r>
              <a:rPr sz="1800" strike="sngStrike" dirty="0">
                <a:latin typeface="Calibri"/>
                <a:cs typeface="Calibri"/>
              </a:rPr>
              <a:t>en</a:t>
            </a:r>
            <a:r>
              <a:rPr sz="1800" strike="sngStrike" spc="10" dirty="0">
                <a:latin typeface="Calibri"/>
                <a:cs typeface="Calibri"/>
              </a:rPr>
              <a:t> </a:t>
            </a:r>
            <a:r>
              <a:rPr sz="1800" strike="sngStrike" dirty="0">
                <a:latin typeface="Calibri"/>
                <a:cs typeface="Calibri"/>
              </a:rPr>
              <a:t>unos 17</a:t>
            </a:r>
            <a:r>
              <a:rPr sz="1800" strike="sngStrike" spc="5" dirty="0">
                <a:latin typeface="Calibri"/>
                <a:cs typeface="Calibri"/>
              </a:rPr>
              <a:t> </a:t>
            </a:r>
            <a:r>
              <a:rPr sz="1800" strike="sngStrike" dirty="0">
                <a:latin typeface="Calibri"/>
                <a:cs typeface="Calibri"/>
              </a:rPr>
              <a:t>000 </a:t>
            </a:r>
            <a:r>
              <a:rPr sz="1800" strike="sngStrike" spc="-5" dirty="0">
                <a:latin typeface="Calibri"/>
                <a:cs typeface="Calibri"/>
              </a:rPr>
              <a:t>genomas</a:t>
            </a:r>
            <a:r>
              <a:rPr sz="1800" strike="sngStrike" dirty="0">
                <a:latin typeface="Calibri"/>
                <a:cs typeface="Calibri"/>
              </a:rPr>
              <a:t> de</a:t>
            </a:r>
            <a:r>
              <a:rPr sz="1800" strike="sngStrike" spc="10" dirty="0">
                <a:latin typeface="Calibri"/>
                <a:cs typeface="Calibri"/>
              </a:rPr>
              <a:t> </a:t>
            </a:r>
            <a:r>
              <a:rPr sz="1800" strike="sngStrike" spc="-15" dirty="0">
                <a:latin typeface="Calibri"/>
                <a:cs typeface="Calibri"/>
              </a:rPr>
              <a:t>referencia</a:t>
            </a:r>
            <a:r>
              <a:rPr sz="1800" strike="sngStrike" spc="5" dirty="0">
                <a:latin typeface="Calibri"/>
                <a:cs typeface="Calibri"/>
              </a:rPr>
              <a:t> </a:t>
            </a:r>
            <a:r>
              <a:rPr sz="1800" strike="sngStrike" dirty="0">
                <a:latin typeface="Calibri"/>
                <a:cs typeface="Calibri"/>
              </a:rPr>
              <a:t>( 13500</a:t>
            </a:r>
            <a:r>
              <a:rPr sz="1800" strike="sngStrike" spc="5" dirty="0">
                <a:latin typeface="Calibri"/>
                <a:cs typeface="Calibri"/>
              </a:rPr>
              <a:t> </a:t>
            </a:r>
            <a:r>
              <a:rPr sz="1800" strike="sngStrike" spc="-5" dirty="0">
                <a:latin typeface="Calibri"/>
                <a:cs typeface="Calibri"/>
              </a:rPr>
              <a:t>bacterias</a:t>
            </a:r>
            <a:r>
              <a:rPr sz="1800" strike="sngStrike" dirty="0">
                <a:latin typeface="Calibri"/>
                <a:cs typeface="Calibri"/>
              </a:rPr>
              <a:t> y </a:t>
            </a:r>
            <a:r>
              <a:rPr sz="1800" strike="sngStrike" spc="-5" dirty="0">
                <a:latin typeface="Calibri"/>
                <a:cs typeface="Calibri"/>
              </a:rPr>
              <a:t>arqueas,</a:t>
            </a:r>
            <a:r>
              <a:rPr sz="1800" strike="sngStrike" dirty="0">
                <a:latin typeface="Calibri"/>
                <a:cs typeface="Calibri"/>
              </a:rPr>
              <a:t> 3500</a:t>
            </a:r>
            <a:r>
              <a:rPr sz="1800" strike="sngStrike" spc="5" dirty="0">
                <a:latin typeface="Calibri"/>
                <a:cs typeface="Calibri"/>
              </a:rPr>
              <a:t> </a:t>
            </a:r>
            <a:r>
              <a:rPr sz="1800" strike="sngStrike" spc="-5" dirty="0">
                <a:latin typeface="Calibri"/>
                <a:cs typeface="Calibri"/>
              </a:rPr>
              <a:t>virus,</a:t>
            </a:r>
            <a:r>
              <a:rPr sz="1800" strike="sngStrike" spc="5" dirty="0">
                <a:latin typeface="Calibri"/>
                <a:cs typeface="Calibri"/>
              </a:rPr>
              <a:t> </a:t>
            </a:r>
            <a:r>
              <a:rPr sz="1800" strike="sngStrike" dirty="0">
                <a:latin typeface="Calibri"/>
                <a:cs typeface="Calibri"/>
              </a:rPr>
              <a:t>110</a:t>
            </a:r>
            <a:r>
              <a:rPr sz="1800" strike="sngStrike" spc="5" dirty="0">
                <a:latin typeface="Calibri"/>
                <a:cs typeface="Calibri"/>
              </a:rPr>
              <a:t> </a:t>
            </a:r>
            <a:r>
              <a:rPr sz="1800" strike="sngStrike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297815">
              <a:lnSpc>
                <a:spcPts val="2100"/>
              </a:lnSpc>
            </a:pPr>
            <a:r>
              <a:rPr sz="1800" strike="sngStrike" spc="-5" dirty="0">
                <a:latin typeface="Calibri"/>
                <a:cs typeface="Calibri"/>
              </a:rPr>
              <a:t>eucariotas)</a:t>
            </a:r>
            <a:r>
              <a:rPr sz="1800" strike="sngStrike" spc="-15" dirty="0">
                <a:latin typeface="Calibri"/>
                <a:cs typeface="Calibri"/>
              </a:rPr>
              <a:t> </a:t>
            </a:r>
            <a:r>
              <a:rPr sz="1800" strike="sngStrike" dirty="0">
                <a:latin typeface="Calibri"/>
                <a:cs typeface="Calibri"/>
              </a:rPr>
              <a:t>(año</a:t>
            </a:r>
            <a:r>
              <a:rPr sz="1800" strike="sngStrike" spc="-15" dirty="0">
                <a:latin typeface="Calibri"/>
                <a:cs typeface="Calibri"/>
              </a:rPr>
              <a:t> </a:t>
            </a:r>
            <a:r>
              <a:rPr sz="1800" strike="sngStrike" spc="-5" dirty="0">
                <a:latin typeface="Calibri"/>
                <a:cs typeface="Calibri"/>
              </a:rPr>
              <a:t>2022)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15" dirty="0">
                <a:latin typeface="Calibri"/>
                <a:cs typeface="Calibri"/>
              </a:rPr>
              <a:t>Permite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gran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velocidad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ya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analiza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25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000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lecturas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segundo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25"/>
              </a:spcBef>
              <a:buChar char="-"/>
              <a:tabLst>
                <a:tab pos="297815" algn="l"/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Las </a:t>
            </a:r>
            <a:r>
              <a:rPr sz="1800" spc="-5" dirty="0">
                <a:latin typeface="Calibri"/>
                <a:cs typeface="Calibri"/>
              </a:rPr>
              <a:t>asignaciones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taxonómicos</a:t>
            </a:r>
            <a:r>
              <a:rPr sz="1800" dirty="0">
                <a:latin typeface="Calibri"/>
                <a:cs typeface="Calibri"/>
              </a:rPr>
              <a:t> no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ambiguas</a:t>
            </a:r>
            <a:endParaRPr sz="1800">
              <a:latin typeface="Calibri"/>
              <a:cs typeface="Calibri"/>
            </a:endParaRPr>
          </a:p>
          <a:p>
            <a:pPr marL="297815" marR="5080" indent="-285750">
              <a:lnSpc>
                <a:spcPts val="2110"/>
              </a:lnSpc>
              <a:spcBef>
                <a:spcPts val="160"/>
              </a:spcBef>
              <a:buChar char="-"/>
              <a:tabLst>
                <a:tab pos="297815" algn="l"/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Las </a:t>
            </a:r>
            <a:r>
              <a:rPr sz="1800" spc="-5" dirty="0">
                <a:latin typeface="Calibri"/>
                <a:cs typeface="Calibri"/>
              </a:rPr>
              <a:t>abundancias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relativas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estimadas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manera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precisa,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términos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número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células</a:t>
            </a:r>
            <a:r>
              <a:rPr sz="1800" dirty="0">
                <a:latin typeface="Calibri"/>
                <a:cs typeface="Calibri"/>
              </a:rPr>
              <a:t> 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fracción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lecturas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00"/>
              </a:lnSpc>
              <a:buFont typeface="Calibri"/>
              <a:buChar char="-"/>
              <a:tabLst>
                <a:tab pos="297815" algn="l"/>
                <a:tab pos="298450" algn="l"/>
              </a:tabLst>
            </a:pPr>
            <a:r>
              <a:rPr sz="1800" b="1" spc="-10" dirty="0">
                <a:latin typeface="Calibri"/>
                <a:cs typeface="Calibri"/>
              </a:rPr>
              <a:t>Resolución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nivel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</a:t>
            </a:r>
            <a:r>
              <a:rPr sz="1800" b="1" spc="-10" dirty="0">
                <a:latin typeface="Calibri"/>
                <a:cs typeface="Calibri"/>
              </a:rPr>
              <a:t> especie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10" dirty="0">
                <a:latin typeface="Calibri"/>
                <a:cs typeface="Calibri"/>
              </a:rPr>
              <a:t>Precisión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valida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miles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metagenomas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reales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series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sintéticas.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462279"/>
            <a:ext cx="517525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Perfil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 taxonómico:</a:t>
            </a:r>
            <a:r>
              <a:rPr sz="3100" b="0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Herramientas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9287" y="1230884"/>
            <a:ext cx="587946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b="1" spc="-10" dirty="0">
                <a:solidFill>
                  <a:srgbClr val="ED7D31"/>
                </a:solidFill>
                <a:latin typeface="Calibri"/>
                <a:cs typeface="Calibri"/>
              </a:rPr>
              <a:t>MetaPhlAn4:</a:t>
            </a:r>
            <a:r>
              <a:rPr sz="1800" b="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ED7D31"/>
                </a:solidFill>
                <a:latin typeface="Calibri"/>
                <a:cs typeface="Calibri"/>
              </a:rPr>
              <a:t>ACTUALIZACIÓN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</a:pPr>
            <a:r>
              <a:rPr sz="1800" b="1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https://github.com/biobakery/MetaPhlAn/wiki/MetaPhlAn-4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0205" y="1845716"/>
            <a:ext cx="6029134" cy="25114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462279"/>
            <a:ext cx="517525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spc="-15" dirty="0">
                <a:solidFill>
                  <a:srgbClr val="FFC000"/>
                </a:solidFill>
                <a:latin typeface="Calibri"/>
                <a:cs typeface="Calibri"/>
              </a:rPr>
              <a:t>Perfil</a:t>
            </a:r>
            <a:r>
              <a:rPr sz="3100" b="0" spc="-20" dirty="0">
                <a:solidFill>
                  <a:srgbClr val="FFC000"/>
                </a:solidFill>
                <a:latin typeface="Calibri"/>
                <a:cs typeface="Calibri"/>
              </a:rPr>
              <a:t> taxonómico:</a:t>
            </a:r>
            <a:r>
              <a:rPr sz="3100" b="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FFC000"/>
                </a:solidFill>
                <a:latin typeface="Calibri"/>
                <a:cs typeface="Calibri"/>
              </a:rPr>
              <a:t>Herramientas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9287" y="1230884"/>
            <a:ext cx="587946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C000"/>
                </a:solidFill>
                <a:latin typeface="Calibri"/>
                <a:cs typeface="Calibri"/>
              </a:rPr>
              <a:t>MetaPhlAn4:</a:t>
            </a:r>
            <a:r>
              <a:rPr sz="1800" b="1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FFC000"/>
                </a:solidFill>
                <a:latin typeface="Calibri"/>
                <a:cs typeface="Calibri"/>
              </a:rPr>
              <a:t>ACTUALIZACIÓN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</a:pPr>
            <a:r>
              <a:rPr sz="1800" b="1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https://github.com/biobakery/MetaPhlAn/wiki/MetaPhlAn-4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7464" y="1818638"/>
            <a:ext cx="11285220" cy="3972560"/>
            <a:chOff x="257464" y="1818638"/>
            <a:chExt cx="11285220" cy="39725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464" y="1917063"/>
              <a:ext cx="5849256" cy="256107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96097" y="1818638"/>
              <a:ext cx="5946320" cy="397237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462279"/>
            <a:ext cx="517525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Perfil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 taxonómico:</a:t>
            </a:r>
            <a:r>
              <a:rPr sz="3100" b="0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Herramientas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087" y="1212596"/>
            <a:ext cx="8797925" cy="147320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solidFill>
                  <a:srgbClr val="ED7D31"/>
                </a:solidFill>
                <a:latin typeface="Calibri"/>
                <a:cs typeface="Calibri"/>
              </a:rPr>
              <a:t>MetaPhlAn4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  <a:tabLst>
                <a:tab pos="297815" algn="l"/>
              </a:tabLst>
            </a:pPr>
            <a:r>
              <a:rPr sz="1800" dirty="0">
                <a:latin typeface="Arial MT"/>
                <a:cs typeface="Arial MT"/>
              </a:rPr>
              <a:t>-	</a:t>
            </a:r>
            <a:r>
              <a:rPr sz="1800" spc="-5" dirty="0">
                <a:latin typeface="Arial MT"/>
                <a:cs typeface="Arial MT"/>
              </a:rPr>
              <a:t>Requiere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Python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  <a:p>
            <a:pPr marL="64769" marR="5080" indent="-52705">
              <a:lnSpc>
                <a:spcPct val="152200"/>
              </a:lnSpc>
              <a:spcBef>
                <a:spcPts val="219"/>
              </a:spcBef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-	</a:t>
            </a:r>
            <a:r>
              <a:rPr sz="1800" spc="-10" dirty="0">
                <a:latin typeface="Calibri"/>
                <a:cs typeface="Calibri"/>
              </a:rPr>
              <a:t>SGB-level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resolution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bacteria,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archaea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eukaryotes;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(SGB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species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level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genome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bin)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(26,970 </a:t>
            </a:r>
            <a:r>
              <a:rPr sz="1800" spc="-5" dirty="0">
                <a:latin typeface="Calibri"/>
                <a:cs typeface="Calibri"/>
              </a:rPr>
              <a:t>species-level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genome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bin)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7649" y="255523"/>
            <a:ext cx="6655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10" dirty="0">
                <a:solidFill>
                  <a:srgbClr val="ED7D31"/>
                </a:solidFill>
                <a:latin typeface="Calibri"/>
                <a:cs typeface="Calibri"/>
                <a:hlinkClick r:id="rId2"/>
              </a:rPr>
              <a:t>http://segatalab.cibio.unitn.it/data/Pasolli_et_al.html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6252" y="720468"/>
            <a:ext cx="8036490" cy="46913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4" y="413511"/>
            <a:ext cx="517525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Perfil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 taxonómico:</a:t>
            </a:r>
            <a:r>
              <a:rPr sz="3100" b="0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Herramientas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693" y="1236979"/>
            <a:ext cx="7673975" cy="1939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E7E6E6"/>
                </a:solidFill>
                <a:latin typeface="Calibri"/>
                <a:cs typeface="Calibri"/>
              </a:rPr>
              <a:t>Kraken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750">
              <a:latin typeface="Calibri"/>
              <a:cs typeface="Calibri"/>
            </a:endParaRPr>
          </a:p>
          <a:p>
            <a:pPr marL="297815" marR="28575" indent="-285750">
              <a:lnSpc>
                <a:spcPct val="101099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15" dirty="0">
                <a:latin typeface="Calibri"/>
                <a:cs typeface="Calibri"/>
              </a:rPr>
              <a:t>Programa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escrito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5" dirty="0">
                <a:latin typeface="Calibri"/>
                <a:cs typeface="Calibri"/>
              </a:rPr>
              <a:t> C++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 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Perl</a:t>
            </a:r>
            <a:r>
              <a:rPr sz="1800" dirty="0">
                <a:latin typeface="Calibri"/>
                <a:cs typeface="Calibri"/>
              </a:rPr>
              <a:t> que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permite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asignar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etiquetas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taxonómicas</a:t>
            </a:r>
            <a:r>
              <a:rPr sz="1800" dirty="0">
                <a:latin typeface="Calibri"/>
                <a:cs typeface="Calibri"/>
              </a:rPr>
              <a:t> a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secuencias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cortas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obtenidas</a:t>
            </a:r>
            <a:r>
              <a:rPr sz="1800" dirty="0">
                <a:latin typeface="Calibri"/>
                <a:cs typeface="Calibri"/>
              </a:rPr>
              <a:t> 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estudios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metagenómicos</a:t>
            </a:r>
            <a:endParaRPr sz="1800">
              <a:latin typeface="Calibri"/>
              <a:cs typeface="Calibri"/>
            </a:endParaRPr>
          </a:p>
          <a:p>
            <a:pPr marL="297815" marR="5080" indent="-285750">
              <a:lnSpc>
                <a:spcPts val="2180"/>
              </a:lnSpc>
              <a:spcBef>
                <a:spcPts val="5"/>
              </a:spcBef>
              <a:buChar char="-"/>
              <a:tabLst>
                <a:tab pos="297815" algn="l"/>
                <a:tab pos="298450" algn="l"/>
              </a:tabLst>
            </a:pPr>
            <a:r>
              <a:rPr sz="1800" spc="-15" dirty="0">
                <a:latin typeface="Calibri"/>
                <a:cs typeface="Calibri"/>
              </a:rPr>
              <a:t>Programa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rápido,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millones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lecturas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minuto: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11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veces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más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rápido</a:t>
            </a:r>
            <a:r>
              <a:rPr sz="1800" dirty="0">
                <a:latin typeface="Calibri"/>
                <a:cs typeface="Calibri"/>
              </a:rPr>
              <a:t> que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MetaPhIAn.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039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5" dirty="0">
                <a:latin typeface="Calibri"/>
                <a:cs typeface="Calibri"/>
              </a:rPr>
              <a:t>Sensibilidad </a:t>
            </a:r>
            <a:r>
              <a:rPr sz="1800" dirty="0">
                <a:latin typeface="Calibri"/>
                <a:cs typeface="Calibri"/>
              </a:rPr>
              <a:t>menor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MetaPhIAn.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1016" y="3865975"/>
            <a:ext cx="3936099" cy="177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1484" y="3518519"/>
            <a:ext cx="5463920" cy="220521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54" y="337311"/>
            <a:ext cx="517525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Perfil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 taxonómico:</a:t>
            </a:r>
            <a:r>
              <a:rPr sz="3100" b="0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Herramientas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3403" y="1407667"/>
            <a:ext cx="8180070" cy="2762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solidFill>
                  <a:srgbClr val="FFC000"/>
                </a:solidFill>
                <a:latin typeface="Calibri"/>
                <a:cs typeface="Calibri"/>
              </a:rPr>
              <a:t>CAT/BAT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7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Char char="-"/>
              <a:tabLst>
                <a:tab pos="297815" algn="l"/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Dos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herramientas: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Contig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Annotation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45" dirty="0">
                <a:latin typeface="Calibri"/>
                <a:cs typeface="Calibri"/>
              </a:rPr>
              <a:t>Tool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(CAT)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Annotation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45" dirty="0">
                <a:latin typeface="Calibri"/>
                <a:cs typeface="Calibri"/>
              </a:rPr>
              <a:t>Tool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(BAT)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Calibri"/>
              <a:buChar char="-"/>
            </a:pPr>
            <a:endParaRPr sz="1700">
              <a:latin typeface="Calibri"/>
              <a:cs typeface="Calibri"/>
            </a:endParaRPr>
          </a:p>
          <a:p>
            <a:pPr marL="298450" marR="95250" indent="-285750" algn="just">
              <a:lnSpc>
                <a:spcPct val="102200"/>
              </a:lnSpc>
              <a:spcBef>
                <a:spcPts val="5"/>
              </a:spcBef>
              <a:buChar char="-"/>
              <a:tabLst>
                <a:tab pos="298450" algn="l"/>
              </a:tabLst>
            </a:pPr>
            <a:r>
              <a:rPr sz="1800" spc="-5" dirty="0">
                <a:latin typeface="Calibri"/>
                <a:cs typeface="Calibri"/>
              </a:rPr>
              <a:t>Sirven </a:t>
            </a:r>
            <a:r>
              <a:rPr sz="1800" spc="-10" dirty="0">
                <a:latin typeface="Calibri"/>
                <a:cs typeface="Calibri"/>
              </a:rPr>
              <a:t>para </a:t>
            </a:r>
            <a:r>
              <a:rPr sz="1800" spc="-5" dirty="0">
                <a:latin typeface="Calibri"/>
                <a:cs typeface="Calibri"/>
              </a:rPr>
              <a:t>la clasificación </a:t>
            </a:r>
            <a:r>
              <a:rPr sz="1800" spc="-15" dirty="0">
                <a:latin typeface="Calibri"/>
                <a:cs typeface="Calibri"/>
              </a:rPr>
              <a:t>taxonómica </a:t>
            </a:r>
            <a:r>
              <a:rPr sz="1800" dirty="0">
                <a:latin typeface="Calibri"/>
                <a:cs typeface="Calibri"/>
              </a:rPr>
              <a:t>de secuencias </a:t>
            </a:r>
            <a:r>
              <a:rPr sz="1800" spc="-15" dirty="0">
                <a:latin typeface="Calibri"/>
                <a:cs typeface="Calibri"/>
              </a:rPr>
              <a:t>largas </a:t>
            </a:r>
            <a:r>
              <a:rPr sz="1800" dirty="0">
                <a:latin typeface="Calibri"/>
                <a:cs typeface="Calibri"/>
              </a:rPr>
              <a:t>de ADN y </a:t>
            </a:r>
            <a:r>
              <a:rPr sz="1800" spc="-10" dirty="0">
                <a:latin typeface="Calibri"/>
                <a:cs typeface="Calibri"/>
              </a:rPr>
              <a:t>metagenomas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ensamblados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(MAGs/bins)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microorganismos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conocidos</a:t>
            </a:r>
            <a:r>
              <a:rPr sz="1800" dirty="0">
                <a:latin typeface="Calibri"/>
                <a:cs typeface="Calibri"/>
              </a:rPr>
              <a:t> 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desconocidos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Calibri"/>
              <a:buChar char="-"/>
            </a:pPr>
            <a:endParaRPr sz="1750">
              <a:latin typeface="Calibri"/>
              <a:cs typeface="Calibri"/>
            </a:endParaRPr>
          </a:p>
          <a:p>
            <a:pPr marL="298450" marR="5080" indent="-285750" algn="just">
              <a:lnSpc>
                <a:spcPct val="99400"/>
              </a:lnSpc>
              <a:buChar char="-"/>
              <a:tabLst>
                <a:tab pos="298450" algn="l"/>
              </a:tabLst>
            </a:pPr>
            <a:r>
              <a:rPr sz="1800" spc="-5" dirty="0">
                <a:latin typeface="Calibri"/>
                <a:cs typeface="Calibri"/>
              </a:rPr>
              <a:t>El algoritmo base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estos programas realiza </a:t>
            </a:r>
            <a:r>
              <a:rPr sz="1800" dirty="0">
                <a:latin typeface="Calibri"/>
                <a:cs typeface="Calibri"/>
              </a:rPr>
              <a:t>un </a:t>
            </a:r>
            <a:r>
              <a:rPr sz="1800" spc="-5" dirty="0">
                <a:latin typeface="Calibri"/>
                <a:cs typeface="Calibri"/>
              </a:rPr>
              <a:t>llamado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genes, mapea las pautas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abiertas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lectura, </a:t>
            </a:r>
            <a:r>
              <a:rPr sz="1800" i="1" spc="-5" dirty="0">
                <a:latin typeface="Calibri"/>
                <a:cs typeface="Calibri"/>
              </a:rPr>
              <a:t>open reading frames </a:t>
            </a:r>
            <a:r>
              <a:rPr sz="1800" spc="-10" dirty="0">
                <a:latin typeface="Calibri"/>
                <a:cs typeface="Calibri"/>
              </a:rPr>
              <a:t>(ORFs) </a:t>
            </a:r>
            <a:r>
              <a:rPr sz="1800" spc="-5" dirty="0">
                <a:latin typeface="Calibri"/>
                <a:cs typeface="Calibri"/>
              </a:rPr>
              <a:t>predichos </a:t>
            </a:r>
            <a:r>
              <a:rPr sz="1800" spc="-15" dirty="0">
                <a:latin typeface="Calibri"/>
                <a:cs typeface="Calibri"/>
              </a:rPr>
              <a:t>contra </a:t>
            </a:r>
            <a:r>
              <a:rPr sz="1800" dirty="0">
                <a:latin typeface="Calibri"/>
                <a:cs typeface="Calibri"/>
              </a:rPr>
              <a:t>la </a:t>
            </a:r>
            <a:r>
              <a:rPr sz="1800" spc="-5" dirty="0">
                <a:latin typeface="Calibri"/>
                <a:cs typeface="Calibri"/>
              </a:rPr>
              <a:t>base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datos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proteínas,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2758" y="224884"/>
            <a:ext cx="1015039" cy="4050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2454" y="337311"/>
            <a:ext cx="517525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5" dirty="0">
                <a:solidFill>
                  <a:srgbClr val="ED7D31"/>
                </a:solidFill>
                <a:latin typeface="Calibri"/>
                <a:cs typeface="Calibri"/>
              </a:rPr>
              <a:t>Perfil</a:t>
            </a:r>
            <a:r>
              <a:rPr sz="3100" spc="-20" dirty="0">
                <a:solidFill>
                  <a:srgbClr val="ED7D31"/>
                </a:solidFill>
                <a:latin typeface="Calibri"/>
                <a:cs typeface="Calibri"/>
              </a:rPr>
              <a:t> taxonómico:</a:t>
            </a:r>
            <a:r>
              <a:rPr sz="3100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spc="-15" dirty="0">
                <a:solidFill>
                  <a:srgbClr val="ED7D31"/>
                </a:solidFill>
                <a:latin typeface="Calibri"/>
                <a:cs typeface="Calibri"/>
              </a:rPr>
              <a:t>Herramientas</a:t>
            </a:r>
            <a:endParaRPr sz="3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9859" y="1222194"/>
            <a:ext cx="6756720" cy="48600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7860" y="1108964"/>
            <a:ext cx="824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C000"/>
                </a:solidFill>
                <a:latin typeface="Calibri"/>
                <a:cs typeface="Calibri"/>
              </a:rPr>
              <a:t>C</a:t>
            </a:r>
            <a:r>
              <a:rPr sz="1800" b="1" spc="-145" dirty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r>
              <a:rPr sz="1800" b="1" spc="-110" dirty="0">
                <a:solidFill>
                  <a:srgbClr val="FFC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FFC000"/>
                </a:solidFill>
                <a:latin typeface="Calibri"/>
                <a:cs typeface="Calibri"/>
              </a:rPr>
              <a:t>/</a:t>
            </a:r>
            <a:r>
              <a:rPr sz="1800" b="1" spc="-15" dirty="0">
                <a:solidFill>
                  <a:srgbClr val="FFC000"/>
                </a:solidFill>
                <a:latin typeface="Calibri"/>
                <a:cs typeface="Calibri"/>
              </a:rPr>
              <a:t>B</a:t>
            </a:r>
            <a:r>
              <a:rPr sz="1800" b="1" spc="-145" dirty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FFC000"/>
                </a:solidFill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5970" y="6246638"/>
            <a:ext cx="2527300" cy="30480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spc="-10" dirty="0">
                <a:latin typeface="Calibri"/>
                <a:cs typeface="Calibri"/>
              </a:rPr>
              <a:t>von Meijenfeldt </a:t>
            </a:r>
            <a:r>
              <a:rPr sz="1800" spc="-5" dirty="0">
                <a:latin typeface="Calibri"/>
                <a:cs typeface="Calibri"/>
              </a:rPr>
              <a:t>et </a:t>
            </a:r>
            <a:r>
              <a:rPr sz="1800" dirty="0">
                <a:latin typeface="Calibri"/>
                <a:cs typeface="Calibri"/>
              </a:rPr>
              <a:t>al.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2019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8826" y="6418579"/>
            <a:ext cx="45465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8/3/23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2758" y="224884"/>
            <a:ext cx="1015039" cy="4050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2454" y="337311"/>
            <a:ext cx="517525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5" dirty="0">
                <a:solidFill>
                  <a:srgbClr val="ED7D31"/>
                </a:solidFill>
                <a:latin typeface="Calibri"/>
                <a:cs typeface="Calibri"/>
              </a:rPr>
              <a:t>Perfil</a:t>
            </a:r>
            <a:r>
              <a:rPr sz="3100" spc="-20" dirty="0">
                <a:solidFill>
                  <a:srgbClr val="ED7D31"/>
                </a:solidFill>
                <a:latin typeface="Calibri"/>
                <a:cs typeface="Calibri"/>
              </a:rPr>
              <a:t> taxonómico:</a:t>
            </a:r>
            <a:r>
              <a:rPr sz="3100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spc="-15" dirty="0">
                <a:solidFill>
                  <a:srgbClr val="ED7D31"/>
                </a:solidFill>
                <a:latin typeface="Calibri"/>
                <a:cs typeface="Calibri"/>
              </a:rPr>
              <a:t>Herramientas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6204" y="6418579"/>
            <a:ext cx="588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S</a:t>
            </a:r>
            <a:r>
              <a:rPr sz="1200" spc="-10" dirty="0">
                <a:latin typeface="Calibri"/>
                <a:cs typeface="Calibri"/>
              </a:rPr>
              <a:t>E</a:t>
            </a:r>
            <a:r>
              <a:rPr sz="1200" spc="-5" dirty="0">
                <a:latin typeface="Calibri"/>
                <a:cs typeface="Calibri"/>
              </a:rPr>
              <a:t>SI</a:t>
            </a:r>
            <a:r>
              <a:rPr sz="1200" spc="5" dirty="0">
                <a:latin typeface="Calibri"/>
                <a:cs typeface="Calibri"/>
              </a:rPr>
              <a:t>Ó</a:t>
            </a:r>
            <a:r>
              <a:rPr sz="1200" dirty="0">
                <a:latin typeface="Calibri"/>
                <a:cs typeface="Calibri"/>
              </a:rPr>
              <a:t>N 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482" y="1334515"/>
            <a:ext cx="824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C000"/>
                </a:solidFill>
                <a:latin typeface="Calibri"/>
                <a:cs typeface="Calibri"/>
              </a:rPr>
              <a:t>C</a:t>
            </a:r>
            <a:r>
              <a:rPr sz="1800" b="1" spc="-145" dirty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r>
              <a:rPr sz="1800" b="1" spc="-110" dirty="0">
                <a:solidFill>
                  <a:srgbClr val="FFC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FFC000"/>
                </a:solidFill>
                <a:latin typeface="Calibri"/>
                <a:cs typeface="Calibri"/>
              </a:rPr>
              <a:t>/</a:t>
            </a:r>
            <a:r>
              <a:rPr sz="1800" b="1" spc="-15" dirty="0">
                <a:solidFill>
                  <a:srgbClr val="FFC000"/>
                </a:solidFill>
                <a:latin typeface="Calibri"/>
                <a:cs typeface="Calibri"/>
              </a:rPr>
              <a:t>B</a:t>
            </a:r>
            <a:r>
              <a:rPr sz="1800" b="1" spc="-145" dirty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FFC000"/>
                </a:solidFill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3681" y="6049771"/>
            <a:ext cx="2527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von Meijenfeldt </a:t>
            </a:r>
            <a:r>
              <a:rPr sz="1800" spc="-5" dirty="0">
                <a:latin typeface="Calibri"/>
                <a:cs typeface="Calibri"/>
              </a:rPr>
              <a:t>et </a:t>
            </a:r>
            <a:r>
              <a:rPr sz="1800" dirty="0">
                <a:latin typeface="Calibri"/>
                <a:cs typeface="Calibri"/>
              </a:rPr>
              <a:t>al.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2019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8104" y="1877922"/>
            <a:ext cx="10329869" cy="36784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8826" y="6418579"/>
            <a:ext cx="45465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8/3/23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2758" y="224884"/>
            <a:ext cx="1015039" cy="4050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6203" y="852423"/>
            <a:ext cx="517525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Perfil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 taxonómico:</a:t>
            </a:r>
            <a:r>
              <a:rPr sz="3100" b="0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Herramientas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6204" y="6418579"/>
            <a:ext cx="588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S</a:t>
            </a:r>
            <a:r>
              <a:rPr sz="1200" spc="-10" dirty="0">
                <a:latin typeface="Calibri"/>
                <a:cs typeface="Calibri"/>
              </a:rPr>
              <a:t>E</a:t>
            </a:r>
            <a:r>
              <a:rPr sz="1200" spc="-5" dirty="0">
                <a:latin typeface="Calibri"/>
                <a:cs typeface="Calibri"/>
              </a:rPr>
              <a:t>SI</a:t>
            </a:r>
            <a:r>
              <a:rPr sz="1200" spc="5" dirty="0">
                <a:latin typeface="Calibri"/>
                <a:cs typeface="Calibri"/>
              </a:rPr>
              <a:t>Ó</a:t>
            </a:r>
            <a:r>
              <a:rPr sz="1200" dirty="0">
                <a:latin typeface="Calibri"/>
                <a:cs typeface="Calibri"/>
              </a:rPr>
              <a:t>N 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3402" y="1627123"/>
            <a:ext cx="4996180" cy="469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ED7D31"/>
                </a:solidFill>
                <a:latin typeface="Calibri"/>
                <a:cs typeface="Calibri"/>
              </a:rPr>
              <a:t>GraPhlAn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 dirty="0">
              <a:latin typeface="Calibri"/>
              <a:cs typeface="Calibri"/>
            </a:endParaRPr>
          </a:p>
          <a:p>
            <a:pPr marL="297815" marR="5080" indent="-285750">
              <a:lnSpc>
                <a:spcPct val="99400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10" dirty="0">
                <a:latin typeface="Calibri"/>
                <a:cs typeface="Calibri"/>
              </a:rPr>
              <a:t>Herramienta</a:t>
            </a:r>
            <a:r>
              <a:rPr sz="1800" dirty="0">
                <a:latin typeface="Calibri"/>
                <a:cs typeface="Calibri"/>
              </a:rPr>
              <a:t> que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sirve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representar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árboles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filogenéticos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taxonómicos</a:t>
            </a:r>
            <a:r>
              <a:rPr sz="1800" dirty="0">
                <a:latin typeface="Calibri"/>
                <a:cs typeface="Calibri"/>
              </a:rPr>
              <a:t> 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formato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circular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alta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calidad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Calibri"/>
              <a:buChar char="-"/>
            </a:pPr>
            <a:endParaRPr sz="1700" dirty="0">
              <a:latin typeface="Calibri"/>
              <a:cs typeface="Calibri"/>
            </a:endParaRPr>
          </a:p>
          <a:p>
            <a:pPr marL="297815" marR="349250" indent="-285750">
              <a:lnSpc>
                <a:spcPct val="102200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10" dirty="0">
                <a:latin typeface="Calibri"/>
                <a:cs typeface="Calibri"/>
              </a:rPr>
              <a:t>Requiere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 uso de </a:t>
            </a:r>
            <a:r>
              <a:rPr sz="1800" b="1" dirty="0">
                <a:solidFill>
                  <a:srgbClr val="E7E6E6"/>
                </a:solidFill>
                <a:latin typeface="Calibri"/>
                <a:cs typeface="Calibri"/>
              </a:rPr>
              <a:t>Python</a:t>
            </a:r>
            <a:r>
              <a:rPr sz="1800" b="1" spc="-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dos 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librerías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más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utilizadas: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matplotlib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biopython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Calibri"/>
              <a:buChar char="-"/>
            </a:pPr>
            <a:endParaRPr sz="1700" dirty="0">
              <a:latin typeface="Calibri"/>
              <a:cs typeface="Calibri"/>
            </a:endParaRPr>
          </a:p>
          <a:p>
            <a:pPr marL="297815" marR="183515" indent="-285750">
              <a:lnSpc>
                <a:spcPct val="100400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5" dirty="0">
                <a:latin typeface="Calibri"/>
                <a:cs typeface="Calibri"/>
              </a:rPr>
              <a:t>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primer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paso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produce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generación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árbol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 segunda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parte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5" dirty="0">
                <a:latin typeface="Calibri"/>
                <a:cs typeface="Calibri"/>
              </a:rPr>
              <a:t> usuario</a:t>
            </a:r>
            <a:r>
              <a:rPr sz="1800" dirty="0">
                <a:latin typeface="Calibri"/>
                <a:cs typeface="Calibri"/>
              </a:rPr>
              <a:t> puede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ir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dándole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formato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5" dirty="0">
                <a:latin typeface="Calibri"/>
                <a:cs typeface="Calibri"/>
              </a:rPr>
              <a:t>este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árbol </a:t>
            </a:r>
            <a:r>
              <a:rPr sz="1800" spc="-15" dirty="0">
                <a:latin typeface="Calibri"/>
                <a:cs typeface="Calibri"/>
              </a:rPr>
              <a:t>para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resultar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distintos</a:t>
            </a:r>
            <a:r>
              <a:rPr sz="1800" spc="-5" dirty="0">
                <a:latin typeface="Calibri"/>
                <a:cs typeface="Calibri"/>
              </a:rPr>
              <a:t> aspectos</a:t>
            </a:r>
            <a:r>
              <a:rPr sz="1800" dirty="0">
                <a:latin typeface="Calibri"/>
                <a:cs typeface="Calibri"/>
              </a:rPr>
              <a:t> del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5" dirty="0" err="1">
                <a:latin typeface="Calibri"/>
                <a:cs typeface="Calibri"/>
              </a:rPr>
              <a:t>mismo</a:t>
            </a:r>
            <a:r>
              <a:rPr sz="1800" spc="-5" dirty="0">
                <a:latin typeface="Calibri"/>
                <a:cs typeface="Calibri"/>
              </a:rPr>
              <a:t>.</a:t>
            </a:r>
            <a:endParaRPr lang="es-ES" sz="1800" spc="-5" dirty="0">
              <a:latin typeface="Calibri"/>
              <a:cs typeface="Calibri"/>
            </a:endParaRPr>
          </a:p>
          <a:p>
            <a:pPr marL="297815" marR="183515" indent="-285750">
              <a:lnSpc>
                <a:spcPct val="100400"/>
              </a:lnSpc>
              <a:buChar char="-"/>
              <a:tabLst>
                <a:tab pos="297815" algn="l"/>
                <a:tab pos="298450" algn="l"/>
              </a:tabLst>
            </a:pPr>
            <a:endParaRPr lang="es-ES" spc="-5" dirty="0">
              <a:latin typeface="Calibri"/>
              <a:cs typeface="Calibri"/>
            </a:endParaRPr>
          </a:p>
          <a:p>
            <a:pPr marL="297815" marR="183515" indent="-285750">
              <a:lnSpc>
                <a:spcPct val="100400"/>
              </a:lnSpc>
              <a:buChar char="-"/>
              <a:tabLst>
                <a:tab pos="297815" algn="l"/>
                <a:tab pos="298450" algn="l"/>
              </a:tabLst>
            </a:pPr>
            <a:r>
              <a:rPr lang="es-ES" dirty="0">
                <a:cs typeface="Calibri"/>
                <a:hlinkClick r:id="rId3"/>
              </a:rPr>
              <a:t>https://github.com/biobakery/graphlan</a:t>
            </a:r>
            <a:endParaRPr lang="es-ES" dirty="0">
              <a:cs typeface="Calibri"/>
            </a:endParaRPr>
          </a:p>
          <a:p>
            <a:pPr marL="297815" marR="183515" indent="-285750">
              <a:lnSpc>
                <a:spcPct val="100400"/>
              </a:lnSpc>
              <a:buChar char="-"/>
              <a:tabLst>
                <a:tab pos="297815" algn="l"/>
                <a:tab pos="298450" algn="l"/>
              </a:tabLst>
            </a:pPr>
            <a:endParaRPr lang="es-ES" sz="1800" dirty="0">
              <a:latin typeface="Calibri"/>
              <a:cs typeface="Calibri"/>
            </a:endParaRPr>
          </a:p>
          <a:p>
            <a:pPr marL="297815" marR="183515" indent="-285750">
              <a:lnSpc>
                <a:spcPct val="100400"/>
              </a:lnSpc>
              <a:buChar char="-"/>
              <a:tabLst>
                <a:tab pos="297815" algn="l"/>
                <a:tab pos="298450" algn="l"/>
              </a:tabLst>
            </a:pPr>
            <a:r>
              <a:rPr lang="es-ES" dirty="0">
                <a:cs typeface="Calibri"/>
              </a:rPr>
              <a:t>https://</a:t>
            </a:r>
            <a:r>
              <a:rPr lang="es-ES" dirty="0" err="1">
                <a:cs typeface="Calibri"/>
              </a:rPr>
              <a:t>huttenhower.sph.harvard.edu</a:t>
            </a:r>
            <a:r>
              <a:rPr lang="es-ES" dirty="0">
                <a:cs typeface="Calibri"/>
              </a:rPr>
              <a:t>/</a:t>
            </a:r>
            <a:r>
              <a:rPr lang="es-ES" dirty="0" err="1">
                <a:cs typeface="Calibri"/>
              </a:rPr>
              <a:t>graphlan</a:t>
            </a:r>
            <a:r>
              <a:rPr lang="es-ES" dirty="0">
                <a:cs typeface="Calibri"/>
              </a:rPr>
              <a:t>/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88317" y="1740592"/>
            <a:ext cx="4206105" cy="41436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629538" y="6327140"/>
            <a:ext cx="19107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Muwawa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2021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3" y="852423"/>
            <a:ext cx="517525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Perfil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 taxonómico:</a:t>
            </a:r>
            <a:r>
              <a:rPr sz="3100" b="0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Herramientas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3402" y="1648459"/>
            <a:ext cx="9625330" cy="139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b="1" spc="-5" dirty="0">
                <a:solidFill>
                  <a:srgbClr val="E7E6E6"/>
                </a:solidFill>
                <a:latin typeface="Calibri"/>
                <a:cs typeface="Calibri"/>
              </a:rPr>
              <a:t>KRONA</a:t>
            </a:r>
            <a:r>
              <a:rPr sz="1800" spc="-5" dirty="0">
                <a:solidFill>
                  <a:srgbClr val="E7E6E6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25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15" dirty="0">
                <a:latin typeface="Calibri"/>
                <a:cs typeface="Calibri"/>
              </a:rPr>
              <a:t>Permite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visualizar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jerárquicos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E7E6E6"/>
                </a:solidFill>
                <a:latin typeface="Calibri"/>
                <a:cs typeface="Calibri"/>
              </a:rPr>
              <a:t>gráficos</a:t>
            </a:r>
            <a:r>
              <a:rPr sz="1800" b="1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E7E6E6"/>
                </a:solidFill>
                <a:latin typeface="Calibri"/>
                <a:cs typeface="Calibri"/>
              </a:rPr>
              <a:t>circulares</a:t>
            </a:r>
            <a:r>
              <a:rPr sz="1800" b="1" spc="-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distintas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capas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Char char="-"/>
            </a:pPr>
            <a:endParaRPr sz="1950">
              <a:latin typeface="Calibri"/>
              <a:cs typeface="Calibri"/>
            </a:endParaRPr>
          </a:p>
          <a:p>
            <a:pPr marL="297815" marR="5080" indent="-285750">
              <a:lnSpc>
                <a:spcPts val="2090"/>
              </a:lnSpc>
              <a:buChar char="-"/>
              <a:tabLst>
                <a:tab pos="297815" algn="l"/>
                <a:tab pos="298450" algn="l"/>
              </a:tabLst>
            </a:pPr>
            <a:r>
              <a:rPr sz="1800" spc="-15" dirty="0">
                <a:latin typeface="Calibri"/>
                <a:cs typeface="Calibri"/>
              </a:rPr>
              <a:t>Este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tipo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gráficos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partir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-5" dirty="0">
                <a:latin typeface="Calibri"/>
                <a:cs typeface="Calibri"/>
              </a:rPr>
              <a:t>uso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25" dirty="0">
                <a:latin typeface="Calibri"/>
                <a:cs typeface="Calibri"/>
              </a:rPr>
              <a:t>KronaTools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para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finalmente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obtener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gráficos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interactivos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visualizarse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distintos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navegadores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web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7125" y="3429000"/>
            <a:ext cx="3858961" cy="26744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3402" y="1913635"/>
            <a:ext cx="9371330" cy="16840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97815" marR="5080" indent="-285750">
              <a:lnSpc>
                <a:spcPct val="102200"/>
              </a:lnSpc>
              <a:spcBef>
                <a:spcPts val="50"/>
              </a:spcBef>
              <a:buChar char="-"/>
              <a:tabLst>
                <a:tab pos="297815" algn="l"/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Una </a:t>
            </a:r>
            <a:r>
              <a:rPr sz="1800" spc="-15" dirty="0">
                <a:latin typeface="Calibri"/>
                <a:cs typeface="Calibri"/>
              </a:rPr>
              <a:t>vez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dispone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lecturas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clasificadas</a:t>
            </a:r>
            <a:r>
              <a:rPr sz="1800" dirty="0">
                <a:latin typeface="Calibri"/>
                <a:cs typeface="Calibri"/>
              </a:rPr>
              <a:t> 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grupos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taxonómicos</a:t>
            </a:r>
            <a:r>
              <a:rPr sz="1800" dirty="0">
                <a:latin typeface="Calibri"/>
                <a:cs typeface="Calibri"/>
              </a:rPr>
              <a:t> 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genomas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ensamblados,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llevar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cabo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distintas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opciones,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identificar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anotar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genes,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llevar</a:t>
            </a:r>
            <a:r>
              <a:rPr sz="1800" dirty="0">
                <a:latin typeface="Calibri"/>
                <a:cs typeface="Calibri"/>
              </a:rPr>
              <a:t> a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cabo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clasificaciones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funcionales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filogenéticas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organismos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presentes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muestras,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Calibri"/>
              <a:buChar char="-"/>
            </a:pPr>
            <a:endParaRPr sz="1700">
              <a:latin typeface="Calibri"/>
              <a:cs typeface="Calibri"/>
            </a:endParaRPr>
          </a:p>
          <a:p>
            <a:pPr marL="297815" marR="34925" indent="-285750">
              <a:lnSpc>
                <a:spcPct val="101099"/>
              </a:lnSpc>
              <a:spcBef>
                <a:spcPts val="5"/>
              </a:spcBef>
              <a:buChar char="-"/>
              <a:tabLst>
                <a:tab pos="297815" algn="l"/>
                <a:tab pos="298450" algn="l"/>
              </a:tabLst>
            </a:pPr>
            <a:r>
              <a:rPr sz="1800" spc="-25" dirty="0">
                <a:latin typeface="Calibri"/>
                <a:cs typeface="Calibri"/>
              </a:rPr>
              <a:t>Para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ello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utilizar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distintos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programas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manera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individual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hacer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portales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integran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distintas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herramientas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hacer un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análisis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integrado.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3" y="852423"/>
            <a:ext cx="668020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spc="-5" dirty="0">
                <a:solidFill>
                  <a:srgbClr val="ED7D31"/>
                </a:solidFill>
                <a:latin typeface="Calibri"/>
                <a:cs typeface="Calibri"/>
              </a:rPr>
              <a:t>HANDS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5" dirty="0">
                <a:solidFill>
                  <a:srgbClr val="ED7D31"/>
                </a:solidFill>
                <a:latin typeface="Calibri"/>
                <a:cs typeface="Calibri"/>
              </a:rPr>
              <a:t>ON: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Perfil 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taxonómico.</a:t>
            </a:r>
            <a:r>
              <a:rPr sz="3100" b="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0" dirty="0">
                <a:solidFill>
                  <a:srgbClr val="ED7D31"/>
                </a:solidFill>
                <a:latin typeface="Calibri"/>
                <a:cs typeface="Calibri"/>
              </a:rPr>
              <a:t>metaphIan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5392" y="1899411"/>
            <a:ext cx="8834120" cy="43755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err="1"/>
              <a:t>conda</a:t>
            </a:r>
            <a:r>
              <a:rPr lang="es-ES" sz="1600" dirty="0"/>
              <a:t> </a:t>
            </a:r>
            <a:r>
              <a:rPr lang="es-ES" sz="1600" dirty="0" err="1"/>
              <a:t>env</a:t>
            </a:r>
            <a:r>
              <a:rPr lang="es-ES" sz="1600" dirty="0"/>
              <a:t> </a:t>
            </a:r>
            <a:r>
              <a:rPr lang="es-ES" sz="1600" dirty="0" err="1"/>
              <a:t>create</a:t>
            </a:r>
            <a:r>
              <a:rPr lang="es-ES" sz="1600" dirty="0"/>
              <a:t> -f </a:t>
            </a:r>
            <a:r>
              <a:rPr lang="es-ES" sz="1600" dirty="0" err="1"/>
              <a:t>mpa.yml</a:t>
            </a:r>
            <a:r>
              <a:rPr lang="es-ES" sz="1600" dirty="0"/>
              <a:t> </a:t>
            </a:r>
            <a:r>
              <a:rPr lang="es-ES" sz="1600" b="1" dirty="0">
                <a:solidFill>
                  <a:srgbClr val="E64F13"/>
                </a:solidFill>
              </a:rPr>
              <a:t>SESIÓN 3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conda</a:t>
            </a:r>
            <a:r>
              <a:rPr lang="es-E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s-E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env</a:t>
            </a:r>
            <a:r>
              <a:rPr lang="es-E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s-E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create</a:t>
            </a:r>
            <a:r>
              <a:rPr lang="es-E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–f </a:t>
            </a:r>
            <a:r>
              <a:rPr lang="es-E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gpa.yml</a:t>
            </a:r>
            <a:r>
              <a:rPr lang="es-ES" sz="1600" dirty="0"/>
              <a:t> </a:t>
            </a:r>
            <a:r>
              <a:rPr lang="es-ES" sz="1600" b="1" dirty="0">
                <a:solidFill>
                  <a:srgbClr val="E64F13"/>
                </a:solidFill>
              </a:rPr>
              <a:t>SESIÓN 3</a:t>
            </a:r>
          </a:p>
          <a:p>
            <a:pPr marL="12700">
              <a:lnSpc>
                <a:spcPct val="100000"/>
              </a:lnSpc>
            </a:pPr>
            <a:endParaRPr lang="es-ES" sz="1600" b="1" spc="-5" dirty="0">
              <a:solidFill>
                <a:srgbClr val="C55A1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s-ES" sz="1600" b="1" spc="-5" dirty="0">
                <a:solidFill>
                  <a:srgbClr val="C55A11"/>
                </a:solidFill>
                <a:latin typeface="Arial"/>
                <a:cs typeface="Arial"/>
              </a:rPr>
              <a:t>ALTERNATIVAMENTE:</a:t>
            </a:r>
          </a:p>
          <a:p>
            <a:pPr marL="12700">
              <a:lnSpc>
                <a:spcPct val="100000"/>
              </a:lnSpc>
            </a:pPr>
            <a:r>
              <a:rPr sz="1600" b="1" spc="-5" dirty="0" err="1">
                <a:latin typeface="Arial"/>
                <a:cs typeface="Arial"/>
              </a:rPr>
              <a:t>conda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install -c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bioconda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metaphlan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conda </a:t>
            </a:r>
            <a:r>
              <a:rPr sz="1600" b="1" dirty="0">
                <a:latin typeface="Arial"/>
                <a:cs typeface="Arial"/>
              </a:rPr>
              <a:t>install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-c</a:t>
            </a:r>
            <a:r>
              <a:rPr sz="1600" b="1" spc="-5" dirty="0">
                <a:latin typeface="Arial"/>
                <a:cs typeface="Arial"/>
              </a:rPr>
              <a:t> conda-forge </a:t>
            </a:r>
            <a:r>
              <a:rPr sz="1600" b="1" dirty="0">
                <a:latin typeface="Arial"/>
                <a:cs typeface="Arial"/>
              </a:rPr>
              <a:t>-c</a:t>
            </a:r>
            <a:r>
              <a:rPr sz="1600" b="1" spc="-5" dirty="0">
                <a:latin typeface="Arial"/>
                <a:cs typeface="Arial"/>
              </a:rPr>
              <a:t> bioconda metaphlan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alibri"/>
                <a:cs typeface="Calibri"/>
              </a:rPr>
              <a:t>conda </a:t>
            </a:r>
            <a:r>
              <a:rPr sz="2000" b="1" spc="-15" dirty="0">
                <a:latin typeface="Calibri"/>
                <a:cs typeface="Calibri"/>
              </a:rPr>
              <a:t>create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--name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mpa_2023 </a:t>
            </a:r>
            <a:r>
              <a:rPr sz="2000" b="1" dirty="0">
                <a:latin typeface="Calibri"/>
                <a:cs typeface="Calibri"/>
              </a:rPr>
              <a:t>-c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conda-forge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-c </a:t>
            </a:r>
            <a:r>
              <a:rPr sz="2000" b="1" spc="-5" dirty="0">
                <a:latin typeface="Calibri"/>
                <a:cs typeface="Calibri"/>
              </a:rPr>
              <a:t>bioconda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python=3.7 </a:t>
            </a:r>
            <a:r>
              <a:rPr sz="2000" b="1" spc="-10" dirty="0" err="1">
                <a:latin typeface="Calibri"/>
                <a:cs typeface="Calibri"/>
              </a:rPr>
              <a:t>metaphlan</a:t>
            </a:r>
            <a:endParaRPr lang="es-ES" sz="20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s-ES" sz="2000" b="1" spc="-2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Calibri"/>
                <a:cs typeface="Calibri"/>
              </a:rPr>
              <a:t>Para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obtener</a:t>
            </a:r>
            <a:r>
              <a:rPr sz="1800" dirty="0">
                <a:latin typeface="Calibri"/>
                <a:cs typeface="Calibri"/>
              </a:rPr>
              <a:t> los </a:t>
            </a:r>
            <a:r>
              <a:rPr sz="1800" spc="-5" dirty="0">
                <a:latin typeface="Calibri"/>
                <a:cs typeface="Calibri"/>
              </a:rPr>
              <a:t>ambientes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ficheros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utilizar: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https://drive.google.com/drive/u/0/folders/1ZTQ0NUVwCc2_g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5DPf84tkerjSMGLxiRV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 dirty="0">
              <a:latin typeface="Calibri"/>
              <a:cs typeface="Calibri"/>
            </a:endParaRPr>
          </a:p>
          <a:p>
            <a:pPr marL="131445" marR="3247390">
              <a:lnSpc>
                <a:spcPts val="2110"/>
              </a:lnSpc>
            </a:pPr>
            <a:r>
              <a:rPr sz="1800" spc="-15" dirty="0">
                <a:latin typeface="Calibri"/>
                <a:cs typeface="Calibri"/>
              </a:rPr>
              <a:t>Esta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práctica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trata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tutorial </a:t>
            </a:r>
            <a:r>
              <a:rPr sz="1800" spc="-10" dirty="0">
                <a:latin typeface="Calibri"/>
                <a:cs typeface="Calibri"/>
              </a:rPr>
              <a:t>extraído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de: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https://github.com/biobakery/biobakery/wiki/metaphlan4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203" y="852423"/>
            <a:ext cx="668020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0" spc="-5" dirty="0">
                <a:solidFill>
                  <a:srgbClr val="ED7D31"/>
                </a:solidFill>
                <a:latin typeface="Calibri"/>
                <a:cs typeface="Calibri"/>
              </a:rPr>
              <a:t>HANDS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5" dirty="0">
                <a:solidFill>
                  <a:srgbClr val="ED7D31"/>
                </a:solidFill>
                <a:latin typeface="Calibri"/>
                <a:cs typeface="Calibri"/>
              </a:rPr>
              <a:t>ON: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5" dirty="0">
                <a:solidFill>
                  <a:srgbClr val="ED7D31"/>
                </a:solidFill>
                <a:latin typeface="Calibri"/>
                <a:cs typeface="Calibri"/>
              </a:rPr>
              <a:t>Perfil </a:t>
            </a:r>
            <a:r>
              <a:rPr sz="3100" b="0" spc="-20" dirty="0">
                <a:solidFill>
                  <a:srgbClr val="ED7D31"/>
                </a:solidFill>
                <a:latin typeface="Calibri"/>
                <a:cs typeface="Calibri"/>
              </a:rPr>
              <a:t>taxonómico.</a:t>
            </a:r>
            <a:r>
              <a:rPr sz="3100" b="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3100" b="0" spc="-10" dirty="0">
                <a:solidFill>
                  <a:srgbClr val="ED7D31"/>
                </a:solidFill>
                <a:latin typeface="Calibri"/>
                <a:cs typeface="Calibri"/>
              </a:rPr>
              <a:t>metaphIan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S</a:t>
            </a:r>
            <a:r>
              <a:rPr spc="-10" dirty="0"/>
              <a:t>E</a:t>
            </a:r>
            <a:r>
              <a:rPr spc="-5" dirty="0"/>
              <a:t>SI</a:t>
            </a:r>
            <a:r>
              <a:rPr spc="5" dirty="0"/>
              <a:t>Ó</a:t>
            </a:r>
            <a:r>
              <a:rPr dirty="0"/>
              <a:t>N 3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8/3/23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5392" y="2057908"/>
            <a:ext cx="8866505" cy="37112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5"/>
              </a:spcBef>
            </a:pPr>
            <a:r>
              <a:rPr sz="1600" b="1" spc="-5" dirty="0" err="1">
                <a:latin typeface="Arial"/>
                <a:cs typeface="Arial"/>
              </a:rPr>
              <a:t>Comando</a:t>
            </a:r>
            <a:r>
              <a:rPr lang="es-ES" sz="1600" b="1" spc="-5" dirty="0">
                <a:latin typeface="Arial"/>
                <a:cs typeface="Arial"/>
              </a:rPr>
              <a:t> </a:t>
            </a:r>
            <a:r>
              <a:rPr lang="es-ES" sz="1600" b="1" spc="-5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(TEÓRICO)</a:t>
            </a:r>
            <a:r>
              <a:rPr sz="1600" b="1" spc="-25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 err="1">
                <a:latin typeface="Arial"/>
                <a:cs typeface="Arial"/>
              </a:rPr>
              <a:t>lanzar</a:t>
            </a:r>
            <a:r>
              <a:rPr sz="1600" b="1" spc="-5" dirty="0">
                <a:latin typeface="Arial"/>
                <a:cs typeface="Arial"/>
              </a:rPr>
              <a:t>:</a:t>
            </a:r>
            <a:endParaRPr lang="es-ES" sz="1600" b="1" spc="-5" dirty="0">
              <a:latin typeface="Arial"/>
              <a:cs typeface="Arial"/>
            </a:endParaRPr>
          </a:p>
          <a:p>
            <a:pPr marL="12700">
              <a:lnSpc>
                <a:spcPts val="1910"/>
              </a:lnSpc>
              <a:spcBef>
                <a:spcPts val="5"/>
              </a:spcBef>
            </a:pPr>
            <a:endParaRPr lang="es-ES" sz="1600" b="1" spc="-5" dirty="0">
              <a:latin typeface="Arial"/>
              <a:cs typeface="Arial"/>
            </a:endParaRPr>
          </a:p>
          <a:p>
            <a:pPr marL="12700">
              <a:lnSpc>
                <a:spcPts val="1910"/>
              </a:lnSpc>
              <a:spcBef>
                <a:spcPts val="5"/>
              </a:spcBef>
            </a:pPr>
            <a:endParaRPr sz="1600" dirty="0">
              <a:latin typeface="Arial"/>
              <a:cs typeface="Arial"/>
            </a:endParaRPr>
          </a:p>
          <a:p>
            <a:pPr marL="12700">
              <a:lnSpc>
                <a:spcPts val="1910"/>
              </a:lnSpc>
            </a:pPr>
            <a:r>
              <a:rPr sz="1600" b="1" spc="-5" dirty="0">
                <a:latin typeface="Arial"/>
                <a:cs typeface="Arial"/>
              </a:rPr>
              <a:t>metaphlan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SRS014476-Supragingival_plaque.fasta.gz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--input_type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fasta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&gt;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SRS014476-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600" b="1" spc="-5" dirty="0">
                <a:latin typeface="Arial"/>
                <a:cs typeface="Arial"/>
              </a:rPr>
              <a:t>Supragingival_plaque_profile.txt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Se </a:t>
            </a:r>
            <a:r>
              <a:rPr sz="1600" spc="-15" dirty="0">
                <a:latin typeface="Calibri"/>
                <a:cs typeface="Calibri"/>
              </a:rPr>
              <a:t>trata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una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muestra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metagenoma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humano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que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queremos hacer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</a:t>
            </a:r>
            <a:r>
              <a:rPr lang="es-ES" sz="1600" spc="-10" dirty="0">
                <a:latin typeface="Calibri"/>
                <a:cs typeface="Calibri"/>
              </a:rPr>
              <a:t>f</a:t>
            </a:r>
            <a:r>
              <a:rPr sz="1600" spc="-10" dirty="0" err="1">
                <a:latin typeface="Calibri"/>
                <a:cs typeface="Calibri"/>
              </a:rPr>
              <a:t>il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metagenómico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ts val="1900"/>
              </a:lnSpc>
            </a:pPr>
            <a:r>
              <a:rPr sz="1600" spc="-5" dirty="0">
                <a:latin typeface="Calibri"/>
                <a:cs typeface="Calibri"/>
              </a:rPr>
              <a:t>Como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 </a:t>
            </a:r>
            <a:r>
              <a:rPr sz="1600" spc="-5" dirty="0">
                <a:latin typeface="Calibri"/>
                <a:cs typeface="Calibri"/>
              </a:rPr>
              <a:t>la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primera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vez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que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lanzamos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MetaPhIan,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base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datos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genes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marcadores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ha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descargar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descompriir</a:t>
            </a:r>
            <a:r>
              <a:rPr sz="1600" dirty="0">
                <a:latin typeface="Calibri"/>
                <a:cs typeface="Calibri"/>
              </a:rPr>
              <a:t> e </a:t>
            </a:r>
            <a:r>
              <a:rPr sz="1600" spc="-30" dirty="0">
                <a:latin typeface="Calibri"/>
                <a:cs typeface="Calibri"/>
              </a:rPr>
              <a:t>indexar,</a:t>
            </a:r>
            <a:r>
              <a:rPr sz="1600" dirty="0">
                <a:latin typeface="Calibri"/>
                <a:cs typeface="Calibri"/>
              </a:rPr>
              <a:t> por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que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 err="1">
                <a:latin typeface="Calibri"/>
                <a:cs typeface="Calibri"/>
              </a:rPr>
              <a:t>tardará</a:t>
            </a:r>
            <a:r>
              <a:rPr sz="1600" spc="-15" dirty="0">
                <a:latin typeface="Calibri"/>
                <a:cs typeface="Calibri"/>
              </a:rPr>
              <a:t>.</a:t>
            </a:r>
            <a:endParaRPr lang="es-ES" sz="1600" spc="-15" dirty="0">
              <a:latin typeface="Calibri"/>
              <a:cs typeface="Calibri"/>
            </a:endParaRPr>
          </a:p>
          <a:p>
            <a:pPr marL="12700" marR="5080">
              <a:lnSpc>
                <a:spcPts val="1900"/>
              </a:lnSpc>
            </a:pPr>
            <a:r>
              <a:rPr lang="es-ES" sz="1600" b="1" spc="-1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NO LANZAREMOS ESTE COMANDO YA QUE EN LOS WORKSPACES NO SE DISPONE DE SUFICIENTE MEMORIA. ASI QUE TRABAJAREMOS A APRTIR DE LOS OUTPUTS (archivos .</a:t>
            </a:r>
            <a:r>
              <a:rPr lang="es-ES" sz="1600" b="1" spc="-15" dirty="0" err="1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txt</a:t>
            </a:r>
            <a:r>
              <a:rPr lang="es-ES" sz="1600" b="1" spc="-15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)</a:t>
            </a:r>
            <a:endParaRPr sz="16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Finalizaremos </a:t>
            </a:r>
            <a:r>
              <a:rPr sz="1600" spc="-5" dirty="0">
                <a:latin typeface="Calibri"/>
                <a:cs typeface="Calibri"/>
              </a:rPr>
              <a:t>aquí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sesión.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1882</Words>
  <Application>Microsoft Macintosh PowerPoint</Application>
  <PresentationFormat>Panorámica</PresentationFormat>
  <Paragraphs>258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8" baseType="lpstr">
      <vt:lpstr>Apex New</vt:lpstr>
      <vt:lpstr>Arial</vt:lpstr>
      <vt:lpstr>Arial MT</vt:lpstr>
      <vt:lpstr>Calibri</vt:lpstr>
      <vt:lpstr>Menlo</vt:lpstr>
      <vt:lpstr>Periodico Display</vt:lpstr>
      <vt:lpstr>Periodico Display UltraLight</vt:lpstr>
      <vt:lpstr>Visuelt Pro</vt:lpstr>
      <vt:lpstr>Office Theme</vt:lpstr>
      <vt:lpstr>Presentación de PowerPoint</vt:lpstr>
      <vt:lpstr>1. Introducción al análisis de datos ómicos de poblaciones.  Diseños experimentales</vt:lpstr>
      <vt:lpstr>Presentación de PowerPoint</vt:lpstr>
      <vt:lpstr>Final sesión 2</vt:lpstr>
      <vt:lpstr>Final sesión 2</vt:lpstr>
      <vt:lpstr>Final sesión 2</vt:lpstr>
      <vt:lpstr>Binning metagenómico</vt:lpstr>
      <vt:lpstr>Binning metagenómico</vt:lpstr>
      <vt:lpstr>Binning metagenómico</vt:lpstr>
      <vt:lpstr>Binning metagenómico</vt:lpstr>
      <vt:lpstr>Binning metagenómico</vt:lpstr>
      <vt:lpstr>Perfil taxonómico</vt:lpstr>
      <vt:lpstr>IMGs (integrated microbial  genomes)</vt:lpstr>
      <vt:lpstr>Perfil taxonómico</vt:lpstr>
      <vt:lpstr>Perfil taxonómico: Herramientas</vt:lpstr>
      <vt:lpstr>Perfil taxonómico: Herramientas</vt:lpstr>
      <vt:lpstr>Perfil taxonómico: Herramientas</vt:lpstr>
      <vt:lpstr>Perfil taxonómico: Herramientas</vt:lpstr>
      <vt:lpstr>Perfil taxonómico: Herramientas</vt:lpstr>
      <vt:lpstr>http://segatalab.cibio.unitn.it/data/Pasolli_et_al.html</vt:lpstr>
      <vt:lpstr>Perfil taxonómico: Herramientas</vt:lpstr>
      <vt:lpstr>Perfil taxonómico: Herramientas</vt:lpstr>
      <vt:lpstr>Presentación de PowerPoint</vt:lpstr>
      <vt:lpstr>Presentación de PowerPoint</vt:lpstr>
      <vt:lpstr>Perfil taxonómico: Herramientas</vt:lpstr>
      <vt:lpstr>Perfil taxonómico: Herramientas</vt:lpstr>
      <vt:lpstr>Presentación de PowerPoint</vt:lpstr>
      <vt:lpstr>HANDS ON: Perfil taxonómico. metaphIan</vt:lpstr>
      <vt:lpstr>HANDS ON: Perfil taxonómico. metaphIan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Máster en Bioinformática</dc:title>
  <cp:lastModifiedBy>Maria Lairon Peris</cp:lastModifiedBy>
  <cp:revision>10</cp:revision>
  <dcterms:created xsi:type="dcterms:W3CDTF">2023-09-26T08:01:48Z</dcterms:created>
  <dcterms:modified xsi:type="dcterms:W3CDTF">2024-05-01T10:14:26Z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2023-03-08T00:00:00Z</vt:filetime>
  </property>
  <property fmtid="{D5CDD505-2E9C-101B-9397-08002B2CF9AE}" pid="3" name="LastSaved">
    <vt:filetime>2023-09-26T00:00:00Z</vt:filetime>
  </property>
</Properties>
</file>