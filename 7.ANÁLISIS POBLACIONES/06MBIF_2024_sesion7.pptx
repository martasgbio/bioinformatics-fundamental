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82" r:id="rId5"/>
    <p:sldId id="257" r:id="rId6"/>
    <p:sldId id="41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34160" y="120240"/>
            <a:ext cx="11323080" cy="57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2B78233-A5DB-994B-BD41-02BB62B89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095" y="0"/>
            <a:ext cx="12204096" cy="6858000"/>
          </a:xfrm>
          <a:prstGeom prst="rect">
            <a:avLst/>
          </a:prstGeom>
        </p:spPr>
      </p:pic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902393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54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DF7306E1-EC40-8E43-99C5-762DD98192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893" y="1264063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spc="0" baseline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6E94D9-77ED-4844-97B3-F10D42E565D1}"/>
              </a:ext>
            </a:extLst>
          </p:cNvPr>
          <p:cNvSpPr txBox="1"/>
          <p:nvPr userDrawn="1"/>
        </p:nvSpPr>
        <p:spPr>
          <a:xfrm>
            <a:off x="329937" y="6202837"/>
            <a:ext cx="1259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98507C16-89E1-4D43-9171-A1CEEE7C010C}" type="datetime1">
              <a:rPr lang="es-ES" sz="1400" b="0" i="0" smtClean="0">
                <a:solidFill>
                  <a:schemeClr val="bg1"/>
                </a:solidFill>
                <a:latin typeface="Visuelt Pro" panose="020B0503040202040104" pitchFamily="34" charset="0"/>
                <a:cs typeface="Arial" panose="020B0604020202020204" pitchFamily="34" charset="0"/>
              </a:rPr>
              <a:t>9/11/24</a:t>
            </a:fld>
            <a:endParaRPr lang="es-ES" sz="14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907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34160" y="120240"/>
            <a:ext cx="11323080" cy="57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434160" y="120240"/>
            <a:ext cx="11323080" cy="57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434160" y="120240"/>
            <a:ext cx="11323080" cy="57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1800" b="0" strike="noStrike" spc="-1"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  <p:sp>
        <p:nvSpPr>
          <p:cNvPr id="16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adroTexto 20">
            <a:extLst>
              <a:ext uri="{FF2B5EF4-FFF2-40B4-BE49-F238E27FC236}">
                <a16:creationId xmlns:a16="http://schemas.microsoft.com/office/drawing/2014/main" id="{ECEBB2E2-DBE2-7D45-85D9-738DBA6B0366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fld id="{494B85F6-9C12-014E-82BC-60AF8367F8F5}" type="datetime1">
              <a:rPr lang="es-ES" sz="1200" b="0" i="0" smtClean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rPr>
              <a:t>9/11/24</a:t>
            </a:fld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2" name="Marcador de texto 25">
            <a:extLst>
              <a:ext uri="{FF2B5EF4-FFF2-40B4-BE49-F238E27FC236}">
                <a16:creationId xmlns:a16="http://schemas.microsoft.com/office/drawing/2014/main" id="{66002469-9E56-F043-A66E-8B630B63C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552BD7-4574-8743-9150-E62FBA47D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7A7AF40-AA69-3442-B768-E2C84B1E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30295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object 16"/>
          <p:cNvPicPr/>
          <p:nvPr/>
        </p:nvPicPr>
        <p:blipFill>
          <a:blip r:embed="rId15"/>
          <a:stretch/>
        </p:blipFill>
        <p:spPr>
          <a:xfrm>
            <a:off x="10952640" y="225000"/>
            <a:ext cx="1014840" cy="404640"/>
          </a:xfrm>
          <a:prstGeom prst="rect">
            <a:avLst/>
          </a:prstGeom>
          <a:ln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ES" sz="8000" b="0" strike="noStrike" spc="-1">
                <a:latin typeface="Calibri"/>
              </a:rPr>
              <a:t>Pulse para editar el formato del texto de título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2265840" y="1240560"/>
            <a:ext cx="7611480" cy="464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Séptimo nivel del esquema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ftr"/>
          </p:nvPr>
        </p:nvSpPr>
        <p:spPr>
          <a:xfrm>
            <a:off x="11360880" y="6426000"/>
            <a:ext cx="531720" cy="2109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8C3E0211-CC6D-4FF4-A6DC-5E377FAE9BFB}" type="slidenum">
              <a:rPr lang="es-ES" sz="1400" b="0" strike="noStrike" spc="-1">
                <a:solidFill>
                  <a:srgbClr val="B2B2B2"/>
                </a:solidFill>
                <a:latin typeface="Times New Roman"/>
              </a:rPr>
              <a:t>‹Nº›</a:t>
            </a:fld>
            <a:endParaRPr lang="es-E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70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bg object 16"/>
          <p:cNvPicPr/>
          <p:nvPr/>
        </p:nvPicPr>
        <p:blipFill>
          <a:blip r:embed="rId14"/>
          <a:stretch/>
        </p:blipFill>
        <p:spPr>
          <a:xfrm>
            <a:off x="10952640" y="225000"/>
            <a:ext cx="1014840" cy="404640"/>
          </a:xfrm>
          <a:prstGeom prst="rect">
            <a:avLst/>
          </a:prstGeom>
          <a:ln>
            <a:noFill/>
          </a:ln>
        </p:spPr>
      </p:pic>
      <p:pic>
        <p:nvPicPr>
          <p:cNvPr id="43" name="bg object 16"/>
          <p:cNvPicPr/>
          <p:nvPr/>
        </p:nvPicPr>
        <p:blipFill>
          <a:blip r:embed="rId15"/>
          <a:stretch/>
        </p:blipFill>
        <p:spPr>
          <a:xfrm>
            <a:off x="1038960" y="0"/>
            <a:ext cx="10046880" cy="4366080"/>
          </a:xfrm>
          <a:prstGeom prst="rect">
            <a:avLst/>
          </a:prstGeom>
          <a:ln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ftr"/>
          </p:nvPr>
        </p:nvSpPr>
        <p:spPr>
          <a:xfrm>
            <a:off x="11360880" y="6426000"/>
            <a:ext cx="531720" cy="2109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400" b="0" strike="noStrike" spc="-1"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5118EB09-3AE3-4E23-9E67-5B4008F02C4D}" type="slidenum">
              <a:rPr lang="es-ES" sz="1400" b="0" strike="noStrike" spc="-1">
                <a:solidFill>
                  <a:srgbClr val="B2B2B2"/>
                </a:solidFill>
                <a:latin typeface="Times New Roman"/>
              </a:rPr>
              <a:t>‹Nº›</a:t>
            </a:fld>
            <a:endParaRPr lang="es-ES" sz="14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1800" b="0" strike="noStrike" spc="-1">
                <a:latin typeface="Calibri"/>
              </a:rPr>
              <a:t>Pulse para editar el formato del texto de título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bg object 16"/>
          <p:cNvPicPr/>
          <p:nvPr/>
        </p:nvPicPr>
        <p:blipFill>
          <a:blip r:embed="rId14"/>
          <a:stretch/>
        </p:blipFill>
        <p:spPr>
          <a:xfrm>
            <a:off x="10952640" y="225000"/>
            <a:ext cx="1014840" cy="404640"/>
          </a:xfrm>
          <a:prstGeom prst="rect">
            <a:avLst/>
          </a:prstGeom>
          <a:ln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34160" y="120240"/>
            <a:ext cx="11323080" cy="1244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ES" sz="8000" b="0" strike="noStrike" spc="-1">
                <a:latin typeface="Calibri"/>
              </a:rPr>
              <a:t>Pulse para editar el formato del texto de título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ftr"/>
          </p:nvPr>
        </p:nvSpPr>
        <p:spPr>
          <a:xfrm>
            <a:off x="11360880" y="6426000"/>
            <a:ext cx="531720" cy="2109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400" b="0" strike="noStrike" spc="-1"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3273289F-64F7-48D0-8EF2-5871A5E21142}" type="slidenum">
              <a:rPr lang="es-ES" sz="1400" b="0" strike="noStrike" spc="-1">
                <a:solidFill>
                  <a:srgbClr val="B2B2B2"/>
                </a:solidFill>
                <a:latin typeface="Times New Roman"/>
              </a:rPr>
              <a:t>‹Nº›</a:t>
            </a:fld>
            <a:endParaRPr lang="es-ES" sz="1400" b="0" strike="noStrike" spc="-1"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10915560" y="6399360"/>
            <a:ext cx="105588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3560062C-5C15-4A5E-811B-3A9B387303C7}" type="datetime1">
              <a:rPr lang="es-ES" sz="1200" b="0" strike="noStrike" spc="-1">
                <a:solidFill>
                  <a:srgbClr val="000000"/>
                </a:solidFill>
                <a:latin typeface="Visuelt Pro"/>
              </a:rPr>
              <a:t>9/11/24</a:t>
            </a:fld>
            <a:endParaRPr lang="es-ES" sz="1200" b="0" strike="noStrike" spc="-1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257400" y="894240"/>
            <a:ext cx="4113720" cy="52344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3100" b="0" strike="noStrike" spc="-1">
                <a:solidFill>
                  <a:srgbClr val="E7E6E6"/>
                </a:solidFill>
                <a:latin typeface="Periodico Display"/>
              </a:rPr>
              <a:t>Título slide</a:t>
            </a:r>
            <a:endParaRPr lang="es-ES" sz="3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257400" y="306000"/>
            <a:ext cx="4159080" cy="2818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200" b="0" strike="noStrike" spc="-1">
                <a:solidFill>
                  <a:srgbClr val="E7E6E6"/>
                </a:solidFill>
                <a:latin typeface="Visuelt Pro"/>
              </a:rPr>
              <a:t>00. Título capítulo</a:t>
            </a:r>
            <a:endParaRPr lang="es-E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257400" y="6399360"/>
            <a:ext cx="4113720" cy="2764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200" b="0" strike="noStrike" spc="-1">
                <a:solidFill>
                  <a:srgbClr val="000000"/>
                </a:solidFill>
                <a:latin typeface="Visuelt Pro"/>
              </a:rPr>
              <a:t>Título presentación</a:t>
            </a:r>
            <a:endParaRPr lang="es-ES" sz="1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1" name="Imagen 8"/>
          <p:cNvPicPr/>
          <p:nvPr/>
        </p:nvPicPr>
        <p:blipFill>
          <a:blip r:embed="rId15"/>
          <a:stretch/>
        </p:blipFill>
        <p:spPr>
          <a:xfrm>
            <a:off x="10857600" y="126000"/>
            <a:ext cx="1204560" cy="602280"/>
          </a:xfrm>
          <a:prstGeom prst="rect">
            <a:avLst/>
          </a:prstGeom>
          <a:ln>
            <a:noFill/>
          </a:ln>
        </p:spPr>
      </p:pic>
      <p:sp>
        <p:nvSpPr>
          <p:cNvPr id="132" name="PlaceHolder 5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ES" sz="4400" b="0" strike="noStrike" spc="-1">
                <a:solidFill>
                  <a:srgbClr val="000000"/>
                </a:solidFill>
                <a:latin typeface="Calibri Light"/>
              </a:rPr>
              <a:t>Haga clic para modificar el estilo de título del patrón</a:t>
            </a:r>
            <a:endParaRPr lang="es-E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5911E35-1556-9C46-AA83-C01215B09DED}"/>
              </a:ext>
            </a:extLst>
          </p:cNvPr>
          <p:cNvSpPr txBox="1"/>
          <p:nvPr/>
        </p:nvSpPr>
        <p:spPr>
          <a:xfrm>
            <a:off x="5950478" y="4774872"/>
            <a:ext cx="426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pex New"/>
                <a:ea typeface="+mj-ea"/>
                <a:cs typeface="+mj-cs"/>
              </a:rPr>
              <a:t>Dra. María </a:t>
            </a:r>
            <a:r>
              <a:rPr lang="es-ES" dirty="0" err="1">
                <a:latin typeface="Apex New"/>
                <a:ea typeface="+mj-ea"/>
                <a:cs typeface="+mj-cs"/>
              </a:rPr>
              <a:t>Lairón</a:t>
            </a:r>
            <a:r>
              <a:rPr lang="es-ES" dirty="0">
                <a:latin typeface="Apex New"/>
                <a:ea typeface="+mj-ea"/>
                <a:cs typeface="+mj-cs"/>
              </a:rPr>
              <a:t> Peris</a:t>
            </a:r>
          </a:p>
          <a:p>
            <a:r>
              <a:rPr lang="es-ES" dirty="0" err="1">
                <a:latin typeface="Apex New"/>
                <a:ea typeface="+mj-ea"/>
                <a:cs typeface="+mj-cs"/>
              </a:rPr>
              <a:t>maria.lairon@professor.universidadviu.com</a:t>
            </a:r>
            <a:endParaRPr lang="es-ES" dirty="0">
              <a:latin typeface="Apex New"/>
              <a:ea typeface="+mj-ea"/>
              <a:cs typeface="+mj-cs"/>
            </a:endParaRPr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F5F6069F-BB47-E34D-A889-C63883D40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893" y="325097"/>
            <a:ext cx="11007170" cy="902393"/>
          </a:xfrm>
        </p:spPr>
        <p:txBody>
          <a:bodyPr/>
          <a:lstStyle/>
          <a:p>
            <a:r>
              <a:rPr lang="es-ES" sz="4800" dirty="0"/>
              <a:t>Máster en Bioinformática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1A0F4B86-AE2F-3948-8993-7AFE7A762C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794" y="1306974"/>
            <a:ext cx="11490411" cy="563602"/>
          </a:xfrm>
        </p:spPr>
        <p:txBody>
          <a:bodyPr/>
          <a:lstStyle/>
          <a:p>
            <a:r>
              <a:rPr lang="es-ES_tradnl" b="1" dirty="0"/>
              <a:t> </a:t>
            </a:r>
            <a:endParaRPr lang="es-ES" dirty="0"/>
          </a:p>
          <a:p>
            <a:r>
              <a:rPr lang="es-ES" b="1" dirty="0"/>
              <a:t> Análisis de datos </a:t>
            </a:r>
            <a:r>
              <a:rPr lang="es-ES" b="1" dirty="0" err="1"/>
              <a:t>ómicos</a:t>
            </a:r>
            <a:r>
              <a:rPr lang="es-ES" b="1" dirty="0"/>
              <a:t> para poblaciones</a:t>
            </a:r>
            <a:endParaRPr lang="es-ES" dirty="0"/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C6CD89A9-538F-A841-AA70-63BC030F6B98}"/>
              </a:ext>
            </a:extLst>
          </p:cNvPr>
          <p:cNvSpPr txBox="1">
            <a:spLocks/>
          </p:cNvSpPr>
          <p:nvPr/>
        </p:nvSpPr>
        <p:spPr>
          <a:xfrm>
            <a:off x="446893" y="2415023"/>
            <a:ext cx="3256828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kern="1200" spc="0" baseline="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Curso académico 2024-25</a:t>
            </a:r>
          </a:p>
        </p:txBody>
      </p:sp>
    </p:spTree>
    <p:extLst>
      <p:ext uri="{BB962C8B-B14F-4D97-AF65-F5344CB8AC3E}">
        <p14:creationId xmlns:p14="http://schemas.microsoft.com/office/powerpoint/2010/main" val="66365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300240" y="790920"/>
            <a:ext cx="138240" cy="181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ts val="1551"/>
              </a:lnSpc>
              <a:spcBef>
                <a:spcPts val="99"/>
              </a:spcBef>
            </a:pPr>
            <a:r>
              <a:rPr lang="es-ES" sz="1400" b="1" strike="noStrike" spc="-100">
                <a:latin typeface="Calibri"/>
              </a:rPr>
              <a:t>1.</a:t>
            </a:r>
            <a:endParaRPr lang="es-ES" sz="1400" b="0" strike="noStrike" spc="-1">
              <a:latin typeface="Arial"/>
            </a:endParaRPr>
          </a:p>
          <a:p>
            <a:pPr marL="12600">
              <a:lnSpc>
                <a:spcPts val="1355"/>
              </a:lnSpc>
            </a:pPr>
            <a:r>
              <a:rPr lang="es-ES" sz="1400" b="1" strike="noStrike" spc="-100">
                <a:latin typeface="Calibri"/>
              </a:rPr>
              <a:t>2.</a:t>
            </a:r>
            <a:endParaRPr lang="es-ES" sz="1400" b="0" strike="noStrike" spc="-1">
              <a:latin typeface="Arial"/>
            </a:endParaRPr>
          </a:p>
          <a:p>
            <a:pPr marL="12600">
              <a:lnSpc>
                <a:spcPts val="1295"/>
              </a:lnSpc>
            </a:pPr>
            <a:r>
              <a:rPr lang="es-ES" sz="1400" b="1" strike="noStrike" spc="-100">
                <a:latin typeface="Calibri"/>
              </a:rPr>
              <a:t>3.</a:t>
            </a:r>
            <a:endParaRPr lang="es-ES" sz="1400" b="0" strike="noStrike" spc="-1">
              <a:latin typeface="Arial"/>
            </a:endParaRPr>
          </a:p>
          <a:p>
            <a:pPr marL="12600">
              <a:lnSpc>
                <a:spcPts val="1344"/>
              </a:lnSpc>
            </a:pPr>
            <a:r>
              <a:rPr lang="es-ES" sz="1400" b="1" strike="noStrike" spc="-100">
                <a:latin typeface="Calibri"/>
              </a:rPr>
              <a:t>4.</a:t>
            </a:r>
            <a:endParaRPr lang="es-ES" sz="1400" b="0" strike="noStrike" spc="-1">
              <a:latin typeface="Arial"/>
            </a:endParaRPr>
          </a:p>
          <a:p>
            <a:pPr marL="12600">
              <a:lnSpc>
                <a:spcPts val="1536"/>
              </a:lnSpc>
            </a:pPr>
            <a:r>
              <a:rPr lang="es-ES" sz="1400" b="1" strike="noStrike" spc="-100">
                <a:latin typeface="Calibri"/>
              </a:rPr>
              <a:t>5.</a:t>
            </a:r>
            <a:endParaRPr lang="es-ES" sz="1400" b="0" strike="noStrike" spc="-1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1443240" y="790920"/>
            <a:ext cx="6057720" cy="144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rIns="0" bIns="0">
            <a:spAutoFit/>
          </a:bodyPr>
          <a:lstStyle/>
          <a:p>
            <a:pPr marL="12600">
              <a:lnSpc>
                <a:spcPts val="1420"/>
              </a:lnSpc>
              <a:spcBef>
                <a:spcPts val="360"/>
              </a:spcBef>
            </a:pPr>
            <a:r>
              <a:rPr lang="es-ES" sz="1400" b="1" strike="noStrike" spc="-100">
                <a:latin typeface="Calibri"/>
              </a:rPr>
              <a:t>Introducción</a:t>
            </a:r>
            <a:r>
              <a:rPr lang="es-ES" sz="1400" b="1" strike="noStrike" spc="-211">
                <a:latin typeface="Calibri"/>
              </a:rPr>
              <a:t> </a:t>
            </a:r>
            <a:r>
              <a:rPr lang="es-ES" sz="1400" b="1" strike="noStrike" spc="-55">
                <a:latin typeface="Calibri"/>
              </a:rPr>
              <a:t>al</a:t>
            </a:r>
            <a:r>
              <a:rPr lang="es-ES" sz="1400" b="1" strike="noStrike" spc="-197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análisis</a:t>
            </a:r>
            <a:r>
              <a:rPr lang="es-ES" sz="1400" b="1" strike="noStrike" spc="-202">
                <a:latin typeface="Calibri"/>
              </a:rPr>
              <a:t> </a:t>
            </a:r>
            <a:r>
              <a:rPr lang="es-ES" sz="1400" b="1" strike="noStrike" spc="-55">
                <a:latin typeface="Calibri"/>
              </a:rPr>
              <a:t>de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datos</a:t>
            </a:r>
            <a:r>
              <a:rPr lang="es-ES" sz="1400" b="1" strike="noStrike" spc="-197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ómicos</a:t>
            </a:r>
            <a:r>
              <a:rPr lang="es-ES" sz="1400" b="1" strike="noStrike" spc="-202">
                <a:latin typeface="Calibri"/>
              </a:rPr>
              <a:t> </a:t>
            </a:r>
            <a:r>
              <a:rPr lang="es-ES" sz="1400" b="1" strike="noStrike" spc="-55">
                <a:latin typeface="Calibri"/>
              </a:rPr>
              <a:t>de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97">
                <a:latin typeface="Calibri"/>
              </a:rPr>
              <a:t>poblaciones.</a:t>
            </a:r>
            <a:r>
              <a:rPr lang="es-ES" sz="1400" b="1" strike="noStrike" spc="-202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Diseños</a:t>
            </a:r>
            <a:r>
              <a:rPr lang="es-ES" sz="1400" b="1" strike="noStrike" spc="-202">
                <a:latin typeface="Calibri"/>
              </a:rPr>
              <a:t> </a:t>
            </a:r>
            <a:r>
              <a:rPr lang="es-ES" sz="1400" b="1" strike="noStrike" spc="-100">
                <a:latin typeface="Calibri"/>
              </a:rPr>
              <a:t>experimentales </a:t>
            </a:r>
            <a:r>
              <a:rPr lang="es-ES" sz="1400" b="1" strike="noStrike" spc="-301">
                <a:latin typeface="Calibri"/>
              </a:rPr>
              <a:t> </a:t>
            </a:r>
            <a:r>
              <a:rPr lang="es-ES" sz="1400" b="1" strike="noStrike" spc="-100">
                <a:latin typeface="Calibri"/>
              </a:rPr>
              <a:t>Metagenómica</a:t>
            </a:r>
            <a:r>
              <a:rPr lang="es-ES" sz="1400" b="1" strike="noStrike" spc="-211">
                <a:latin typeface="Calibri"/>
              </a:rPr>
              <a:t> </a:t>
            </a:r>
            <a:r>
              <a:rPr lang="es-ES" sz="1400" b="1" i="1" strike="noStrike" spc="-86">
                <a:latin typeface="Calibri"/>
              </a:rPr>
              <a:t>(wholegenomesequencing</a:t>
            </a:r>
            <a:r>
              <a:rPr lang="es-ES" sz="1400" b="1" strike="noStrike" spc="-86">
                <a:latin typeface="Calibri"/>
              </a:rPr>
              <a:t>)</a:t>
            </a:r>
            <a:endParaRPr lang="es-ES" sz="1400" b="0" strike="noStrike" spc="-1">
              <a:latin typeface="Arial"/>
            </a:endParaRPr>
          </a:p>
          <a:p>
            <a:pPr marL="12600">
              <a:lnSpc>
                <a:spcPts val="1094"/>
              </a:lnSpc>
            </a:pPr>
            <a:r>
              <a:rPr lang="es-ES" sz="1400" b="1" strike="noStrike" spc="-106">
                <a:latin typeface="Calibri"/>
              </a:rPr>
              <a:t>Metataxonómica</a:t>
            </a:r>
            <a:endParaRPr lang="es-ES" sz="1400" b="0" strike="noStrike" spc="-1">
              <a:latin typeface="Arial"/>
            </a:endParaRPr>
          </a:p>
          <a:p>
            <a:pPr marL="12600">
              <a:lnSpc>
                <a:spcPts val="1389"/>
              </a:lnSpc>
              <a:spcBef>
                <a:spcPts val="99"/>
              </a:spcBef>
            </a:pPr>
            <a:r>
              <a:rPr lang="es-ES" sz="1400" b="1" strike="noStrike" spc="-92">
                <a:latin typeface="Calibri"/>
              </a:rPr>
              <a:t>Análisis</a:t>
            </a:r>
            <a:r>
              <a:rPr lang="es-ES" sz="1400" b="1" strike="noStrike" spc="-185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einterpretación</a:t>
            </a:r>
            <a:r>
              <a:rPr lang="es-ES" sz="1400" b="1" strike="noStrike" spc="-185">
                <a:latin typeface="Calibri"/>
              </a:rPr>
              <a:t> </a:t>
            </a:r>
            <a:r>
              <a:rPr lang="es-ES" sz="1400" b="1" strike="noStrike" spc="-97">
                <a:latin typeface="Calibri"/>
              </a:rPr>
              <a:t>biológica</a:t>
            </a:r>
            <a:r>
              <a:rPr lang="es-ES" sz="1400" b="1" strike="noStrike" spc="-197">
                <a:latin typeface="Calibri"/>
              </a:rPr>
              <a:t> </a:t>
            </a:r>
            <a:r>
              <a:rPr lang="es-ES" sz="1400" b="1" strike="noStrike" spc="-55">
                <a:latin typeface="Calibri"/>
              </a:rPr>
              <a:t>de</a:t>
            </a:r>
            <a:r>
              <a:rPr lang="es-ES" sz="1400" b="1" strike="noStrike" spc="-191">
                <a:latin typeface="Calibri"/>
              </a:rPr>
              <a:t> </a:t>
            </a:r>
            <a:r>
              <a:rPr lang="es-ES" sz="1400" b="1" strike="noStrike" spc="-100">
                <a:latin typeface="Calibri"/>
              </a:rPr>
              <a:t>resultados,</a:t>
            </a:r>
            <a:r>
              <a:rPr lang="es-ES" sz="1400" b="1" strike="noStrike" spc="-191">
                <a:latin typeface="Calibri"/>
              </a:rPr>
              <a:t> </a:t>
            </a:r>
            <a:r>
              <a:rPr lang="es-ES" sz="1400" b="1" strike="noStrike" spc="-97">
                <a:latin typeface="Calibri"/>
              </a:rPr>
              <a:t>principales</a:t>
            </a:r>
            <a:r>
              <a:rPr lang="es-ES" sz="1400" b="1" strike="noStrike" spc="-182">
                <a:latin typeface="Calibri"/>
              </a:rPr>
              <a:t> </a:t>
            </a:r>
            <a:r>
              <a:rPr lang="es-ES" sz="1400" b="1" strike="noStrike" spc="-100">
                <a:latin typeface="Calibri"/>
              </a:rPr>
              <a:t>herramientas</a:t>
            </a:r>
            <a:r>
              <a:rPr lang="es-ES" sz="1400" b="1" strike="noStrike" spc="-182">
                <a:latin typeface="Calibri"/>
              </a:rPr>
              <a:t> </a:t>
            </a:r>
            <a:r>
              <a:rPr lang="es-ES" sz="1400" b="1" strike="noStrike" spc="-55">
                <a:latin typeface="Calibri"/>
              </a:rPr>
              <a:t>de</a:t>
            </a:r>
            <a:r>
              <a:rPr lang="es-ES" sz="1400" b="1" strike="noStrike" spc="-197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análisis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100">
                <a:latin typeface="Calibri"/>
              </a:rPr>
              <a:t>bioestadístico </a:t>
            </a:r>
            <a:r>
              <a:rPr lang="es-ES" sz="1400" b="1" strike="noStrike" spc="-97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Otras</a:t>
            </a:r>
            <a:r>
              <a:rPr lang="es-ES" sz="1400" b="1" strike="noStrike" spc="-202">
                <a:latin typeface="Calibri"/>
              </a:rPr>
              <a:t> </a:t>
            </a:r>
            <a:r>
              <a:rPr lang="es-ES" sz="1400" b="1" strike="noStrike" spc="-100">
                <a:latin typeface="Calibri"/>
              </a:rPr>
              <a:t>herramientas</a:t>
            </a:r>
            <a:r>
              <a:rPr lang="es-ES" sz="1400" b="1" strike="noStrike" spc="-202">
                <a:latin typeface="Calibri"/>
              </a:rPr>
              <a:t> </a:t>
            </a:r>
            <a:r>
              <a:rPr lang="es-ES" sz="1400" b="1" strike="noStrike" spc="-80">
                <a:latin typeface="Calibri"/>
              </a:rPr>
              <a:t>einterfaces</a:t>
            </a:r>
            <a:r>
              <a:rPr lang="es-ES" sz="1400" b="1" strike="noStrike" spc="-197">
                <a:latin typeface="Calibri"/>
              </a:rPr>
              <a:t> </a:t>
            </a:r>
            <a:r>
              <a:rPr lang="es-ES" sz="1400" b="1" strike="noStrike" spc="-80">
                <a:latin typeface="Calibri"/>
              </a:rPr>
              <a:t>web</a:t>
            </a:r>
            <a:r>
              <a:rPr lang="es-ES" sz="1400" b="1" strike="noStrike" spc="-211">
                <a:latin typeface="Calibri"/>
              </a:rPr>
              <a:t> </a:t>
            </a:r>
            <a:r>
              <a:rPr lang="es-ES" sz="1400" b="1" strike="noStrike" spc="-86">
                <a:latin typeface="Calibri"/>
              </a:rPr>
              <a:t>para</a:t>
            </a:r>
            <a:r>
              <a:rPr lang="es-ES" sz="1400" b="1" strike="noStrike" spc="-211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llevar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1">
                <a:latin typeface="Calibri"/>
              </a:rPr>
              <a:t>a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80">
                <a:latin typeface="Calibri"/>
              </a:rPr>
              <a:t>cabo</a:t>
            </a:r>
            <a:r>
              <a:rPr lang="es-ES" sz="1400" b="1" strike="noStrike" spc="-211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análisis</a:t>
            </a:r>
            <a:r>
              <a:rPr lang="es-ES" sz="1400" b="1" strike="noStrike" spc="-202">
                <a:latin typeface="Calibri"/>
              </a:rPr>
              <a:t> </a:t>
            </a:r>
            <a:r>
              <a:rPr lang="es-ES" sz="1400" b="1" strike="noStrike" spc="-55">
                <a:latin typeface="Calibri"/>
              </a:rPr>
              <a:t>en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97">
                <a:latin typeface="Calibri"/>
              </a:rPr>
              <a:t>estudios</a:t>
            </a:r>
            <a:r>
              <a:rPr lang="es-ES" sz="1400" b="1" strike="noStrike" spc="-191">
                <a:latin typeface="Calibri"/>
              </a:rPr>
              <a:t> </a:t>
            </a:r>
            <a:r>
              <a:rPr lang="es-ES" sz="1400" b="1" strike="noStrike" spc="-92">
                <a:latin typeface="Calibri"/>
              </a:rPr>
              <a:t>ómicos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55">
                <a:latin typeface="Calibri"/>
              </a:rPr>
              <a:t>de</a:t>
            </a:r>
            <a:r>
              <a:rPr lang="es-ES" sz="1400" b="1" strike="noStrike" spc="-205">
                <a:latin typeface="Calibri"/>
              </a:rPr>
              <a:t> </a:t>
            </a:r>
            <a:r>
              <a:rPr lang="es-ES" sz="1400" b="1" strike="noStrike" spc="-97">
                <a:latin typeface="Calibri"/>
              </a:rPr>
              <a:t>poblaciones</a:t>
            </a:r>
            <a:endParaRPr lang="es-ES" sz="1400" b="0" strike="noStrike" spc="-1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406800" y="6409440"/>
            <a:ext cx="924120" cy="37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200" b="0" strike="noStrike" spc="-12">
                <a:latin typeface="Calibri"/>
              </a:rPr>
              <a:t>Curso</a:t>
            </a:r>
            <a:r>
              <a:rPr lang="es-ES" sz="1200" b="0" strike="noStrike" spc="-35">
                <a:latin typeface="Calibri"/>
              </a:rPr>
              <a:t> </a:t>
            </a:r>
            <a:r>
              <a:rPr lang="es-ES" sz="1200" b="0" strike="noStrike" spc="-7">
                <a:latin typeface="Calibri"/>
              </a:rPr>
              <a:t>2022-23</a:t>
            </a:r>
            <a:endParaRPr lang="es-E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552A25-CDC3-AB44-9550-30A184450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7464" y="327710"/>
            <a:ext cx="7800687" cy="730787"/>
          </a:xfrm>
        </p:spPr>
        <p:txBody>
          <a:bodyPr/>
          <a:lstStyle/>
          <a:p>
            <a:r>
              <a:rPr lang="es-ES_tradnl" sz="2000" b="1" dirty="0"/>
              <a:t>Planificación de las sesiones</a:t>
            </a:r>
          </a:p>
          <a:p>
            <a:endParaRPr lang="es-ES" sz="2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FCBDE14-640F-6849-B588-F8CC5F228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052172"/>
              </p:ext>
            </p:extLst>
          </p:nvPr>
        </p:nvGraphicFramePr>
        <p:xfrm>
          <a:off x="1326141" y="637308"/>
          <a:ext cx="8522938" cy="6039043"/>
        </p:xfrm>
        <a:graphic>
          <a:graphicData uri="http://schemas.openxmlformats.org/drawingml/2006/table">
            <a:tbl>
              <a:tblPr>
                <a:effectLst/>
                <a:tableStyleId>{073A0DAA-6AF3-43AB-8588-CEC1D06C72B9}</a:tableStyleId>
              </a:tblPr>
              <a:tblGrid>
                <a:gridCol w="2250284">
                  <a:extLst>
                    <a:ext uri="{9D8B030D-6E8A-4147-A177-3AD203B41FA5}">
                      <a16:colId xmlns:a16="http://schemas.microsoft.com/office/drawing/2014/main" val="3185949673"/>
                    </a:ext>
                  </a:extLst>
                </a:gridCol>
                <a:gridCol w="1440711">
                  <a:extLst>
                    <a:ext uri="{9D8B030D-6E8A-4147-A177-3AD203B41FA5}">
                      <a16:colId xmlns:a16="http://schemas.microsoft.com/office/drawing/2014/main" val="870755196"/>
                    </a:ext>
                  </a:extLst>
                </a:gridCol>
                <a:gridCol w="4831943">
                  <a:extLst>
                    <a:ext uri="{9D8B030D-6E8A-4147-A177-3AD203B41FA5}">
                      <a16:colId xmlns:a16="http://schemas.microsoft.com/office/drawing/2014/main" val="3537705430"/>
                    </a:ext>
                  </a:extLst>
                </a:gridCol>
              </a:tblGrid>
              <a:tr h="58305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Fecha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Contenido/Tema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2877979889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</a:t>
                      </a:r>
                      <a:endParaRPr lang="es-E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16/09/2024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Tutoría colectiva / Introducción Asignatura</a:t>
                      </a:r>
                      <a:r>
                        <a:rPr lang="es-ES" sz="800" b="0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.</a:t>
                      </a:r>
                      <a:r>
                        <a:rPr lang="es-ES" sz="1050" b="0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 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184670330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2</a:t>
                      </a:r>
                      <a:endParaRPr lang="es-E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18/09/2024</a:t>
                      </a:r>
                      <a:endParaRPr lang="es-E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</a:rPr>
                        <a:t>Diseños experimentales- Metagenómica</a:t>
                      </a:r>
                      <a:endParaRPr lang="es-ES" sz="1050" b="0" strike="noStrike" spc="-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966458192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3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23/09/2024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Metagenómica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3433042498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4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25/09/2024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Metagenómica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854527061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5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30/09/2024</a:t>
                      </a:r>
                      <a:endParaRPr lang="es-ES" sz="105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 err="1">
                          <a:latin typeface="Arial"/>
                          <a:ea typeface="Times New Roman"/>
                        </a:rPr>
                        <a:t>Metagenonómica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1465065924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6</a:t>
                      </a:r>
                      <a:endParaRPr lang="es-ES" sz="105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02/10/2024</a:t>
                      </a:r>
                      <a:endParaRPr lang="es-ES" sz="105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s-ES" sz="1050" b="0" strike="noStrike" spc="-1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</a:rPr>
                        <a:t>Metagenómica- Metataxonómica</a:t>
                      </a:r>
                      <a:endParaRPr lang="es-ES" sz="1050" b="0" strike="noStrike" spc="-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2272005042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7</a:t>
                      </a:r>
                      <a:endParaRPr lang="es-ES" sz="105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07/10/2024</a:t>
                      </a:r>
                      <a:endParaRPr lang="es-ES" sz="105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strike="noStrike" spc="-35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Da</a:t>
                      </a:r>
                      <a:r>
                        <a:rPr lang="es-ES" sz="1100" b="1" strike="noStrike" spc="-32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d</a:t>
                      </a:r>
                      <a:r>
                        <a:rPr lang="es-ES" sz="1100" b="1" strike="noStrike" spc="-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a</a:t>
                      </a:r>
                      <a:r>
                        <a:rPr lang="es-ES" sz="1100" b="1" strike="noStrike" spc="-46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 </a:t>
                      </a:r>
                      <a:r>
                        <a:rPr lang="es-ES" sz="1100" b="1" strike="noStrike" spc="-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2</a:t>
                      </a:r>
                      <a:r>
                        <a:rPr lang="es-ES" sz="1100" b="1" strike="noStrike" spc="-35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 </a:t>
                      </a:r>
                      <a:r>
                        <a:rPr lang="es-ES" sz="1100" b="1" strike="noStrike" spc="-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&amp;</a:t>
                      </a:r>
                      <a:r>
                        <a:rPr lang="es-ES" sz="1100" b="1" strike="noStrike" spc="-52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 </a:t>
                      </a:r>
                      <a:r>
                        <a:rPr lang="es-ES" sz="1100" b="1" strike="noStrike" spc="-32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en</a:t>
                      </a:r>
                      <a:r>
                        <a:rPr lang="es-ES" sz="1100" b="1" strike="noStrike" spc="-26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v</a:t>
                      </a:r>
                      <a:r>
                        <a:rPr lang="es-ES" sz="1100" b="1" strike="noStrike" spc="-12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i</a:t>
                      </a:r>
                      <a:r>
                        <a:rPr lang="es-ES" sz="1100" b="1" strike="noStrike" spc="-2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r</a:t>
                      </a:r>
                      <a:r>
                        <a:rPr lang="es-ES" sz="1100" b="1" strike="noStrike" spc="-32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on</a:t>
                      </a:r>
                      <a:r>
                        <a:rPr lang="es-ES" sz="1100" b="1" strike="noStrike" spc="-46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m</a:t>
                      </a:r>
                      <a:r>
                        <a:rPr lang="es-ES" sz="1100" b="1" strike="noStrike" spc="-32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en</a:t>
                      </a:r>
                      <a:r>
                        <a:rPr lang="es-ES" sz="1100" b="1" strike="noStrike" spc="-2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t</a:t>
                      </a:r>
                      <a:r>
                        <a:rPr lang="es-ES" sz="1100" b="1" strike="noStrike" spc="-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/>
                          <a:ea typeface="Times New Roman"/>
                        </a:rPr>
                        <a:t>s</a:t>
                      </a:r>
                      <a:endParaRPr lang="es-ES" sz="1100" b="1" strike="noStrike" spc="-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1904226495"/>
                  </a:ext>
                </a:extLst>
              </a:tr>
              <a:tr h="805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8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</a:rPr>
                        <a:t>Dada 2 &amp; QIIME 2 – Práctica I</a:t>
                      </a:r>
                      <a:endParaRPr lang="es-ES" sz="1050" b="0" strike="noStrike" spc="-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3621947217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9</a:t>
                      </a:r>
                      <a:endParaRPr lang="es-ES" sz="105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</a:rPr>
                        <a:t>QIIME 2 – Práctica II</a:t>
                      </a:r>
                      <a:endParaRPr lang="es-ES" sz="1050" b="0" strike="noStrike" spc="-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611405790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10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Análisis e interpretación de resultados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3971261339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11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Análisis e interpretación de resultados- Práctica I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2516555305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12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s-ES" sz="1050" b="0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Análisis e interpretación de resultados- Práctica II</a:t>
                      </a:r>
                      <a:endParaRPr lang="es-ES" sz="1050" b="0" strike="noStrike" spc="-1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2327636368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13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30/10/2024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s-ES" sz="105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Tutoría colectiva</a:t>
                      </a:r>
                      <a:endParaRPr lang="es-ES" sz="1050" b="0" strike="noStrike" spc="-1" dirty="0">
                        <a:latin typeface="Times New Roman"/>
                      </a:endParaRPr>
                    </a:p>
                  </a:txBody>
                  <a:tcPr marL="68400" marR="68400"/>
                </a:tc>
                <a:extLst>
                  <a:ext uri="{0D108BD9-81ED-4DB2-BD59-A6C34878D82A}">
                    <a16:rowId xmlns:a16="http://schemas.microsoft.com/office/drawing/2014/main" val="486723286"/>
                  </a:ext>
                </a:extLst>
              </a:tr>
            </a:tbl>
          </a:graphicData>
        </a:graphic>
      </p:graphicFrame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03EF7D3-2AC0-C040-9834-4C38EA06FB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/>
              <a:t>SESIÓN 7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891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FF0000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FF0000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FF0000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FF0000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181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182" name="CustomShape 3"/>
          <p:cNvSpPr/>
          <p:nvPr/>
        </p:nvSpPr>
        <p:spPr>
          <a:xfrm>
            <a:off x="2203200" y="996120"/>
            <a:ext cx="7896960" cy="249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1" strike="noStrike" spc="-35">
                <a:solidFill>
                  <a:srgbClr val="2C3E50"/>
                </a:solidFill>
                <a:latin typeface="Calibri"/>
              </a:rPr>
              <a:t>PASO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1: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ABRIR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RSTUDIO,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UN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NUEVO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SCRIPT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E </a:t>
            </a:r>
            <a:r>
              <a:rPr lang="es-ES" sz="1800" b="1" strike="noStrike" spc="-26">
                <a:solidFill>
                  <a:srgbClr val="2C3E50"/>
                </a:solidFill>
                <a:latin typeface="Calibri"/>
              </a:rPr>
              <a:t>INSTALAR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26">
                <a:solidFill>
                  <a:srgbClr val="2C3E50"/>
                </a:solidFill>
                <a:latin typeface="Calibri"/>
              </a:rPr>
              <a:t>DADA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2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R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2000"/>
              </a:lnSpc>
            </a:pP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conda</a:t>
            </a:r>
            <a:r>
              <a:rPr lang="es-ES" sz="1800" b="1" strike="noStrike" spc="12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create</a:t>
            </a:r>
            <a:r>
              <a:rPr lang="es-ES" sz="1800" b="1" strike="noStrike" spc="18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-n</a:t>
            </a:r>
            <a:r>
              <a:rPr lang="es-ES" sz="1800" b="1" strike="noStrike" spc="18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dada2-v1.14</a:t>
            </a:r>
            <a:r>
              <a:rPr lang="es-ES" sz="1800" b="1" strike="noStrike" spc="18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-c</a:t>
            </a:r>
            <a:r>
              <a:rPr lang="es-ES" sz="1800" b="1" strike="noStrike" spc="12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conda-forge</a:t>
            </a:r>
            <a:r>
              <a:rPr lang="es-ES" sz="1800" b="1" strike="noStrike" spc="18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-c</a:t>
            </a:r>
            <a:r>
              <a:rPr lang="es-ES" sz="1800" b="1" strike="noStrike" spc="18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bioconda</a:t>
            </a:r>
            <a:r>
              <a:rPr lang="es-ES" sz="1800" b="1" strike="noStrike" spc="18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-c </a:t>
            </a:r>
            <a:r>
              <a:rPr lang="es-ES" sz="1800" b="1" strike="noStrike" spc="-1067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defaults</a:t>
            </a:r>
            <a:r>
              <a:rPr lang="es-ES" sz="1800" b="1" strike="noStrike" spc="9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--override-channels</a:t>
            </a:r>
            <a:r>
              <a:rPr lang="es-ES" sz="1800" b="1" strike="noStrike" spc="12">
                <a:solidFill>
                  <a:srgbClr val="2C3E50"/>
                </a:solidFill>
                <a:latin typeface="Courier New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ourier New"/>
              </a:rPr>
              <a:t>bioconductor-dada2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1" strike="noStrike" spc="-7">
                <a:solidFill>
                  <a:srgbClr val="2C3E50"/>
                </a:solidFill>
                <a:latin typeface="Arial"/>
              </a:rPr>
              <a:t>Alternativamente: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conda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env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create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-f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ourier New"/>
              </a:rPr>
              <a:t>dada2-v1.14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.yml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Shape 1"/>
          <p:cNvSpPr txBox="1"/>
          <p:nvPr/>
        </p:nvSpPr>
        <p:spPr>
          <a:xfrm>
            <a:off x="731880" y="493200"/>
            <a:ext cx="541548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41">
                <a:solidFill>
                  <a:srgbClr val="FF0000"/>
                </a:solidFill>
                <a:latin typeface="Calibri"/>
              </a:rPr>
              <a:t>PARA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SESIONES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SIGUIENTES:</a:t>
            </a:r>
            <a:r>
              <a:rPr lang="es-ES" sz="1800" b="0" strike="noStrike" spc="12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FF0000"/>
                </a:solidFill>
                <a:latin typeface="Calibri"/>
              </a:rPr>
              <a:t>PROBAR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Environment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qiime2</a:t>
            </a:r>
            <a:endParaRPr lang="es-ES" sz="1800" b="0" strike="noStrike" spc="-1">
              <a:latin typeface="Calibri"/>
            </a:endParaRPr>
          </a:p>
        </p:txBody>
      </p:sp>
      <p:sp>
        <p:nvSpPr>
          <p:cNvPr id="184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185" name="CustomShape 3"/>
          <p:cNvSpPr/>
          <p:nvPr/>
        </p:nvSpPr>
        <p:spPr>
          <a:xfrm>
            <a:off x="731880" y="1319400"/>
            <a:ext cx="10726560" cy="13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>
            <a:spAutoFit/>
          </a:bodyPr>
          <a:lstStyle/>
          <a:p>
            <a:pPr marL="12600" algn="just">
              <a:lnSpc>
                <a:spcPct val="100000"/>
              </a:lnSpc>
              <a:spcBef>
                <a:spcPts val="91"/>
              </a:spcBef>
            </a:pPr>
            <a:r>
              <a:rPr lang="es-ES" sz="1800" b="0" strike="noStrike" spc="-7">
                <a:latin typeface="Arial MT"/>
              </a:rPr>
              <a:t>Para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utilizar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QIIME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2,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primero</a:t>
            </a:r>
            <a:r>
              <a:rPr lang="es-ES" sz="1800" b="0" strike="noStrike" spc="248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tenemos</a:t>
            </a:r>
            <a:r>
              <a:rPr lang="es-ES" sz="1800" b="0" strike="noStrike" spc="239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que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instalarlo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en</a:t>
            </a:r>
            <a:r>
              <a:rPr lang="es-ES" sz="1800" b="0" strike="noStrike" spc="248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un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ambiente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de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conda.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En</a:t>
            </a:r>
            <a:r>
              <a:rPr lang="es-ES" sz="1800" b="0" strike="noStrike" spc="248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Campus</a:t>
            </a:r>
            <a:r>
              <a:rPr lang="es-ES" sz="1800" b="0" strike="noStrike" spc="248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virtual</a:t>
            </a:r>
            <a:r>
              <a:rPr lang="es-ES" sz="1800" b="0" strike="noStrike" spc="242">
                <a:latin typeface="Arial MT"/>
              </a:rPr>
              <a:t> </a:t>
            </a:r>
            <a:r>
              <a:rPr lang="es-ES" sz="1800" b="0" strike="noStrike" spc="-1">
                <a:latin typeface="Arial MT"/>
              </a:rPr>
              <a:t>&gt; </a:t>
            </a:r>
            <a:r>
              <a:rPr lang="es-ES" sz="1800" b="0" strike="noStrike" spc="-49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Aula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de</a:t>
            </a:r>
            <a:r>
              <a:rPr lang="es-ES" sz="1800" b="0" strike="noStrike" spc="-1">
                <a:latin typeface="Arial MT"/>
              </a:rPr>
              <a:t> la</a:t>
            </a:r>
            <a:r>
              <a:rPr lang="es-ES" sz="1800" b="0" strike="noStrike" spc="4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asignatura</a:t>
            </a:r>
            <a:r>
              <a:rPr lang="es-ES" sz="1800" b="0" strike="noStrike" spc="-1">
                <a:latin typeface="Arial MT"/>
              </a:rPr>
              <a:t> &gt;</a:t>
            </a:r>
            <a:r>
              <a:rPr lang="es-ES" sz="1800" b="0" strike="noStrike" spc="4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Recursos</a:t>
            </a:r>
            <a:r>
              <a:rPr lang="es-ES" sz="1800" b="0" strike="noStrike" spc="-1">
                <a:latin typeface="Arial MT"/>
              </a:rPr>
              <a:t> y</a:t>
            </a:r>
            <a:r>
              <a:rPr lang="es-ES" sz="1800" b="0" strike="noStrike" spc="4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materiales</a:t>
            </a:r>
            <a:r>
              <a:rPr lang="es-ES" sz="1800" b="0" strike="noStrike" spc="-1">
                <a:latin typeface="Arial MT"/>
              </a:rPr>
              <a:t> se</a:t>
            </a:r>
            <a:r>
              <a:rPr lang="es-ES" sz="1800" b="0" strike="noStrike" spc="4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localiza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el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archivo: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qiime2-2021.4.yml.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Una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vez </a:t>
            </a:r>
            <a:r>
              <a:rPr lang="es-ES" sz="1800" b="0" strike="noStrike" spc="-49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descargado tenemos que crear este ambiente con </a:t>
            </a:r>
            <a:r>
              <a:rPr lang="es-ES" sz="1800" b="0" strike="noStrike" spc="-1">
                <a:latin typeface="Arial MT"/>
              </a:rPr>
              <a:t>la </a:t>
            </a:r>
            <a:r>
              <a:rPr lang="es-ES" sz="1800" b="0" strike="noStrike" spc="-7">
                <a:latin typeface="Arial MT"/>
              </a:rPr>
              <a:t>siguiente orden de comando, </a:t>
            </a:r>
            <a:r>
              <a:rPr lang="es-ES" sz="1800" b="0" strike="noStrike" spc="-1">
                <a:latin typeface="Arial MT"/>
              </a:rPr>
              <a:t>y </a:t>
            </a:r>
            <a:r>
              <a:rPr lang="es-ES" sz="1800" b="0" strike="noStrike" spc="-7">
                <a:latin typeface="Arial MT"/>
              </a:rPr>
              <a:t>luego activarlo </a:t>
            </a:r>
            <a:r>
              <a:rPr lang="es-ES" sz="1800" b="0" strike="noStrike" spc="-1">
                <a:latin typeface="Arial MT"/>
              </a:rPr>
              <a:t>y </a:t>
            </a:r>
            <a:r>
              <a:rPr lang="es-ES" sz="1800" b="0" strike="noStrike" spc="4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desactivarlo al acabar </a:t>
            </a:r>
            <a:r>
              <a:rPr lang="es-ES" sz="1800" b="0" strike="noStrike" spc="-1">
                <a:latin typeface="Arial MT"/>
              </a:rPr>
              <a:t>la</a:t>
            </a:r>
            <a:r>
              <a:rPr lang="es-ES" sz="1800" b="0" strike="noStrike" spc="-7">
                <a:latin typeface="Arial MT"/>
              </a:rPr>
              <a:t> práctica con estas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dos siguientes órdenes.</a:t>
            </a:r>
            <a:endParaRPr lang="es-ES" sz="1800" b="0" strike="noStrike" spc="-1">
              <a:latin typeface="Arial"/>
            </a:endParaRPr>
          </a:p>
        </p:txBody>
      </p:sp>
      <p:sp>
        <p:nvSpPr>
          <p:cNvPr id="186" name="CustomShape 4"/>
          <p:cNvSpPr/>
          <p:nvPr/>
        </p:nvSpPr>
        <p:spPr>
          <a:xfrm>
            <a:off x="731880" y="2678760"/>
            <a:ext cx="707760" cy="137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>
            <a:spAutoFit/>
          </a:bodyPr>
          <a:lstStyle/>
          <a:p>
            <a:pPr marL="12600" algn="just">
              <a:lnSpc>
                <a:spcPct val="99000"/>
              </a:lnSpc>
              <a:spcBef>
                <a:spcPts val="111"/>
              </a:spcBef>
            </a:pPr>
            <a:r>
              <a:rPr lang="es-ES" sz="1800" b="0" strike="noStrike" spc="-12">
                <a:latin typeface="Courier New"/>
              </a:rPr>
              <a:t>conda  conda  conda</a:t>
            </a:r>
            <a:endParaRPr lang="es-ES" sz="1800" b="0" strike="noStrike" spc="-1">
              <a:latin typeface="Arial"/>
            </a:endParaRPr>
          </a:p>
        </p:txBody>
      </p:sp>
      <p:sp>
        <p:nvSpPr>
          <p:cNvPr id="187" name="CustomShape 5"/>
          <p:cNvSpPr/>
          <p:nvPr/>
        </p:nvSpPr>
        <p:spPr>
          <a:xfrm>
            <a:off x="1550880" y="2678760"/>
            <a:ext cx="4257360" cy="828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>
            <a:spAutoFit/>
          </a:bodyPr>
          <a:lstStyle/>
          <a:p>
            <a:pPr marL="12600">
              <a:lnSpc>
                <a:spcPct val="99000"/>
              </a:lnSpc>
              <a:spcBef>
                <a:spcPts val="111"/>
              </a:spcBef>
            </a:pPr>
            <a:r>
              <a:rPr lang="es-ES" sz="1800" b="0" strike="noStrike" spc="-12">
                <a:latin typeface="Courier New"/>
              </a:rPr>
              <a:t>env create </a:t>
            </a:r>
            <a:r>
              <a:rPr lang="es-ES" sz="1800" b="0" strike="noStrike" spc="-7">
                <a:latin typeface="Courier New"/>
              </a:rPr>
              <a:t>-f </a:t>
            </a:r>
            <a:r>
              <a:rPr lang="es-ES" sz="1800" b="0" strike="noStrike" spc="-12">
                <a:latin typeface="Courier New"/>
              </a:rPr>
              <a:t>qiime2-2021.4.yml </a:t>
            </a:r>
            <a:r>
              <a:rPr lang="es-ES" sz="1800" b="0" strike="noStrike" spc="-1070">
                <a:latin typeface="Courier New"/>
              </a:rPr>
              <a:t> </a:t>
            </a:r>
            <a:r>
              <a:rPr lang="es-ES" sz="1800" b="0" strike="noStrike" spc="-12">
                <a:latin typeface="Courier New"/>
              </a:rPr>
              <a:t>activate qiime2-2021.4 </a:t>
            </a:r>
            <a:r>
              <a:rPr lang="es-ES" sz="1800" b="0" strike="noStrike" spc="-7">
                <a:latin typeface="Courier New"/>
              </a:rPr>
              <a:t> </a:t>
            </a:r>
            <a:r>
              <a:rPr lang="es-ES" sz="1800" b="0" strike="noStrike" spc="-12">
                <a:latin typeface="Courier New"/>
              </a:rPr>
              <a:t>deactivate</a:t>
            </a:r>
            <a:endParaRPr lang="es-ES" sz="1800" b="0" strike="noStrike" spc="-1">
              <a:latin typeface="Arial"/>
            </a:endParaRPr>
          </a:p>
        </p:txBody>
      </p:sp>
      <p:sp>
        <p:nvSpPr>
          <p:cNvPr id="188" name="CustomShape 6"/>
          <p:cNvSpPr/>
          <p:nvPr/>
        </p:nvSpPr>
        <p:spPr>
          <a:xfrm>
            <a:off x="720000" y="4359960"/>
            <a:ext cx="9255960" cy="82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440" rIns="0" bIns="0">
            <a:spAutoFit/>
          </a:bodyPr>
          <a:lstStyle/>
          <a:p>
            <a:pPr marL="12600">
              <a:lnSpc>
                <a:spcPts val="2089"/>
              </a:lnSpc>
              <a:spcBef>
                <a:spcPts val="224"/>
              </a:spcBef>
            </a:pPr>
            <a:r>
              <a:rPr lang="es-ES" sz="1800" b="0" strike="noStrike" spc="-7">
                <a:latin typeface="Arial MT"/>
              </a:rPr>
              <a:t>Alternativa con todos los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7">
                <a:latin typeface="Arial MT"/>
              </a:rPr>
              <a:t>archivos de </a:t>
            </a:r>
            <a:r>
              <a:rPr lang="es-ES" sz="1800" b="0" strike="noStrike" spc="-1">
                <a:latin typeface="Arial MT"/>
              </a:rPr>
              <a:t>la</a:t>
            </a:r>
            <a:r>
              <a:rPr lang="es-ES" sz="1800" b="0" strike="noStrike" spc="-7">
                <a:latin typeface="Arial MT"/>
              </a:rPr>
              <a:t> práctica: </a:t>
            </a:r>
            <a:r>
              <a:rPr lang="es-ES" sz="1800" b="0" strike="noStrike" spc="-1">
                <a:latin typeface="Arial MT"/>
              </a:rPr>
              <a:t> </a:t>
            </a:r>
            <a:r>
              <a:rPr lang="es-ES" sz="1800" b="0" strike="noStrike" spc="-12">
                <a:latin typeface="Arial MT"/>
              </a:rPr>
              <a:t>https://drive.google.com/drive/folders/1AltgFc6GStLWZegIwCIuVAEch2ltbcU6?usp=sharing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1360880" y="6418440"/>
            <a:ext cx="531720" cy="37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200" b="0" strike="noStrike" spc="-7">
                <a:latin typeface="Calibri"/>
              </a:rPr>
              <a:t>15/3/23</a:t>
            </a:r>
            <a:endParaRPr lang="es-ES" sz="1200" b="0" strike="noStrike" spc="-1">
              <a:latin typeface="Arial"/>
            </a:endParaRPr>
          </a:p>
        </p:txBody>
      </p:sp>
      <p:pic>
        <p:nvPicPr>
          <p:cNvPr id="190" name="object 3"/>
          <p:cNvPicPr/>
          <p:nvPr/>
        </p:nvPicPr>
        <p:blipFill>
          <a:blip r:embed="rId2"/>
          <a:stretch/>
        </p:blipFill>
        <p:spPr>
          <a:xfrm>
            <a:off x="10952640" y="225000"/>
            <a:ext cx="1014840" cy="404640"/>
          </a:xfrm>
          <a:prstGeom prst="rect">
            <a:avLst/>
          </a:prstGeom>
          <a:ln>
            <a:noFill/>
          </a:ln>
        </p:spPr>
      </p:pic>
      <p:sp>
        <p:nvSpPr>
          <p:cNvPr id="191" name="TextShape 2"/>
          <p:cNvSpPr txBox="1"/>
          <p:nvPr/>
        </p:nvSpPr>
        <p:spPr>
          <a:xfrm>
            <a:off x="731880" y="493200"/>
            <a:ext cx="55357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41">
                <a:solidFill>
                  <a:srgbClr val="FF0000"/>
                </a:solidFill>
                <a:latin typeface="Calibri"/>
              </a:rPr>
              <a:t>PARA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SESIONES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SIGUIENTES:</a:t>
            </a:r>
            <a:r>
              <a:rPr lang="es-ES" sz="1800" b="0" strike="noStrike" spc="12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FF0000"/>
                </a:solidFill>
                <a:latin typeface="Calibri"/>
              </a:rPr>
              <a:t>PROBAR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Environment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r_env_2</a:t>
            </a:r>
            <a:endParaRPr lang="es-ES" sz="1800" b="0" strike="noStrike" spc="-1">
              <a:latin typeface="Calibri"/>
            </a:endParaRPr>
          </a:p>
        </p:txBody>
      </p:sp>
      <p:sp>
        <p:nvSpPr>
          <p:cNvPr id="192" name="CustomShape 3"/>
          <p:cNvSpPr/>
          <p:nvPr/>
        </p:nvSpPr>
        <p:spPr>
          <a:xfrm>
            <a:off x="731880" y="1041840"/>
            <a:ext cx="11652120" cy="2792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7" dirty="0">
                <a:latin typeface="Calibri"/>
              </a:rPr>
              <a:t>https://</a:t>
            </a:r>
            <a:r>
              <a:rPr lang="es-ES" sz="1800" b="0" strike="noStrike" spc="-7" dirty="0" err="1">
                <a:latin typeface="Calibri"/>
              </a:rPr>
              <a:t>drive.google.com</a:t>
            </a:r>
            <a:r>
              <a:rPr lang="es-ES" sz="1800" b="0" strike="noStrike" spc="-7" dirty="0">
                <a:latin typeface="Calibri"/>
              </a:rPr>
              <a:t>/drive/folders/16AH0XepXymE0wsmOfyTF53JmmxBQphan?usp=</a:t>
            </a:r>
            <a:r>
              <a:rPr lang="es-ES" sz="1800" b="0" strike="noStrike" spc="-7" dirty="0" err="1">
                <a:latin typeface="Calibri"/>
              </a:rPr>
              <a:t>share_link</a:t>
            </a:r>
            <a:endParaRPr lang="es-ES" sz="1800" b="0" strike="noStrike" spc="-1" dirty="0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"/>
              </a:spcBef>
            </a:pPr>
            <a:endParaRPr lang="es-ES" sz="1800" b="0" strike="noStrike" spc="-1" dirty="0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0" strike="noStrike" spc="-12" dirty="0">
                <a:latin typeface="Calibri"/>
              </a:rPr>
              <a:t>Crear</a:t>
            </a:r>
            <a:r>
              <a:rPr lang="es-ES" sz="1800" b="0" strike="noStrike" spc="4" dirty="0"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el</a:t>
            </a:r>
            <a:r>
              <a:rPr lang="es-ES" sz="1800" b="0" strike="noStrike" spc="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 dirty="0" err="1">
                <a:solidFill>
                  <a:srgbClr val="212529"/>
                </a:solidFill>
                <a:latin typeface="Calibri"/>
              </a:rPr>
              <a:t>environment</a:t>
            </a: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,</a:t>
            </a:r>
            <a:r>
              <a:rPr lang="es-ES" sz="1800" b="0" strike="noStrike" spc="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activarlo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y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una</a:t>
            </a:r>
            <a:r>
              <a:rPr lang="es-ES" sz="1800" b="0" strike="noStrike" spc="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5" dirty="0">
                <a:solidFill>
                  <a:srgbClr val="212529"/>
                </a:solidFill>
                <a:latin typeface="Calibri"/>
              </a:rPr>
              <a:t>vez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activo,</a:t>
            </a:r>
            <a:r>
              <a:rPr lang="es-ES" sz="1800" b="0" strike="noStrike" spc="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iniciar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una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sesión</a:t>
            </a:r>
            <a:r>
              <a:rPr lang="es-ES" sz="1800" b="0" strike="noStrike" spc="12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de</a:t>
            </a:r>
            <a:r>
              <a:rPr lang="es-ES" sz="1800" b="0" strike="noStrike" spc="12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R.</a:t>
            </a:r>
            <a:endParaRPr lang="es-ES" sz="1800" b="0" strike="noStrike" spc="-1" dirty="0">
              <a:latin typeface="Arial"/>
            </a:endParaRPr>
          </a:p>
          <a:p>
            <a:pPr marL="12600">
              <a:lnSpc>
                <a:spcPts val="2109"/>
              </a:lnSpc>
              <a:spcBef>
                <a:spcPts val="136"/>
              </a:spcBef>
            </a:pPr>
            <a:r>
              <a:rPr lang="es-ES" sz="1800" b="1" strike="noStrike" spc="-12" dirty="0" err="1">
                <a:solidFill>
                  <a:srgbClr val="212529"/>
                </a:solidFill>
                <a:latin typeface="Calibri"/>
              </a:rPr>
              <a:t>conda</a:t>
            </a:r>
            <a:r>
              <a:rPr lang="es-ES" sz="1800" b="1" strike="noStrike" spc="-7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1" strike="noStrike" spc="-15" dirty="0" err="1">
                <a:solidFill>
                  <a:srgbClr val="212529"/>
                </a:solidFill>
                <a:latin typeface="Calibri"/>
              </a:rPr>
              <a:t>env</a:t>
            </a:r>
            <a:r>
              <a:rPr lang="es-ES" sz="1800" b="1" strike="noStrike" spc="-7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1" strike="noStrike" spc="-15" dirty="0" err="1">
                <a:solidFill>
                  <a:srgbClr val="212529"/>
                </a:solidFill>
                <a:latin typeface="Calibri"/>
              </a:rPr>
              <a:t>create</a:t>
            </a:r>
            <a:r>
              <a:rPr lang="es-ES" sz="1800" b="1" strike="noStrike" spc="-12" dirty="0">
                <a:solidFill>
                  <a:srgbClr val="212529"/>
                </a:solidFill>
                <a:latin typeface="Calibri"/>
              </a:rPr>
              <a:t> -f</a:t>
            </a:r>
            <a:r>
              <a:rPr lang="es-ES" sz="1800" b="1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5" dirty="0">
                <a:solidFill>
                  <a:srgbClr val="212529"/>
                </a:solidFill>
                <a:latin typeface="Calibri"/>
              </a:rPr>
              <a:t>r_env_2</a:t>
            </a:r>
            <a:r>
              <a:rPr lang="es-ES" sz="1800" b="1" strike="noStrike" spc="-15" dirty="0">
                <a:solidFill>
                  <a:srgbClr val="212529"/>
                </a:solidFill>
                <a:latin typeface="Calibri"/>
              </a:rPr>
              <a:t>.yml </a:t>
            </a:r>
            <a:r>
              <a:rPr lang="es-ES" sz="1800" b="1" strike="noStrike" spc="-395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 err="1">
                <a:solidFill>
                  <a:srgbClr val="212529"/>
                </a:solidFill>
                <a:latin typeface="Calibri"/>
              </a:rPr>
              <a:t>Conda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5" dirty="0" err="1">
                <a:solidFill>
                  <a:srgbClr val="212529"/>
                </a:solidFill>
                <a:latin typeface="Calibri"/>
              </a:rPr>
              <a:t>activate</a:t>
            </a:r>
            <a:r>
              <a:rPr lang="es-ES" sz="1800" b="0" strike="noStrike" spc="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r_env_2</a:t>
            </a:r>
            <a:endParaRPr lang="es-ES" sz="1800" b="0" strike="noStrike" spc="-1" dirty="0">
              <a:latin typeface="Arial"/>
            </a:endParaRPr>
          </a:p>
          <a:p>
            <a:pPr marL="12600">
              <a:lnSpc>
                <a:spcPct val="199000"/>
              </a:lnSpc>
              <a:spcBef>
                <a:spcPts val="26"/>
              </a:spcBef>
            </a:pP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Instalar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las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librerías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con</a:t>
            </a:r>
            <a:r>
              <a:rPr lang="es-ES" sz="1800" b="0" strike="noStrike" spc="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las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siguientes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líneas: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devtools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::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install_github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("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jbisanz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/qiime2R",force=TRUE)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</a:p>
          <a:p>
            <a:pPr marL="12600">
              <a:lnSpc>
                <a:spcPct val="199000"/>
              </a:lnSpc>
              <a:spcBef>
                <a:spcPts val="26"/>
              </a:spcBef>
            </a:pPr>
            <a:r>
              <a:rPr lang="es-ES" sz="1800" b="0" strike="noStrike" spc="-12" dirty="0" err="1">
                <a:solidFill>
                  <a:srgbClr val="212529"/>
                </a:solidFill>
                <a:latin typeface="Calibri"/>
              </a:rPr>
              <a:t>install.packages</a:t>
            </a: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("</a:t>
            </a:r>
            <a:r>
              <a:rPr lang="es-ES" sz="1800" b="1" strike="noStrike" spc="-12" dirty="0" err="1">
                <a:solidFill>
                  <a:srgbClr val="212529"/>
                </a:solidFill>
                <a:latin typeface="Calibri"/>
              </a:rPr>
              <a:t>vegan</a:t>
            </a:r>
            <a:r>
              <a:rPr lang="es-ES" sz="1800" b="0" strike="noStrike" spc="-12" dirty="0">
                <a:solidFill>
                  <a:srgbClr val="212529"/>
                </a:solidFill>
                <a:latin typeface="Calibri"/>
              </a:rPr>
              <a:t>",</a:t>
            </a:r>
            <a:r>
              <a:rPr lang="es-ES" sz="1800" b="0" strike="noStrike" spc="18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dependencies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=T)</a:t>
            </a:r>
            <a:r>
              <a:rPr lang="es-ES" sz="1800" b="0" strike="noStrike" spc="2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{hacerlo</a:t>
            </a:r>
            <a:r>
              <a:rPr lang="es-ES" sz="1800" b="0" strike="noStrike" spc="18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desde</a:t>
            </a:r>
            <a:r>
              <a:rPr lang="es-ES" sz="1800" b="0" strike="noStrike" spc="2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A</a:t>
            </a:r>
            <a:r>
              <a:rPr lang="es-ES" sz="1800" b="0" strike="noStrike" spc="12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Coruña}</a:t>
            </a:r>
            <a:endParaRPr lang="es-ES" sz="1800" b="0" strike="noStrike" spc="-1" dirty="0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lang="es-ES" sz="1800" b="0" strike="noStrike" spc="-1" dirty="0">
              <a:latin typeface="Arial"/>
            </a:endParaRPr>
          </a:p>
          <a:p>
            <a:pPr marL="12600">
              <a:lnSpc>
                <a:spcPct val="99000"/>
              </a:lnSpc>
              <a:spcBef>
                <a:spcPts val="6"/>
              </a:spcBef>
            </a:pP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if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(!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requireNamespace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("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BiocManager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",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quietly</a:t>
            </a:r>
            <a:r>
              <a:rPr lang="es-ES" sz="1800" b="0" strike="noStrike" spc="9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=</a:t>
            </a:r>
            <a:r>
              <a:rPr lang="es-ES" sz="1800" b="0" strike="noStrike" spc="4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TRUE)) </a:t>
            </a:r>
            <a:r>
              <a:rPr lang="es-ES" sz="1800" b="0" strike="noStrike" spc="-392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install.packages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("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BiocManager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") </a:t>
            </a:r>
            <a:r>
              <a:rPr lang="es-ES" sz="1800" b="0" strike="noStrike" spc="-1" dirty="0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BiocManager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::</a:t>
            </a:r>
            <a:r>
              <a:rPr lang="es-ES" sz="1800" b="0" strike="noStrike" spc="-7" dirty="0" err="1">
                <a:solidFill>
                  <a:srgbClr val="212529"/>
                </a:solidFill>
                <a:latin typeface="Calibri"/>
              </a:rPr>
              <a:t>install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("</a:t>
            </a:r>
            <a:r>
              <a:rPr lang="es-ES" sz="1800" b="1" strike="noStrike" spc="-7" dirty="0" err="1">
                <a:solidFill>
                  <a:srgbClr val="212529"/>
                </a:solidFill>
                <a:latin typeface="Calibri"/>
              </a:rPr>
              <a:t>microbiome</a:t>
            </a:r>
            <a:r>
              <a:rPr lang="es-ES" sz="1800" b="0" strike="noStrike" spc="-7" dirty="0">
                <a:solidFill>
                  <a:srgbClr val="212529"/>
                </a:solidFill>
                <a:latin typeface="Calibri"/>
              </a:rPr>
              <a:t>")</a:t>
            </a:r>
            <a:endParaRPr lang="es-ES" sz="1800" b="0" strike="noStrike" spc="-1" dirty="0">
              <a:latin typeface="Arial"/>
            </a:endParaRPr>
          </a:p>
        </p:txBody>
      </p:sp>
      <p:sp>
        <p:nvSpPr>
          <p:cNvPr id="193" name="CustomShape 4"/>
          <p:cNvSpPr/>
          <p:nvPr/>
        </p:nvSpPr>
        <p:spPr>
          <a:xfrm>
            <a:off x="731880" y="5434200"/>
            <a:ext cx="8025480" cy="110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640" rIns="0" bIns="0">
            <a:spAutoFit/>
          </a:bodyPr>
          <a:lstStyle/>
          <a:p>
            <a:pPr marL="12600">
              <a:lnSpc>
                <a:spcPts val="2109"/>
              </a:lnSpc>
              <a:spcBef>
                <a:spcPts val="210"/>
              </a:spcBef>
            </a:pP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Al</a:t>
            </a:r>
            <a:r>
              <a:rPr lang="es-ES" sz="1800" b="0" strike="noStrike" spc="4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12529"/>
                </a:solidFill>
                <a:latin typeface="Calibri"/>
              </a:rPr>
              <a:t>instalar</a:t>
            </a:r>
            <a:r>
              <a:rPr lang="es-ES" sz="1800" b="0" strike="noStrike" spc="-1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microbiome,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se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debería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12529"/>
                </a:solidFill>
                <a:latin typeface="Calibri"/>
              </a:rPr>
              <a:t>instalar</a:t>
            </a:r>
            <a:r>
              <a:rPr lang="es-ES" sz="1800" b="0" strike="noStrike" spc="4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también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phyloseq,</a:t>
            </a:r>
            <a:r>
              <a:rPr lang="es-ES" sz="1800" b="0" strike="noStrike" spc="4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si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212529"/>
                </a:solidFill>
                <a:latin typeface="Calibri"/>
              </a:rPr>
              <a:t>no,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12529"/>
                </a:solidFill>
                <a:latin typeface="Calibri"/>
              </a:rPr>
              <a:t>probar</a:t>
            </a:r>
            <a:r>
              <a:rPr lang="es-ES" sz="1800" b="0" strike="noStrike" spc="4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con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la</a:t>
            </a:r>
            <a:r>
              <a:rPr lang="es-ES" sz="1800" b="0" strike="noStrike" spc="9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línea </a:t>
            </a:r>
            <a:r>
              <a:rPr lang="es-ES" sz="1800" b="0" strike="noStrike" spc="-392">
                <a:solidFill>
                  <a:srgbClr val="212529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if(!requireNamespace("BiocManager")){</a:t>
            </a:r>
            <a:endParaRPr lang="es-ES" sz="1800" b="0" strike="noStrike" spc="-1">
              <a:latin typeface="Arial"/>
            </a:endParaRPr>
          </a:p>
          <a:p>
            <a:pPr marL="64800">
              <a:lnSpc>
                <a:spcPts val="2100"/>
              </a:lnSpc>
            </a:pPr>
            <a:r>
              <a:rPr lang="es-ES" sz="1800" b="0" strike="noStrike" spc="-7">
                <a:solidFill>
                  <a:srgbClr val="212529"/>
                </a:solidFill>
                <a:latin typeface="Calibri"/>
              </a:rPr>
              <a:t>install.packages("BiocManager")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34"/>
              </a:lnSpc>
            </a:pPr>
            <a:r>
              <a:rPr lang="es-ES" sz="1800" b="0" strike="noStrike" spc="-12">
                <a:solidFill>
                  <a:srgbClr val="212529"/>
                </a:solidFill>
                <a:latin typeface="Calibri"/>
              </a:rPr>
              <a:t>}BiocManager::install("</a:t>
            </a:r>
            <a:r>
              <a:rPr lang="es-ES" sz="1800" b="1" strike="noStrike" spc="-12">
                <a:solidFill>
                  <a:srgbClr val="212529"/>
                </a:solidFill>
                <a:latin typeface="Calibri"/>
              </a:rPr>
              <a:t>phyloseq</a:t>
            </a:r>
            <a:r>
              <a:rPr lang="es-ES" sz="1800" b="0" strike="noStrike" spc="-12">
                <a:solidFill>
                  <a:srgbClr val="212529"/>
                </a:solidFill>
                <a:latin typeface="Calibri"/>
              </a:rPr>
              <a:t>")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1360880" y="6418440"/>
            <a:ext cx="531720" cy="37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200" b="0" strike="noStrike" spc="-7">
                <a:latin typeface="Calibri"/>
              </a:rPr>
              <a:t>15/3/23</a:t>
            </a:r>
            <a:endParaRPr lang="es-ES" sz="1200" b="0" strike="noStrike" spc="-1">
              <a:latin typeface="Arial"/>
            </a:endParaRPr>
          </a:p>
        </p:txBody>
      </p:sp>
      <p:pic>
        <p:nvPicPr>
          <p:cNvPr id="195" name="object 3"/>
          <p:cNvPicPr/>
          <p:nvPr/>
        </p:nvPicPr>
        <p:blipFill>
          <a:blip r:embed="rId2"/>
          <a:stretch/>
        </p:blipFill>
        <p:spPr>
          <a:xfrm>
            <a:off x="10952640" y="225000"/>
            <a:ext cx="1014840" cy="404640"/>
          </a:xfrm>
          <a:prstGeom prst="rect">
            <a:avLst/>
          </a:prstGeom>
          <a:ln>
            <a:noFill/>
          </a:ln>
        </p:spPr>
      </p:pic>
      <p:sp>
        <p:nvSpPr>
          <p:cNvPr id="196" name="CustomShape 2"/>
          <p:cNvSpPr/>
          <p:nvPr/>
        </p:nvSpPr>
        <p:spPr>
          <a:xfrm>
            <a:off x="336240" y="6348600"/>
            <a:ext cx="588240" cy="37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200" b="0" strike="noStrike" spc="-7">
                <a:latin typeface="Calibri"/>
              </a:rPr>
              <a:t>S</a:t>
            </a:r>
            <a:r>
              <a:rPr lang="es-ES" sz="1200" b="0" strike="noStrike" spc="-12">
                <a:latin typeface="Calibri"/>
              </a:rPr>
              <a:t>E</a:t>
            </a:r>
            <a:r>
              <a:rPr lang="es-ES" sz="1200" b="0" strike="noStrike" spc="-7">
                <a:latin typeface="Calibri"/>
              </a:rPr>
              <a:t>SI</a:t>
            </a:r>
            <a:r>
              <a:rPr lang="es-ES" sz="1200" b="0" strike="noStrike" spc="4">
                <a:latin typeface="Calibri"/>
              </a:rPr>
              <a:t>Ó</a:t>
            </a:r>
            <a:r>
              <a:rPr lang="es-ES" sz="1200" b="0" strike="noStrike" spc="-1">
                <a:latin typeface="Calibri"/>
              </a:rPr>
              <a:t>N 7</a:t>
            </a:r>
            <a:endParaRPr lang="es-ES" sz="1200" b="0" strike="noStrike" spc="-1">
              <a:latin typeface="Arial"/>
            </a:endParaRPr>
          </a:p>
        </p:txBody>
      </p:sp>
      <p:sp>
        <p:nvSpPr>
          <p:cNvPr id="197" name="TextShape 3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HANDS</a:t>
            </a:r>
            <a:r>
              <a:rPr lang="es-ES" sz="2000" b="0" strike="noStrike" spc="-35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es-ES" sz="2000" b="0" strike="noStrike" spc="-7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ON!</a:t>
            </a:r>
            <a:r>
              <a:rPr lang="es-ES" sz="2000" b="0" strike="noStrike" spc="-4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es-ES" sz="2000" b="0" strike="noStrike" spc="-15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DADA2</a:t>
            </a:r>
            <a:endParaRPr lang="es-ES" sz="2000" b="0" strike="noStrike" spc="-1" dirty="0">
              <a:solidFill>
                <a:schemeClr val="accent6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98" name="CustomShape 4"/>
          <p:cNvSpPr/>
          <p:nvPr/>
        </p:nvSpPr>
        <p:spPr>
          <a:xfrm>
            <a:off x="803880" y="968760"/>
            <a:ext cx="11508120" cy="5186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Abrir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sesión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R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Descargar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del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Aula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los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archivos: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99000"/>
              </a:lnSpc>
              <a:spcBef>
                <a:spcPts val="60"/>
              </a:spcBef>
            </a:pPr>
            <a:r>
              <a:rPr lang="es-ES" sz="1800" b="0" strike="noStrike" spc="-21">
                <a:solidFill>
                  <a:srgbClr val="2C3E50"/>
                </a:solidFill>
                <a:latin typeface="Calibri"/>
              </a:rPr>
              <a:t>MiSeq_SOP.zip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-&gt;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Descomprimirlo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silva_nr_v132_train_set.fa.gz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-&gt;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No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descomprimir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silva_species_assignment_v132.fa.gz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-&gt;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No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descomprimir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09"/>
              </a:lnSpc>
            </a:pP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Link</a:t>
            </a:r>
            <a:r>
              <a:rPr lang="es-ES" sz="1800" b="0" strike="noStrike" spc="63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del</a:t>
            </a:r>
            <a:r>
              <a:rPr lang="es-ES" sz="1800" b="0" strike="noStrike" spc="7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Drive:</a:t>
            </a:r>
            <a:r>
              <a:rPr lang="es-ES" sz="1800" b="0" strike="noStrike" spc="7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https://drive.google.com/drive/folders/16gBvTNHSnJhS4goBQLIEAyRVJ1-ZIlb6?usp=sharing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1" strike="noStrike" spc="-35">
                <a:solidFill>
                  <a:srgbClr val="2C3E50"/>
                </a:solidFill>
                <a:latin typeface="Calibri"/>
              </a:rPr>
              <a:t>PASO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2: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SEGUIR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EL SIGUIENTE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TUTORIAL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1" u="sng" strike="noStrike" spc="-12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</a:rPr>
              <a:t>https://benjjneb.github.io/dada2/tutorial.html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1610"/>
              </a:spcBef>
            </a:pPr>
            <a:r>
              <a:rPr lang="es-ES" sz="1800" b="0" strike="noStrike" spc="-12">
                <a:solidFill>
                  <a:srgbClr val="0563C1"/>
                </a:solidFill>
                <a:latin typeface="Calibri"/>
              </a:rPr>
              <a:t>Archivos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21">
                <a:solidFill>
                  <a:srgbClr val="0563C1"/>
                </a:solidFill>
                <a:latin typeface="Calibri"/>
              </a:rPr>
              <a:t>fastq</a:t>
            </a:r>
            <a:r>
              <a:rPr lang="es-ES" sz="1800" b="0" strike="noStrike" spc="12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con</a:t>
            </a:r>
            <a:r>
              <a:rPr lang="es-ES" sz="1800" b="0" strike="noStrike" spc="12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0563C1"/>
                </a:solidFill>
                <a:latin typeface="Calibri"/>
              </a:rPr>
              <a:t>lecturas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2x250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de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Illumina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Miseq</a:t>
            </a:r>
            <a:r>
              <a:rPr lang="es-ES" sz="1800" b="0" strike="noStrike" spc="12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que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venían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de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la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secuenciación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de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la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0563C1"/>
                </a:solidFill>
                <a:latin typeface="Calibri"/>
              </a:rPr>
              <a:t>región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V4 </a:t>
            </a:r>
            <a:r>
              <a:rPr lang="es-ES" sz="1800" b="0" strike="noStrike" spc="-395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(amplicones)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del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gen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16S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rRNA.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0" strike="noStrike" spc="-12">
                <a:solidFill>
                  <a:srgbClr val="0563C1"/>
                </a:solidFill>
                <a:latin typeface="Calibri"/>
              </a:rPr>
              <a:t>OBJETIVO:</a:t>
            </a:r>
            <a:r>
              <a:rPr lang="es-ES" sz="1800" b="0" strike="noStrike" spc="12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0563C1"/>
                </a:solidFill>
                <a:latin typeface="Calibri"/>
              </a:rPr>
              <a:t>Preprocesar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las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0563C1"/>
                </a:solidFill>
                <a:latin typeface="Calibri"/>
              </a:rPr>
              <a:t>lecturas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y</a:t>
            </a:r>
            <a:r>
              <a:rPr lang="es-ES" sz="1800" b="0" strike="noStrike" spc="4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construir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0563C1"/>
                </a:solidFill>
                <a:latin typeface="Calibri"/>
              </a:rPr>
              <a:t>una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tabla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con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26">
                <a:solidFill>
                  <a:srgbClr val="0563C1"/>
                </a:solidFill>
                <a:latin typeface="Calibri"/>
              </a:rPr>
              <a:t>ASVs</a:t>
            </a:r>
            <a:r>
              <a:rPr lang="es-ES" sz="1800" b="0" strike="noStrike" spc="9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(amplicon</a:t>
            </a:r>
            <a:r>
              <a:rPr lang="es-ES" sz="1800" b="0" strike="noStrike" spc="12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sequence</a:t>
            </a:r>
            <a:r>
              <a:rPr lang="es-ES" sz="1800" b="0" strike="noStrike" spc="18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0563C1"/>
                </a:solidFill>
                <a:latin typeface="Calibri"/>
              </a:rPr>
              <a:t>variants)</a:t>
            </a:r>
            <a:r>
              <a:rPr lang="es-ES" sz="1800" b="0" strike="noStrike" spc="12">
                <a:solidFill>
                  <a:srgbClr val="0563C1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0563C1"/>
                </a:solidFill>
                <a:latin typeface="Calibri"/>
              </a:rPr>
              <a:t>únicas.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00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201" name="CustomShape 3"/>
          <p:cNvSpPr/>
          <p:nvPr/>
        </p:nvSpPr>
        <p:spPr>
          <a:xfrm>
            <a:off x="2203200" y="996120"/>
            <a:ext cx="8190360" cy="51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1" strike="noStrike" spc="-35">
                <a:solidFill>
                  <a:srgbClr val="2C3E50"/>
                </a:solidFill>
                <a:latin typeface="Calibri"/>
              </a:rPr>
              <a:t>PASO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1: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ABRIR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RSTUDIO,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UN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NUEVO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SCRIPT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E </a:t>
            </a:r>
            <a:r>
              <a:rPr lang="es-ES" sz="1800" b="1" strike="noStrike" spc="-26">
                <a:solidFill>
                  <a:srgbClr val="2C3E50"/>
                </a:solidFill>
                <a:latin typeface="Calibri"/>
              </a:rPr>
              <a:t>INSTALAR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26">
                <a:solidFill>
                  <a:srgbClr val="2C3E50"/>
                </a:solidFill>
                <a:latin typeface="Calibri"/>
              </a:rPr>
              <a:t>DADA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2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R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  <a:spcBef>
                <a:spcPts val="1655"/>
              </a:spcBef>
            </a:pP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conda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env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create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-f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ourier New"/>
              </a:rPr>
              <a:t>dada2-v1.14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.yml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Abrir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sesión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R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Descargar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del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Aula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los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archivos: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99000"/>
              </a:lnSpc>
              <a:spcBef>
                <a:spcPts val="40"/>
              </a:spcBef>
            </a:pPr>
            <a:r>
              <a:rPr lang="es-ES" sz="1800" b="0" strike="noStrike" spc="-21">
                <a:solidFill>
                  <a:srgbClr val="2C3E50"/>
                </a:solidFill>
                <a:latin typeface="Calibri"/>
              </a:rPr>
              <a:t>MiSeq_SOP.zip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-&gt;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Descomprimirlo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silva_nr_v132_train_set.fa.gz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-&gt;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No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descomprimir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silva_species_assignment_v132.fa.gz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-&gt;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No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descomprimir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09"/>
              </a:lnSpc>
              <a:spcBef>
                <a:spcPts val="159"/>
              </a:spcBef>
            </a:pP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Link</a:t>
            </a:r>
            <a:r>
              <a:rPr lang="es-ES" sz="1800" b="0" strike="noStrike" spc="2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del</a:t>
            </a:r>
            <a:r>
              <a:rPr lang="es-ES" sz="1800" b="0" strike="noStrike" spc="38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Drive:</a:t>
            </a:r>
            <a:r>
              <a:rPr lang="es-ES" sz="1800" b="0" strike="noStrike" spc="43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https://drive.google.com/drive/folders/16gBvTNHSnJhS4goBQLIEAyRVJ1- </a:t>
            </a:r>
            <a:r>
              <a:rPr lang="es-ES" sz="1800" b="0" strike="noStrike" spc="-39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ZIlb6?usp=sharing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1" strike="noStrike" spc="-35">
                <a:solidFill>
                  <a:srgbClr val="2C3E50"/>
                </a:solidFill>
                <a:latin typeface="Calibri"/>
              </a:rPr>
              <a:t>PASO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2: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SEGUIR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EL SIGUIENTE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TUTORIAL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1" u="sng" strike="noStrike" spc="-12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</a:rPr>
              <a:t>https://benjjneb.github.io/dada2/tutorial.html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03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204" name="CustomShape 3"/>
          <p:cNvSpPr/>
          <p:nvPr/>
        </p:nvSpPr>
        <p:spPr>
          <a:xfrm>
            <a:off x="714600" y="871200"/>
            <a:ext cx="10301400" cy="464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1">
                <a:latin typeface="Calibri"/>
              </a:rPr>
              <a:t>R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0" strike="noStrike" spc="-7">
                <a:latin typeface="Calibri"/>
              </a:rPr>
              <a:t>library(dada2);</a:t>
            </a:r>
            <a:r>
              <a:rPr lang="es-ES" sz="1800" b="0" strike="noStrike" spc="-15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packageVersion("dada2")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6"/>
              </a:spcBef>
            </a:pPr>
            <a:r>
              <a:rPr lang="es-ES" sz="1800" b="0" strike="noStrike" spc="-12">
                <a:latin typeface="Calibri"/>
              </a:rPr>
              <a:t>path </a:t>
            </a:r>
            <a:r>
              <a:rPr lang="es-ES" sz="1800" b="0" strike="noStrike" spc="-1">
                <a:latin typeface="Calibri"/>
              </a:rPr>
              <a:t>&lt;- </a:t>
            </a:r>
            <a:r>
              <a:rPr lang="es-ES" sz="1800" b="0" strike="noStrike" spc="-7">
                <a:latin typeface="Calibri"/>
              </a:rPr>
              <a:t>"/home/maria.lairon/Documents/SESION4/MiSeq_SOP-2" </a:t>
            </a:r>
            <a:r>
              <a:rPr lang="es-ES" sz="1800" b="0" strike="noStrike" spc="-395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list.files(path)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Cada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uno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la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ruta</a:t>
            </a:r>
            <a:r>
              <a:rPr lang="es-ES" sz="1800" b="0" strike="noStrike" spc="9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donde</a:t>
            </a:r>
            <a:r>
              <a:rPr lang="es-ES" sz="1800" b="0" strike="noStrike" spc="9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FF0000"/>
                </a:solidFill>
                <a:latin typeface="Calibri"/>
              </a:rPr>
              <a:t>tenga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las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lecturas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2000"/>
              </a:lnSpc>
            </a:pP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#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El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FF0000"/>
                </a:solidFill>
                <a:latin typeface="Calibri"/>
              </a:rPr>
              <a:t>formato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de</a:t>
            </a:r>
            <a:r>
              <a:rPr lang="es-ES" sz="1800" b="0" strike="noStrike" spc="9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las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lecturas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es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el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siguiente: 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SAMPLENAME_</a:t>
            </a:r>
            <a:r>
              <a:rPr lang="es-ES" sz="1800" b="1" strike="noStrike" spc="-12">
                <a:solidFill>
                  <a:srgbClr val="E64F13"/>
                </a:solidFill>
                <a:latin typeface="Calibri"/>
              </a:rPr>
              <a:t>R1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_001.fastq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 and</a:t>
            </a:r>
            <a:r>
              <a:rPr lang="es-ES" sz="1800" b="0" strike="noStrike" spc="4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SAMPLENAME_</a:t>
            </a:r>
            <a:r>
              <a:rPr lang="es-ES" sz="1800" b="1" strike="noStrike" spc="-12">
                <a:solidFill>
                  <a:srgbClr val="E64F13"/>
                </a:solidFill>
                <a:latin typeface="Calibri"/>
              </a:rPr>
              <a:t>R2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_001.fastq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ts val="2134"/>
              </a:lnSpc>
            </a:pPr>
            <a:r>
              <a:rPr lang="es-ES" sz="1800" b="1" strike="noStrike" spc="-12">
                <a:solidFill>
                  <a:srgbClr val="E64F13"/>
                </a:solidFill>
                <a:latin typeface="Calibri"/>
              </a:rPr>
              <a:t>Seleccionar</a:t>
            </a:r>
            <a:r>
              <a:rPr lang="es-ES" sz="1800" b="1" strike="noStrike" spc="-1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E64F13"/>
                </a:solidFill>
                <a:latin typeface="Calibri"/>
              </a:rPr>
              <a:t>las </a:t>
            </a:r>
            <a:r>
              <a:rPr lang="es-ES" sz="1800" b="1" strike="noStrike" spc="-12">
                <a:solidFill>
                  <a:srgbClr val="E64F13"/>
                </a:solidFill>
                <a:latin typeface="Calibri"/>
              </a:rPr>
              <a:t>lecturas</a:t>
            </a:r>
            <a:r>
              <a:rPr lang="es-ES" sz="1800" b="1" strike="noStrike" spc="-7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E64F13"/>
                </a:solidFill>
                <a:latin typeface="Calibri"/>
              </a:rPr>
              <a:t>forward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34"/>
              </a:lnSpc>
            </a:pP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fnFs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&lt;-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sort(list.files(path,</a:t>
            </a:r>
            <a:r>
              <a:rPr lang="es-ES" sz="1800" b="0" strike="noStrike" spc="1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pattern="_R1_001.fastq",</a:t>
            </a:r>
            <a:r>
              <a:rPr lang="es-ES" sz="1800" b="0" strike="noStrike" spc="1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full.names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=</a:t>
            </a:r>
            <a:r>
              <a:rPr lang="es-ES" sz="1800" b="0" strike="noStrike" spc="18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TRUE))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r>
              <a:rPr lang="es-ES" sz="1800" b="1" strike="noStrike" spc="-12">
                <a:solidFill>
                  <a:srgbClr val="E64F13"/>
                </a:solidFill>
                <a:latin typeface="Calibri"/>
              </a:rPr>
              <a:t>Seleccionar</a:t>
            </a:r>
            <a:r>
              <a:rPr lang="es-ES" sz="1800" b="1" strike="noStrike" spc="-7">
                <a:solidFill>
                  <a:srgbClr val="E64F13"/>
                </a:solidFill>
                <a:latin typeface="Calibri"/>
              </a:rPr>
              <a:t> las</a:t>
            </a:r>
            <a:r>
              <a:rPr lang="es-ES" sz="1800" b="1" strike="noStrike" spc="-12">
                <a:solidFill>
                  <a:srgbClr val="E64F13"/>
                </a:solidFill>
                <a:latin typeface="Calibri"/>
              </a:rPr>
              <a:t> lecturas</a:t>
            </a:r>
            <a:r>
              <a:rPr lang="es-ES" sz="1800" b="1" strike="noStrike" spc="-7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E64F13"/>
                </a:solidFill>
                <a:latin typeface="Calibri"/>
              </a:rPr>
              <a:t>reverse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fnRs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&lt;-</a:t>
            </a:r>
            <a:r>
              <a:rPr lang="es-ES" sz="1800" b="0" strike="noStrike" spc="1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sort(list.files(path,</a:t>
            </a:r>
            <a:r>
              <a:rPr lang="es-ES" sz="1800" b="0" strike="noStrike" spc="1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pattern="_R2_001.fastq",</a:t>
            </a:r>
            <a:r>
              <a:rPr lang="es-ES" sz="1800" b="0" strike="noStrike" spc="18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full.names</a:t>
            </a:r>
            <a:r>
              <a:rPr lang="es-ES" sz="1800" b="0" strike="noStrike" spc="1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=</a:t>
            </a:r>
            <a:r>
              <a:rPr lang="es-ES" sz="1800" b="0" strike="noStrike" spc="1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TRUE))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99000"/>
              </a:lnSpc>
            </a:pP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#</a:t>
            </a:r>
            <a:r>
              <a:rPr lang="es-ES" sz="1800" b="0" strike="noStrike" spc="4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Seleccionar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 el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nombre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base</a:t>
            </a:r>
            <a:r>
              <a:rPr lang="es-ES" sz="1800" b="0" strike="noStrike" spc="1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de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las</a:t>
            </a:r>
            <a:r>
              <a:rPr lang="es-ES" sz="1800" b="0" strike="noStrike" spc="4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muestras: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E64F13"/>
                </a:solidFill>
                <a:latin typeface="Calibri"/>
              </a:rPr>
              <a:t>SAMPLENAME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_XXX.fastq </a:t>
            </a:r>
            <a:r>
              <a:rPr lang="es-ES" sz="1800" b="0" strike="noStrike" spc="-392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sample.names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 &lt;-</a:t>
            </a:r>
            <a:r>
              <a:rPr lang="es-ES" sz="1800" b="0" strike="noStrike" spc="4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E64F13"/>
                </a:solidFill>
                <a:latin typeface="Calibri"/>
              </a:rPr>
              <a:t>sapply(strsplit(basename(fnFs),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"_"),</a:t>
            </a:r>
            <a:r>
              <a:rPr lang="es-ES" sz="1800" b="0" strike="noStrike" spc="4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`[`,</a:t>
            </a:r>
            <a:r>
              <a:rPr lang="es-ES" sz="1800" b="0" strike="noStrike" spc="9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E64F13"/>
                </a:solidFill>
                <a:latin typeface="Calibri"/>
              </a:rPr>
              <a:t>1) </a:t>
            </a:r>
            <a:r>
              <a:rPr lang="es-ES" sz="1800" b="0" strike="noStrike" spc="4">
                <a:solidFill>
                  <a:srgbClr val="E64F13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E64F13"/>
                </a:solidFill>
                <a:latin typeface="Calibri"/>
              </a:rPr>
              <a:t>sample.names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object 2"/>
          <p:cNvPicPr/>
          <p:nvPr/>
        </p:nvPicPr>
        <p:blipFill>
          <a:blip r:embed="rId2"/>
          <a:stretch/>
        </p:blipFill>
        <p:spPr>
          <a:xfrm>
            <a:off x="10952640" y="225000"/>
            <a:ext cx="1014840" cy="404640"/>
          </a:xfrm>
          <a:prstGeom prst="rect">
            <a:avLst/>
          </a:prstGeom>
          <a:ln>
            <a:noFill/>
          </a:ln>
        </p:spPr>
      </p:pic>
      <p:sp>
        <p:nvSpPr>
          <p:cNvPr id="206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pic>
        <p:nvPicPr>
          <p:cNvPr id="207" name="object 4"/>
          <p:cNvPicPr/>
          <p:nvPr/>
        </p:nvPicPr>
        <p:blipFill>
          <a:blip r:embed="rId3"/>
          <a:stretch/>
        </p:blipFill>
        <p:spPr>
          <a:xfrm>
            <a:off x="2250360" y="767520"/>
            <a:ext cx="6463440" cy="4818240"/>
          </a:xfrm>
          <a:prstGeom prst="rect">
            <a:avLst/>
          </a:prstGeom>
          <a:ln>
            <a:noFill/>
          </a:ln>
        </p:spPr>
      </p:pic>
      <p:pic>
        <p:nvPicPr>
          <p:cNvPr id="208" name="object 5"/>
          <p:cNvPicPr/>
          <p:nvPr/>
        </p:nvPicPr>
        <p:blipFill>
          <a:blip r:embed="rId4"/>
          <a:stretch/>
        </p:blipFill>
        <p:spPr>
          <a:xfrm>
            <a:off x="2652480" y="5711040"/>
            <a:ext cx="5538960" cy="772200"/>
          </a:xfrm>
          <a:prstGeom prst="rect">
            <a:avLst/>
          </a:prstGeom>
          <a:ln>
            <a:noFill/>
          </a:ln>
        </p:spPr>
      </p:pic>
      <p:sp>
        <p:nvSpPr>
          <p:cNvPr id="209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2203200" y="1264320"/>
            <a:ext cx="5531760" cy="56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32">
                <a:latin typeface="Calibri"/>
              </a:rPr>
              <a:t>Ver</a:t>
            </a:r>
            <a:r>
              <a:rPr lang="es-ES" sz="1800" b="0" strike="noStrike" spc="-1">
                <a:latin typeface="Calibri"/>
              </a:rPr>
              <a:t> el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perfil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con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la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calidad</a:t>
            </a:r>
            <a:r>
              <a:rPr lang="es-ES" sz="1800" b="0" strike="noStrike" spc="12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de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las </a:t>
            </a:r>
            <a:r>
              <a:rPr lang="es-ES" sz="1800" b="0" strike="noStrike" spc="-12">
                <a:latin typeface="Calibri"/>
              </a:rPr>
              <a:t>lecturas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5">
                <a:latin typeface="Calibri"/>
              </a:rPr>
              <a:t>forward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y </a:t>
            </a:r>
            <a:r>
              <a:rPr lang="es-ES" sz="1800" b="0" strike="noStrike" spc="-15">
                <a:latin typeface="Calibri"/>
              </a:rPr>
              <a:t>reverse:</a:t>
            </a:r>
            <a:endParaRPr lang="es-ES" sz="1800" b="0" strike="noStrike" spc="-1">
              <a:latin typeface="Arial"/>
            </a:endParaRPr>
          </a:p>
        </p:txBody>
      </p:sp>
      <p:pic>
        <p:nvPicPr>
          <p:cNvPr id="212" name="object 4"/>
          <p:cNvPicPr/>
          <p:nvPr/>
        </p:nvPicPr>
        <p:blipFill>
          <a:blip r:embed="rId2"/>
          <a:stretch/>
        </p:blipFill>
        <p:spPr>
          <a:xfrm>
            <a:off x="6270480" y="2199240"/>
            <a:ext cx="5147640" cy="3810240"/>
          </a:xfrm>
          <a:prstGeom prst="rect">
            <a:avLst/>
          </a:prstGeom>
          <a:ln>
            <a:noFill/>
          </a:ln>
        </p:spPr>
      </p:pic>
      <p:pic>
        <p:nvPicPr>
          <p:cNvPr id="213" name="object 5"/>
          <p:cNvPicPr/>
          <p:nvPr/>
        </p:nvPicPr>
        <p:blipFill>
          <a:blip r:embed="rId3"/>
          <a:stretch/>
        </p:blipFill>
        <p:spPr>
          <a:xfrm>
            <a:off x="795960" y="2330280"/>
            <a:ext cx="5078160" cy="3605400"/>
          </a:xfrm>
          <a:prstGeom prst="rect">
            <a:avLst/>
          </a:prstGeom>
          <a:ln>
            <a:noFill/>
          </a:ln>
        </p:spPr>
      </p:pic>
      <p:sp>
        <p:nvSpPr>
          <p:cNvPr id="214" name="CustomShape 3"/>
          <p:cNvSpPr/>
          <p:nvPr/>
        </p:nvSpPr>
        <p:spPr>
          <a:xfrm>
            <a:off x="7466760" y="1776600"/>
            <a:ext cx="2642040" cy="56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7">
                <a:latin typeface="Calibri"/>
              </a:rPr>
              <a:t>plotQualityProfile(fnRs[1:2])</a:t>
            </a:r>
            <a:endParaRPr lang="es-ES" sz="1800" b="0" strike="noStrike" spc="-1">
              <a:latin typeface="Arial"/>
            </a:endParaRPr>
          </a:p>
        </p:txBody>
      </p:sp>
      <p:sp>
        <p:nvSpPr>
          <p:cNvPr id="215" name="CustomShape 4"/>
          <p:cNvSpPr/>
          <p:nvPr/>
        </p:nvSpPr>
        <p:spPr>
          <a:xfrm>
            <a:off x="2040840" y="6243480"/>
            <a:ext cx="7279920" cy="54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1"/>
              </a:spcBef>
            </a:pPr>
            <a:r>
              <a:rPr lang="es-ES" sz="1800" b="0" strike="noStrike" spc="-1">
                <a:latin typeface="Calibri"/>
              </a:rPr>
              <a:t>Las </a:t>
            </a:r>
            <a:r>
              <a:rPr lang="es-ES" sz="1800" b="0" strike="noStrike" spc="-12">
                <a:latin typeface="Calibri"/>
              </a:rPr>
              <a:t>lecturas</a:t>
            </a:r>
            <a:r>
              <a:rPr lang="es-ES" sz="1800" b="0" strike="noStrike" spc="-1">
                <a:latin typeface="Calibri"/>
              </a:rPr>
              <a:t> </a:t>
            </a:r>
            <a:r>
              <a:rPr lang="es-ES" sz="1800" b="0" strike="noStrike" spc="-15">
                <a:latin typeface="Calibri"/>
              </a:rPr>
              <a:t>forward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mejor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calidad,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recortar</a:t>
            </a:r>
            <a:r>
              <a:rPr lang="es-ES" sz="1800" b="0" strike="noStrike" spc="-1">
                <a:latin typeface="Calibri"/>
              </a:rPr>
              <a:t> en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240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pb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y </a:t>
            </a:r>
            <a:r>
              <a:rPr lang="es-ES" sz="1800" b="0" strike="noStrike" spc="-7">
                <a:latin typeface="Calibri"/>
              </a:rPr>
              <a:t>las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5">
                <a:latin typeface="Calibri"/>
              </a:rPr>
              <a:t>reverse,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en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160 pb</a:t>
            </a:r>
            <a:endParaRPr lang="es-ES" sz="1800" b="0" strike="noStrike" spc="-1">
              <a:latin typeface="Arial"/>
            </a:endParaRPr>
          </a:p>
        </p:txBody>
      </p:sp>
      <p:sp>
        <p:nvSpPr>
          <p:cNvPr id="216" name="TextShape 5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217" name="CustomShape 6"/>
          <p:cNvSpPr/>
          <p:nvPr/>
        </p:nvSpPr>
        <p:spPr>
          <a:xfrm>
            <a:off x="1854720" y="1883160"/>
            <a:ext cx="2619000" cy="56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-7">
                <a:latin typeface="Calibri"/>
              </a:rPr>
              <a:t>plotQualityProfile(fnFs[1:2])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914760" y="1511280"/>
            <a:ext cx="7688160" cy="438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1" strike="noStrike" spc="-12">
                <a:latin typeface="Calibri"/>
              </a:rPr>
              <a:t>Filtrado</a:t>
            </a:r>
            <a:r>
              <a:rPr lang="es-ES" sz="1800" b="1" strike="noStrike" spc="-21">
                <a:latin typeface="Calibri"/>
              </a:rPr>
              <a:t> </a:t>
            </a:r>
            <a:r>
              <a:rPr lang="es-ES" sz="1800" b="1" strike="noStrike" spc="-1">
                <a:latin typeface="Calibri"/>
              </a:rPr>
              <a:t>y</a:t>
            </a:r>
            <a:r>
              <a:rPr lang="es-ES" sz="1800" b="1" strike="noStrike" spc="-12">
                <a:latin typeface="Calibri"/>
              </a:rPr>
              <a:t> </a:t>
            </a:r>
            <a:r>
              <a:rPr lang="es-ES" sz="1800" b="1" strike="noStrike" spc="-15">
                <a:latin typeface="Calibri"/>
              </a:rPr>
              <a:t>recorte </a:t>
            </a:r>
            <a:r>
              <a:rPr lang="es-ES" sz="1800" b="1" strike="noStrike" spc="-7">
                <a:latin typeface="Calibri"/>
              </a:rPr>
              <a:t>de</a:t>
            </a:r>
            <a:r>
              <a:rPr lang="es-ES" sz="1800" b="1" strike="noStrike" spc="-12">
                <a:latin typeface="Calibri"/>
              </a:rPr>
              <a:t> lecturas: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4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1" strike="noStrike" spc="-12">
                <a:latin typeface="Calibri"/>
              </a:rPr>
              <a:t>Creamos </a:t>
            </a:r>
            <a:r>
              <a:rPr lang="es-ES" sz="1800" b="1" strike="noStrike" spc="-7">
                <a:latin typeface="Calibri"/>
              </a:rPr>
              <a:t>un </a:t>
            </a:r>
            <a:r>
              <a:rPr lang="es-ES" sz="1800" b="1" strike="noStrike" spc="-12">
                <a:latin typeface="Calibri"/>
              </a:rPr>
              <a:t>nuevo</a:t>
            </a:r>
            <a:r>
              <a:rPr lang="es-ES" sz="1800" b="1" strike="noStrike" spc="-7">
                <a:latin typeface="Calibri"/>
              </a:rPr>
              <a:t> </a:t>
            </a:r>
            <a:r>
              <a:rPr lang="es-ES" sz="1800" b="1" strike="noStrike" spc="-12">
                <a:latin typeface="Calibri"/>
              </a:rPr>
              <a:t>directorio </a:t>
            </a:r>
            <a:r>
              <a:rPr lang="es-ES" sz="1800" b="1" strike="noStrike" spc="-7">
                <a:latin typeface="Calibri"/>
              </a:rPr>
              <a:t>en</a:t>
            </a:r>
            <a:r>
              <a:rPr lang="es-ES" sz="1800" b="1" strike="noStrike" spc="-1">
                <a:latin typeface="Calibri"/>
              </a:rPr>
              <a:t> </a:t>
            </a:r>
            <a:r>
              <a:rPr lang="es-ES" sz="1800" b="1" strike="noStrike" spc="-7">
                <a:latin typeface="Calibri"/>
              </a:rPr>
              <a:t>el</a:t>
            </a:r>
            <a:r>
              <a:rPr lang="es-ES" sz="1800" b="1" strike="noStrike" spc="-12">
                <a:latin typeface="Calibri"/>
              </a:rPr>
              <a:t> </a:t>
            </a:r>
            <a:r>
              <a:rPr lang="es-ES" sz="1800" b="1" strike="noStrike" spc="-7">
                <a:latin typeface="Calibri"/>
              </a:rPr>
              <a:t>que poner las </a:t>
            </a:r>
            <a:r>
              <a:rPr lang="es-ES" sz="1800" b="1" strike="noStrike" spc="-12">
                <a:latin typeface="Calibri"/>
              </a:rPr>
              <a:t>lecturas filtradas: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0" strike="noStrike" spc="-12">
                <a:latin typeface="Calibri"/>
              </a:rPr>
              <a:t>filtFs</a:t>
            </a:r>
            <a:r>
              <a:rPr lang="es-ES" sz="1800" b="0" strike="noStrike" spc="-1">
                <a:latin typeface="Calibri"/>
              </a:rPr>
              <a:t> &lt;-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file.path(path,</a:t>
            </a:r>
            <a:r>
              <a:rPr lang="es-ES" sz="1800" b="0" strike="noStrike" spc="12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"filtered",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paste0(sample.names,</a:t>
            </a:r>
            <a:r>
              <a:rPr lang="es-ES" sz="1800" b="0" strike="noStrike" spc="12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"_F_filt.fastq.gz"))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filtRs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&lt;-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089"/>
              </a:lnSpc>
              <a:spcBef>
                <a:spcPts val="181"/>
              </a:spcBef>
            </a:pPr>
            <a:r>
              <a:rPr lang="es-ES" sz="1800" b="0" strike="noStrike" spc="-7">
                <a:latin typeface="Calibri"/>
              </a:rPr>
              <a:t>file.path(path,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"filtered",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paste0(sample.names,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"_R_filt.fastq.gz"))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names(filtFs)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&lt;- </a:t>
            </a:r>
            <a:r>
              <a:rPr lang="es-ES" sz="1800" b="0" strike="noStrike" spc="-392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sample.names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49"/>
              </a:lnSpc>
            </a:pPr>
            <a:r>
              <a:rPr lang="es-ES" sz="1800" b="0" strike="noStrike" spc="-7">
                <a:latin typeface="Calibri"/>
              </a:rPr>
              <a:t>names(filtRs) </a:t>
            </a:r>
            <a:r>
              <a:rPr lang="es-ES" sz="1800" b="0" strike="noStrike" spc="-1">
                <a:latin typeface="Calibri"/>
              </a:rPr>
              <a:t>&lt;-</a:t>
            </a:r>
            <a:r>
              <a:rPr lang="es-ES" sz="1800" b="0" strike="noStrike" spc="-12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sample.names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1" strike="noStrike" spc="-12">
                <a:latin typeface="Calibri"/>
              </a:rPr>
              <a:t>Realizamos</a:t>
            </a:r>
            <a:r>
              <a:rPr lang="es-ES" sz="1800" b="1" strike="noStrike" spc="-32">
                <a:latin typeface="Calibri"/>
              </a:rPr>
              <a:t> </a:t>
            </a:r>
            <a:r>
              <a:rPr lang="es-ES" sz="1800" b="1" strike="noStrike" spc="-7">
                <a:latin typeface="Calibri"/>
              </a:rPr>
              <a:t>el</a:t>
            </a:r>
            <a:r>
              <a:rPr lang="es-ES" sz="1800" b="1" strike="noStrike" spc="-32">
                <a:latin typeface="Calibri"/>
              </a:rPr>
              <a:t> </a:t>
            </a:r>
            <a:r>
              <a:rPr lang="es-ES" sz="1800" b="1" strike="noStrike" spc="-12">
                <a:latin typeface="Calibri"/>
              </a:rPr>
              <a:t>proceso: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089"/>
              </a:lnSpc>
              <a:spcBef>
                <a:spcPts val="176"/>
              </a:spcBef>
            </a:pPr>
            <a:r>
              <a:rPr lang="es-ES" sz="1800" b="0" strike="noStrike" spc="-1">
                <a:latin typeface="Calibri"/>
              </a:rPr>
              <a:t>out &lt;-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5">
                <a:latin typeface="Calibri"/>
              </a:rPr>
              <a:t>filterAndTrim(fnFs,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filtFs,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fnRs,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filtRs,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truncLen=c(240,160),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maxN=0, </a:t>
            </a:r>
            <a:r>
              <a:rPr lang="es-ES" sz="1800" b="0" strike="noStrike" spc="-1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maxEE=c(2,2),</a:t>
            </a:r>
            <a:r>
              <a:rPr lang="es-ES" sz="1800" b="0" strike="noStrike" spc="18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truncQ=2,</a:t>
            </a:r>
            <a:r>
              <a:rPr lang="es-ES" sz="1800" b="0" strike="noStrike" spc="18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rm.phix=TRUE,</a:t>
            </a:r>
            <a:r>
              <a:rPr lang="es-ES" sz="1800" b="0" strike="noStrike" spc="24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compress=TRUE,</a:t>
            </a:r>
            <a:r>
              <a:rPr lang="es-ES" sz="1800" b="0" strike="noStrike" spc="18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multithread=TRUE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0" strike="noStrike" spc="-7">
                <a:latin typeface="Calibri"/>
              </a:rPr>
              <a:t>head(out)</a:t>
            </a:r>
            <a:endParaRPr lang="es-ES" sz="1800" b="0" strike="noStrike" spc="-1">
              <a:latin typeface="Arial"/>
            </a:endParaRPr>
          </a:p>
        </p:txBody>
      </p:sp>
      <p:pic>
        <p:nvPicPr>
          <p:cNvPr id="220" name="object 4"/>
          <p:cNvPicPr/>
          <p:nvPr/>
        </p:nvPicPr>
        <p:blipFill>
          <a:blip r:embed="rId2"/>
          <a:stretch/>
        </p:blipFill>
        <p:spPr>
          <a:xfrm>
            <a:off x="5280120" y="4730040"/>
            <a:ext cx="5079600" cy="1739520"/>
          </a:xfrm>
          <a:prstGeom prst="rect">
            <a:avLst/>
          </a:prstGeom>
          <a:ln>
            <a:noFill/>
          </a:ln>
        </p:spPr>
      </p:pic>
      <p:sp>
        <p:nvSpPr>
          <p:cNvPr id="221" name="TextShape 3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23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1523160" y="950400"/>
            <a:ext cx="10369440" cy="516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500" b="1" strike="noStrike" spc="-15">
                <a:latin typeface="Calibri"/>
              </a:rPr>
              <a:t>Mirar </a:t>
            </a:r>
            <a:r>
              <a:rPr lang="es-ES" sz="1500" b="1" strike="noStrike" spc="-7">
                <a:latin typeface="Calibri"/>
              </a:rPr>
              <a:t>las</a:t>
            </a:r>
            <a:r>
              <a:rPr lang="es-ES" sz="1500" b="1" strike="noStrike" spc="-12">
                <a:latin typeface="Calibri"/>
              </a:rPr>
              <a:t> tasas </a:t>
            </a:r>
            <a:r>
              <a:rPr lang="es-ES" sz="1500" b="1" strike="noStrike" spc="-7">
                <a:latin typeface="Calibri"/>
              </a:rPr>
              <a:t>de</a:t>
            </a:r>
            <a:r>
              <a:rPr lang="es-ES" sz="1500" b="1" strike="noStrike" spc="-15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error:</a:t>
            </a: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5"/>
              </a:spcBef>
            </a:pPr>
            <a:endParaRPr lang="es-ES" sz="1500" b="0" strike="noStrike" spc="-1">
              <a:latin typeface="Arial"/>
            </a:endParaRPr>
          </a:p>
          <a:p>
            <a:pPr marL="12600" algn="just">
              <a:lnSpc>
                <a:spcPct val="99000"/>
              </a:lnSpc>
            </a:pPr>
            <a:r>
              <a:rPr lang="es-ES" sz="1500" b="0" strike="noStrike" spc="-7">
                <a:latin typeface="Calibri"/>
              </a:rPr>
              <a:t>errF </a:t>
            </a:r>
            <a:r>
              <a:rPr lang="es-ES" sz="1500" b="0" strike="noStrike" spc="-1">
                <a:latin typeface="Calibri"/>
              </a:rPr>
              <a:t>&lt;- </a:t>
            </a:r>
            <a:r>
              <a:rPr lang="es-ES" sz="1500" b="0" strike="noStrike" spc="-12">
                <a:latin typeface="Calibri"/>
              </a:rPr>
              <a:t>learnErrors(filtFs, </a:t>
            </a:r>
            <a:r>
              <a:rPr lang="es-ES" sz="1500" b="0" strike="noStrike" spc="-7">
                <a:latin typeface="Calibri"/>
              </a:rPr>
              <a:t>multithread=TRUE) </a:t>
            </a:r>
            <a:r>
              <a:rPr lang="es-ES" sz="1500" b="0" strike="noStrike" spc="-1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errR </a:t>
            </a:r>
            <a:r>
              <a:rPr lang="es-ES" sz="1500" b="0" strike="noStrike" spc="-1">
                <a:latin typeface="Calibri"/>
              </a:rPr>
              <a:t>&lt;- </a:t>
            </a:r>
            <a:r>
              <a:rPr lang="es-ES" sz="1500" b="0" strike="noStrike" spc="-12">
                <a:latin typeface="Calibri"/>
              </a:rPr>
              <a:t>learnErrors(filtRs, </a:t>
            </a:r>
            <a:r>
              <a:rPr lang="es-ES" sz="1500" b="0" strike="noStrike" spc="-7">
                <a:latin typeface="Calibri"/>
              </a:rPr>
              <a:t>multithread=TRUE) </a:t>
            </a:r>
            <a:r>
              <a:rPr lang="es-ES" sz="1500" b="0" strike="noStrike" spc="-395">
                <a:latin typeface="Calibri"/>
              </a:rPr>
              <a:t> </a:t>
            </a:r>
            <a:r>
              <a:rPr lang="es-ES" sz="1500" b="0" strike="noStrike" spc="-21">
                <a:latin typeface="Calibri"/>
              </a:rPr>
              <a:t>plotErrors(errF,</a:t>
            </a:r>
            <a:r>
              <a:rPr lang="es-ES" sz="1500" b="0" strike="noStrike" spc="-1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nominalQ=TRUE)</a:t>
            </a: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</a:pPr>
            <a:endParaRPr lang="es-ES" sz="1500" b="0" strike="noStrike" spc="-1">
              <a:latin typeface="Arial"/>
            </a:endParaRPr>
          </a:p>
          <a:p>
            <a:pPr marL="12600">
              <a:lnSpc>
                <a:spcPct val="102000"/>
              </a:lnSpc>
            </a:pPr>
            <a:r>
              <a:rPr lang="es-ES" sz="1500" b="0" strike="noStrike" spc="-12">
                <a:latin typeface="Calibri"/>
              </a:rPr>
              <a:t>#save.image(“Sesion7.Rdata”) </a:t>
            </a:r>
            <a:r>
              <a:rPr lang="es-ES" sz="1500" b="0" strike="noStrike" spc="-7">
                <a:latin typeface="Calibri"/>
              </a:rPr>
              <a:t> #local({</a:t>
            </a:r>
            <a:r>
              <a:rPr lang="es-ES" sz="1500" b="0" strike="noStrike" spc="-15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load("Sesion7.Rdata") ls()</a:t>
            </a:r>
            <a:r>
              <a:rPr lang="es-ES" sz="1500" b="0" strike="noStrike" spc="-1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})</a:t>
            </a: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500" b="1" strike="noStrike" spc="-12">
                <a:latin typeface="Calibri"/>
              </a:rPr>
              <a:t>Inferir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cuantas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secuencias</a:t>
            </a:r>
            <a:r>
              <a:rPr lang="es-ES" sz="1500" b="1" strike="noStrike" spc="-1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únicas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5">
                <a:latin typeface="Calibri"/>
              </a:rPr>
              <a:t>hay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5">
                <a:latin typeface="Calibri"/>
              </a:rPr>
              <a:t>entre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7">
                <a:latin typeface="Calibri"/>
              </a:rPr>
              <a:t>las</a:t>
            </a:r>
            <a:r>
              <a:rPr lang="es-ES" sz="1500" b="1" strike="noStrike" spc="-1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lecturas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">
                <a:latin typeface="Calibri"/>
              </a:rPr>
              <a:t>y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cuántas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5">
                <a:latin typeface="Calibri"/>
              </a:rPr>
              <a:t>variantes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7">
                <a:latin typeface="Calibri"/>
              </a:rPr>
              <a:t>en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5">
                <a:latin typeface="Calibri"/>
              </a:rPr>
              <a:t>estas</a:t>
            </a:r>
            <a:r>
              <a:rPr lang="es-ES" sz="1500" b="1" strike="noStrike" spc="4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secuencias</a:t>
            </a:r>
            <a:r>
              <a:rPr lang="es-ES" sz="1500" b="1" strike="noStrike" spc="-1">
                <a:latin typeface="Calibri"/>
              </a:rPr>
              <a:t> </a:t>
            </a:r>
            <a:r>
              <a:rPr lang="es-ES" sz="1500" b="1" strike="noStrike" spc="-12">
                <a:latin typeface="Calibri"/>
              </a:rPr>
              <a:t>únicas:</a:t>
            </a: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lang="es-ES" sz="1500" b="0" strike="noStrike" spc="-1"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6"/>
              </a:spcBef>
            </a:pPr>
            <a:r>
              <a:rPr lang="es-ES" sz="1500" b="0" strike="noStrike" spc="-12">
                <a:latin typeface="Calibri"/>
              </a:rPr>
              <a:t>dadaFs </a:t>
            </a:r>
            <a:r>
              <a:rPr lang="es-ES" sz="1500" b="0" strike="noStrike" spc="-1">
                <a:latin typeface="Calibri"/>
              </a:rPr>
              <a:t>&lt;-</a:t>
            </a:r>
            <a:r>
              <a:rPr lang="es-ES" sz="1500" b="0" strike="noStrike" spc="-12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dada(filtFs,</a:t>
            </a:r>
            <a:r>
              <a:rPr lang="es-ES" sz="1500" b="0" strike="noStrike" spc="-1">
                <a:latin typeface="Calibri"/>
              </a:rPr>
              <a:t> </a:t>
            </a:r>
            <a:r>
              <a:rPr lang="es-ES" sz="1500" b="0" strike="noStrike" spc="-26">
                <a:latin typeface="Calibri"/>
              </a:rPr>
              <a:t>err=errF,</a:t>
            </a:r>
            <a:r>
              <a:rPr lang="es-ES" sz="1500" b="0" strike="noStrike" spc="-7">
                <a:latin typeface="Calibri"/>
              </a:rPr>
              <a:t> multithread=TRUE) </a:t>
            </a:r>
            <a:r>
              <a:rPr lang="es-ES" sz="1500" b="0" strike="noStrike" spc="-392">
                <a:latin typeface="Calibri"/>
              </a:rPr>
              <a:t> </a:t>
            </a:r>
            <a:r>
              <a:rPr lang="es-ES" sz="1500" b="0" strike="noStrike" spc="-12">
                <a:latin typeface="Calibri"/>
              </a:rPr>
              <a:t>dadaFs[[1]]</a:t>
            </a:r>
            <a:endParaRPr lang="es-ES" sz="1500" b="0" strike="noStrike" spc="-1">
              <a:latin typeface="Arial"/>
            </a:endParaRPr>
          </a:p>
          <a:p>
            <a:pPr marL="12600">
              <a:lnSpc>
                <a:spcPts val="2180"/>
              </a:lnSpc>
              <a:spcBef>
                <a:spcPts val="6"/>
              </a:spcBef>
            </a:pPr>
            <a:r>
              <a:rPr lang="es-ES" sz="1500" b="0" strike="noStrike" spc="-7">
                <a:latin typeface="Calibri"/>
              </a:rPr>
              <a:t>dadaRs </a:t>
            </a:r>
            <a:r>
              <a:rPr lang="es-ES" sz="1500" b="0" strike="noStrike" spc="-1">
                <a:latin typeface="Calibri"/>
              </a:rPr>
              <a:t>&lt;- </a:t>
            </a:r>
            <a:r>
              <a:rPr lang="es-ES" sz="1500" b="0" strike="noStrike" spc="-7">
                <a:latin typeface="Calibri"/>
              </a:rPr>
              <a:t>dada(filtRs,</a:t>
            </a:r>
            <a:r>
              <a:rPr lang="es-ES" sz="1500" b="0" strike="noStrike" spc="4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err=errR,</a:t>
            </a:r>
            <a:r>
              <a:rPr lang="es-ES" sz="1500" b="0" strike="noStrike" spc="4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multithread=TRUE) </a:t>
            </a:r>
            <a:r>
              <a:rPr lang="es-ES" sz="1500" b="0" strike="noStrike" spc="-395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dadaRs[[1]]</a:t>
            </a: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"/>
              </a:spcBef>
            </a:pP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500" b="1" strike="noStrike" spc="-7">
                <a:latin typeface="Calibri"/>
              </a:rPr>
              <a:t>Unir</a:t>
            </a:r>
            <a:r>
              <a:rPr lang="es-ES" sz="1500" b="1" strike="noStrike" spc="-12">
                <a:latin typeface="Calibri"/>
              </a:rPr>
              <a:t> secuencias </a:t>
            </a:r>
            <a:r>
              <a:rPr lang="es-ES" sz="1500" b="1" strike="noStrike" spc="-15">
                <a:latin typeface="Calibri"/>
              </a:rPr>
              <a:t>forward</a:t>
            </a:r>
            <a:r>
              <a:rPr lang="es-ES" sz="1500" b="1" strike="noStrike" spc="-7">
                <a:latin typeface="Calibri"/>
              </a:rPr>
              <a:t> </a:t>
            </a:r>
            <a:r>
              <a:rPr lang="es-ES" sz="1500" b="1" strike="noStrike" spc="-1">
                <a:latin typeface="Calibri"/>
              </a:rPr>
              <a:t>y</a:t>
            </a:r>
            <a:r>
              <a:rPr lang="es-ES" sz="1500" b="1" strike="noStrike" spc="-7">
                <a:latin typeface="Calibri"/>
              </a:rPr>
              <a:t> </a:t>
            </a:r>
            <a:r>
              <a:rPr lang="es-ES" sz="1500" b="1" strike="noStrike" spc="-15">
                <a:latin typeface="Calibri"/>
              </a:rPr>
              <a:t>reverse:</a:t>
            </a:r>
            <a:endParaRPr lang="es-ES" sz="15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500" b="0" strike="noStrike" spc="-1">
              <a:latin typeface="Arial"/>
            </a:endParaRPr>
          </a:p>
          <a:p>
            <a:pPr marL="12600">
              <a:lnSpc>
                <a:spcPct val="101000"/>
              </a:lnSpc>
            </a:pPr>
            <a:r>
              <a:rPr lang="es-ES" sz="1500" b="0" strike="noStrike" spc="-15">
                <a:latin typeface="Calibri"/>
              </a:rPr>
              <a:t>mergers</a:t>
            </a:r>
            <a:r>
              <a:rPr lang="es-ES" sz="1500" b="0" strike="noStrike" spc="9">
                <a:latin typeface="Calibri"/>
              </a:rPr>
              <a:t> </a:t>
            </a:r>
            <a:r>
              <a:rPr lang="es-ES" sz="1500" b="0" strike="noStrike" spc="-1">
                <a:latin typeface="Calibri"/>
              </a:rPr>
              <a:t>&lt;-</a:t>
            </a:r>
            <a:r>
              <a:rPr lang="es-ES" sz="1500" b="0" strike="noStrike" spc="9">
                <a:latin typeface="Calibri"/>
              </a:rPr>
              <a:t> </a:t>
            </a:r>
            <a:r>
              <a:rPr lang="es-ES" sz="1500" b="0" strike="noStrike" spc="-15">
                <a:latin typeface="Calibri"/>
              </a:rPr>
              <a:t>mergePairs(dadaFs,</a:t>
            </a:r>
            <a:r>
              <a:rPr lang="es-ES" sz="1500" b="0" strike="noStrike" spc="12">
                <a:latin typeface="Calibri"/>
              </a:rPr>
              <a:t> </a:t>
            </a:r>
            <a:r>
              <a:rPr lang="es-ES" sz="1500" b="0" strike="noStrike" spc="-12">
                <a:latin typeface="Calibri"/>
              </a:rPr>
              <a:t>filtFs,</a:t>
            </a:r>
            <a:r>
              <a:rPr lang="es-ES" sz="1500" b="0" strike="noStrike" spc="12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dadaRs,</a:t>
            </a:r>
            <a:r>
              <a:rPr lang="es-ES" sz="1500" b="0" strike="noStrike" spc="12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filtRs,</a:t>
            </a:r>
            <a:r>
              <a:rPr lang="es-ES" sz="1500" b="0" strike="noStrike" spc="18">
                <a:latin typeface="Calibri"/>
              </a:rPr>
              <a:t> </a:t>
            </a:r>
            <a:r>
              <a:rPr lang="es-ES" sz="1500" b="0" strike="noStrike" spc="-7">
                <a:latin typeface="Calibri"/>
              </a:rPr>
              <a:t>verbose=TRUE) </a:t>
            </a:r>
            <a:r>
              <a:rPr lang="es-ES" sz="1500" b="0" strike="noStrike" spc="-395">
                <a:latin typeface="Calibri"/>
              </a:rPr>
              <a:t> </a:t>
            </a:r>
            <a:r>
              <a:rPr lang="es-ES" sz="1500" b="0" strike="noStrike" spc="-12">
                <a:latin typeface="Calibri"/>
              </a:rPr>
              <a:t>head(mergers[[1]])</a:t>
            </a:r>
            <a:endParaRPr lang="es-E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26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227" name="CustomShape 3"/>
          <p:cNvSpPr/>
          <p:nvPr/>
        </p:nvSpPr>
        <p:spPr>
          <a:xfrm>
            <a:off x="845640" y="761400"/>
            <a:ext cx="8776440" cy="410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ts val="2126"/>
              </a:lnSpc>
              <a:spcBef>
                <a:spcPts val="99"/>
              </a:spcBef>
            </a:pP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Construir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tabla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con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los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32">
                <a:solidFill>
                  <a:srgbClr val="2C3E50"/>
                </a:solidFill>
                <a:latin typeface="Calibri"/>
              </a:rPr>
              <a:t>ASVs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y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mirar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longitud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las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secuencias: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26"/>
              </a:lnSpc>
            </a:pP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seqtab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&lt;-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makeSequenceTable(mergers)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dim(seqtab)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1000"/>
              </a:lnSpc>
              <a:spcBef>
                <a:spcPts val="26"/>
              </a:spcBef>
            </a:pP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dim(seqtab)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La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tabla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muestra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que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hay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20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muestras,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con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un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total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293 </a:t>
            </a:r>
            <a:r>
              <a:rPr lang="es-ES" sz="1800" b="0" strike="noStrike" spc="-26">
                <a:solidFill>
                  <a:srgbClr val="2C3E50"/>
                </a:solidFill>
                <a:latin typeface="Calibri"/>
              </a:rPr>
              <a:t>ASVs </a:t>
            </a:r>
            <a:r>
              <a:rPr lang="es-ES" sz="1800" b="0" strike="noStrike" spc="-39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table(nchar(getSequences(seqtab)))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Quitar</a:t>
            </a:r>
            <a:r>
              <a:rPr lang="es-ES" sz="1800" b="1" strike="noStrike" spc="-26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las</a:t>
            </a:r>
            <a:r>
              <a:rPr lang="es-ES" sz="1800" b="1" strike="noStrike" spc="-2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quimeras: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0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1000"/>
              </a:lnSpc>
            </a:pP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seqtab.nochim</a:t>
            </a:r>
            <a:r>
              <a:rPr lang="es-ES" sz="1800" b="0" strike="noStrike" spc="18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&lt;-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removeBimeraDenovo(seqtab,</a:t>
            </a:r>
            <a:r>
              <a:rPr lang="es-ES" sz="1800" b="0" strike="noStrike" spc="18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method="consensus",</a:t>
            </a:r>
            <a:r>
              <a:rPr lang="es-ES" sz="1800" b="0" strike="noStrike" spc="18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multithread=TRUE, </a:t>
            </a:r>
            <a:r>
              <a:rPr lang="es-ES" sz="1800" b="0" strike="noStrike" spc="-39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verbose=TRUE)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09"/>
              </a:lnSpc>
            </a:pP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dim(seqtab.nochim)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99000"/>
              </a:lnSpc>
              <a:spcBef>
                <a:spcPts val="60"/>
              </a:spcBef>
            </a:pP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sum(seqtab.nochim)/sum(seqtab)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)</a:t>
            </a:r>
            <a:r>
              <a:rPr lang="es-ES" sz="1800" b="0" strike="noStrike" spc="2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los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293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26">
                <a:solidFill>
                  <a:srgbClr val="2C3E50"/>
                </a:solidFill>
                <a:latin typeface="Calibri"/>
              </a:rPr>
              <a:t>ASVs,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232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no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son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quiméricos,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es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decir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son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secuencias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que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no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obtienen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a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partir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de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una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región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presente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otros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26">
                <a:solidFill>
                  <a:srgbClr val="2C3E50"/>
                </a:solidFill>
                <a:latin typeface="Calibri"/>
              </a:rPr>
              <a:t>ASVs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más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abundantes. </a:t>
            </a:r>
            <a:r>
              <a:rPr lang="es-ES" sz="1800" b="0" strike="noStrike" spc="-39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Sin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embargo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teniendo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cuenta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la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abundancia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(sum)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solo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representan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un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0.964263.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845640" y="1026720"/>
            <a:ext cx="8313840" cy="193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1" strike="noStrike" spc="-15">
                <a:latin typeface="Calibri"/>
              </a:rPr>
              <a:t>Mirar</a:t>
            </a:r>
            <a:r>
              <a:rPr lang="es-ES" sz="1800" b="1" strike="noStrike" spc="-7">
                <a:latin typeface="Calibri"/>
              </a:rPr>
              <a:t> </a:t>
            </a:r>
            <a:r>
              <a:rPr lang="es-ES" sz="1800" b="1" strike="noStrike" spc="-12">
                <a:latin typeface="Calibri"/>
              </a:rPr>
              <a:t>cuántas</a:t>
            </a:r>
            <a:r>
              <a:rPr lang="es-ES" sz="1800" b="1" strike="noStrike" spc="-1">
                <a:latin typeface="Calibri"/>
              </a:rPr>
              <a:t> </a:t>
            </a:r>
            <a:r>
              <a:rPr lang="es-ES" sz="1800" b="1" strike="noStrike" spc="-12">
                <a:latin typeface="Calibri"/>
              </a:rPr>
              <a:t>lecturas</a:t>
            </a:r>
            <a:r>
              <a:rPr lang="es-ES" sz="1800" b="1" strike="noStrike" spc="-1">
                <a:latin typeface="Calibri"/>
              </a:rPr>
              <a:t> </a:t>
            </a:r>
            <a:r>
              <a:rPr lang="es-ES" sz="1800" b="1" strike="noStrike" spc="-7">
                <a:latin typeface="Calibri"/>
              </a:rPr>
              <a:t>se</a:t>
            </a:r>
            <a:r>
              <a:rPr lang="es-ES" sz="1800" b="1" strike="noStrike" spc="-12">
                <a:latin typeface="Calibri"/>
              </a:rPr>
              <a:t> </a:t>
            </a:r>
            <a:r>
              <a:rPr lang="es-ES" sz="1800" b="1" strike="noStrike" spc="-7">
                <a:latin typeface="Calibri"/>
              </a:rPr>
              <a:t>han</a:t>
            </a:r>
            <a:r>
              <a:rPr lang="es-ES" sz="1800" b="1" strike="noStrike" spc="-1">
                <a:latin typeface="Calibri"/>
              </a:rPr>
              <a:t> </a:t>
            </a:r>
            <a:r>
              <a:rPr lang="es-ES" sz="1800" b="1" strike="noStrike" spc="-12">
                <a:latin typeface="Calibri"/>
              </a:rPr>
              <a:t>filtrado</a:t>
            </a:r>
            <a:r>
              <a:rPr lang="es-ES" sz="1800" b="1" strike="noStrike" spc="-1">
                <a:latin typeface="Calibri"/>
              </a:rPr>
              <a:t> a </a:t>
            </a:r>
            <a:r>
              <a:rPr lang="es-ES" sz="1800" b="1" strike="noStrike" spc="-7">
                <a:latin typeface="Calibri"/>
              </a:rPr>
              <a:t>lo </a:t>
            </a:r>
            <a:r>
              <a:rPr lang="es-ES" sz="1800" b="1" strike="noStrike" spc="-15">
                <a:latin typeface="Calibri"/>
              </a:rPr>
              <a:t>largo</a:t>
            </a:r>
            <a:r>
              <a:rPr lang="es-ES" sz="1800" b="1" strike="noStrike" spc="-1">
                <a:latin typeface="Calibri"/>
              </a:rPr>
              <a:t> </a:t>
            </a:r>
            <a:r>
              <a:rPr lang="es-ES" sz="1800" b="1" strike="noStrike" spc="-7">
                <a:latin typeface="Calibri"/>
              </a:rPr>
              <a:t>del</a:t>
            </a:r>
            <a:r>
              <a:rPr lang="es-ES" sz="1800" b="1" strike="noStrike" spc="-1">
                <a:latin typeface="Calibri"/>
              </a:rPr>
              <a:t> </a:t>
            </a:r>
            <a:r>
              <a:rPr lang="es-ES" sz="1800" b="1" strike="noStrike" spc="-12">
                <a:latin typeface="Calibri"/>
              </a:rPr>
              <a:t>proceso: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5"/>
              </a:spcBef>
            </a:pPr>
            <a:r>
              <a:rPr lang="es-ES" sz="1800" b="0" strike="noStrike" spc="-12">
                <a:latin typeface="Calibri"/>
              </a:rPr>
              <a:t>getN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&lt;- </a:t>
            </a:r>
            <a:r>
              <a:rPr lang="es-ES" sz="1800" b="0" strike="noStrike" spc="-7">
                <a:latin typeface="Calibri"/>
              </a:rPr>
              <a:t>function(x)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sum(getUniques(x))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09"/>
              </a:lnSpc>
              <a:spcBef>
                <a:spcPts val="139"/>
              </a:spcBef>
            </a:pPr>
            <a:r>
              <a:rPr lang="es-ES" sz="1800" b="0" strike="noStrike" spc="-12">
                <a:latin typeface="Calibri"/>
              </a:rPr>
              <a:t>track</a:t>
            </a:r>
            <a:r>
              <a:rPr lang="es-ES" sz="1800" b="0" strike="noStrike" spc="-1">
                <a:latin typeface="Calibri"/>
              </a:rPr>
              <a:t> &lt;-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cbind(out,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sapply(dadaFs,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getN),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sapply(dadaRs,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getN),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sapply(mergers,</a:t>
            </a:r>
            <a:r>
              <a:rPr lang="es-ES" sz="1800" b="0" strike="noStrike" spc="9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getN), </a:t>
            </a:r>
            <a:r>
              <a:rPr lang="es-ES" sz="1800" b="0" strike="noStrike" spc="-392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rowSums(seqtab.nochim))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089"/>
              </a:lnSpc>
              <a:spcBef>
                <a:spcPts val="116"/>
              </a:spcBef>
            </a:pPr>
            <a:r>
              <a:rPr lang="es-ES" sz="1800" b="0" strike="noStrike" spc="-12">
                <a:latin typeface="Calibri"/>
              </a:rPr>
              <a:t>colnames(track)</a:t>
            </a:r>
            <a:r>
              <a:rPr lang="es-ES" sz="1800" b="0" strike="noStrike" spc="29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&lt;-</a:t>
            </a:r>
            <a:r>
              <a:rPr lang="es-ES" sz="1800" b="0" strike="noStrike" spc="12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c("input",</a:t>
            </a:r>
            <a:r>
              <a:rPr lang="es-ES" sz="1800" b="0" strike="noStrike" spc="2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"filtered",</a:t>
            </a:r>
            <a:r>
              <a:rPr lang="es-ES" sz="1800" b="0" strike="noStrike" spc="2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"denoisedF",</a:t>
            </a:r>
            <a:r>
              <a:rPr lang="es-ES" sz="1800" b="0" strike="noStrike" spc="2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"denoisedR",</a:t>
            </a:r>
            <a:r>
              <a:rPr lang="es-ES" sz="1800" b="0" strike="noStrike" spc="2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"merged",</a:t>
            </a:r>
            <a:r>
              <a:rPr lang="es-ES" sz="1800" b="0" strike="noStrike" spc="24">
                <a:latin typeface="Calibri"/>
              </a:rPr>
              <a:t> </a:t>
            </a:r>
            <a:r>
              <a:rPr lang="es-ES" sz="1800" b="0" strike="noStrike" spc="-7">
                <a:latin typeface="Calibri"/>
              </a:rPr>
              <a:t>"nonchim") </a:t>
            </a:r>
            <a:r>
              <a:rPr lang="es-ES" sz="1800" b="0" strike="noStrike" spc="-392">
                <a:latin typeface="Calibri"/>
              </a:rPr>
              <a:t> </a:t>
            </a:r>
            <a:r>
              <a:rPr lang="es-ES" sz="1800" b="0" strike="noStrike" spc="-12">
                <a:latin typeface="Calibri"/>
              </a:rPr>
              <a:t>rownames(track)</a:t>
            </a:r>
            <a:r>
              <a:rPr lang="es-ES" sz="1800" b="0" strike="noStrike" spc="4">
                <a:latin typeface="Calibri"/>
              </a:rPr>
              <a:t> </a:t>
            </a:r>
            <a:r>
              <a:rPr lang="es-ES" sz="1800" b="0" strike="noStrike" spc="-1">
                <a:latin typeface="Calibri"/>
              </a:rPr>
              <a:t>&lt;- </a:t>
            </a:r>
            <a:r>
              <a:rPr lang="es-ES" sz="1800" b="0" strike="noStrike" spc="-7">
                <a:latin typeface="Calibri"/>
              </a:rPr>
              <a:t>sample.names</a:t>
            </a:r>
            <a:endParaRPr lang="es-ES" sz="1800" b="0" strike="noStrike" spc="-1">
              <a:latin typeface="Arial"/>
            </a:endParaRPr>
          </a:p>
          <a:p>
            <a:pPr marL="64800">
              <a:lnSpc>
                <a:spcPts val="2149"/>
              </a:lnSpc>
            </a:pPr>
            <a:r>
              <a:rPr lang="es-ES" sz="1800" b="0" strike="noStrike" spc="-7">
                <a:latin typeface="Calibri"/>
              </a:rPr>
              <a:t>head(track)</a:t>
            </a:r>
            <a:endParaRPr lang="es-ES" sz="1800" b="0" strike="noStrike" spc="-1">
              <a:latin typeface="Arial"/>
            </a:endParaRPr>
          </a:p>
        </p:txBody>
      </p:sp>
      <p:pic>
        <p:nvPicPr>
          <p:cNvPr id="230" name="object 4"/>
          <p:cNvPicPr/>
          <p:nvPr/>
        </p:nvPicPr>
        <p:blipFill>
          <a:blip r:embed="rId2"/>
          <a:stretch/>
        </p:blipFill>
        <p:spPr>
          <a:xfrm>
            <a:off x="2468880" y="3162960"/>
            <a:ext cx="6730560" cy="2450880"/>
          </a:xfrm>
          <a:prstGeom prst="rect">
            <a:avLst/>
          </a:prstGeom>
          <a:ln>
            <a:noFill/>
          </a:ln>
        </p:spPr>
      </p:pic>
      <p:sp>
        <p:nvSpPr>
          <p:cNvPr id="231" name="CustomShape 3"/>
          <p:cNvSpPr/>
          <p:nvPr/>
        </p:nvSpPr>
        <p:spPr>
          <a:xfrm>
            <a:off x="336240" y="6355800"/>
            <a:ext cx="588240" cy="36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latin typeface="Calibri"/>
              </a:rPr>
              <a:t>S</a:t>
            </a:r>
            <a:r>
              <a:rPr lang="es-ES" sz="1200" b="0" strike="noStrike" spc="-12">
                <a:latin typeface="Calibri"/>
              </a:rPr>
              <a:t>E</a:t>
            </a:r>
            <a:r>
              <a:rPr lang="es-ES" sz="1200" b="0" strike="noStrike" spc="-7">
                <a:latin typeface="Calibri"/>
              </a:rPr>
              <a:t>SI</a:t>
            </a:r>
            <a:r>
              <a:rPr lang="es-ES" sz="1200" b="0" strike="noStrike" spc="4">
                <a:latin typeface="Calibri"/>
              </a:rPr>
              <a:t>Ó</a:t>
            </a:r>
            <a:r>
              <a:rPr lang="es-ES" sz="1200" b="0" strike="noStrike" spc="-1">
                <a:latin typeface="Calibri"/>
              </a:rPr>
              <a:t>N 7</a:t>
            </a:r>
            <a:endParaRPr lang="es-ES" sz="1200" b="0" strike="noStrike" spc="-1">
              <a:latin typeface="Arial"/>
            </a:endParaRPr>
          </a:p>
        </p:txBody>
      </p:sp>
      <p:sp>
        <p:nvSpPr>
          <p:cNvPr id="232" name="TextShape 4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34" name="TextShape 2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  <p:sp>
        <p:nvSpPr>
          <p:cNvPr id="235" name="CustomShape 3"/>
          <p:cNvSpPr/>
          <p:nvPr/>
        </p:nvSpPr>
        <p:spPr>
          <a:xfrm>
            <a:off x="914760" y="770760"/>
            <a:ext cx="11181240" cy="600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Asignar</a:t>
            </a:r>
            <a:r>
              <a:rPr lang="es-ES" sz="1800" b="1" strike="noStrike" spc="-2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 taxonomía: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El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paquete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dada2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tiene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implementado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un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método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clasificación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Bayesiano.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99000"/>
              </a:lnSpc>
              <a:spcBef>
                <a:spcPts val="40"/>
              </a:spcBef>
            </a:pP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Primero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usaremos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como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referencia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las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secuencias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presentes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el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archivo</a:t>
            </a:r>
            <a:r>
              <a:rPr lang="es-ES" sz="1800" b="1" strike="noStrike" spc="18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silva_nr_v132_train_set.fa.gz,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que 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contiene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secuencias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que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han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utilizado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60">
                <a:solidFill>
                  <a:srgbClr val="2C3E50"/>
                </a:solidFill>
                <a:latin typeface="Calibri"/>
              </a:rPr>
              <a:t>RDP,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GreenGenes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(97%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identidad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y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la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base</a:t>
            </a:r>
            <a:r>
              <a:rPr lang="es-ES" sz="1800" b="0" strike="noStrike" spc="1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datos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Silva </a:t>
            </a:r>
            <a:r>
              <a:rPr lang="es-ES" sz="1800" b="0" strike="noStrike" spc="-39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junto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con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fastas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adicionales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de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protistas).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s-ES" sz="1800" b="0" strike="noStrike" spc="-26">
                <a:solidFill>
                  <a:srgbClr val="2C3E50"/>
                </a:solidFill>
                <a:latin typeface="Calibri"/>
              </a:rPr>
              <a:t>taxa</a:t>
            </a:r>
            <a:r>
              <a:rPr lang="es-ES" sz="1800" b="0" strike="noStrike" spc="3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&lt;-</a:t>
            </a:r>
            <a:r>
              <a:rPr lang="es-ES" sz="1800" b="0" strike="noStrike" spc="2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assignTaxonomy(seqtab.nochim,</a:t>
            </a:r>
            <a:r>
              <a:rPr lang="es-ES" sz="1800" b="0" strike="noStrike" spc="3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"~/tax/silva_nr_v132_train_set.fa.gz",</a:t>
            </a:r>
            <a:r>
              <a:rPr lang="es-ES" sz="1800" b="0" strike="noStrike" spc="3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multithread=TRUE)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99000"/>
              </a:lnSpc>
            </a:pP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En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segundo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35">
                <a:solidFill>
                  <a:srgbClr val="2C3E50"/>
                </a:solidFill>
                <a:latin typeface="Calibri"/>
              </a:rPr>
              <a:t>lugar,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haremos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una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relación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21">
                <a:solidFill>
                  <a:srgbClr val="2C3E50"/>
                </a:solidFill>
                <a:latin typeface="Calibri"/>
              </a:rPr>
              <a:t>exacta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para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asignar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a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nivel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especies.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La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identidad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los</a:t>
            </a:r>
            <a:r>
              <a:rPr lang="es-ES" sz="1800" b="1" strike="noStrike" spc="-2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32">
                <a:solidFill>
                  <a:srgbClr val="2C3E50"/>
                </a:solidFill>
                <a:latin typeface="Calibri"/>
              </a:rPr>
              <a:t>ASVs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con</a:t>
            </a:r>
            <a:r>
              <a:rPr lang="es-ES" sz="1800" b="1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referencia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ha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ser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del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100%,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y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solo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se puede usar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con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fragmentos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del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16S y a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nivel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de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genes.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Por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ello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se</a:t>
            </a:r>
            <a:r>
              <a:rPr lang="es-ES" sz="1800" b="1" strike="noStrike" spc="-2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susará </a:t>
            </a:r>
            <a:r>
              <a:rPr lang="es-ES" sz="1800" b="1" strike="noStrike" spc="-39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2">
                <a:solidFill>
                  <a:srgbClr val="2C3E50"/>
                </a:solidFill>
                <a:latin typeface="Calibri"/>
              </a:rPr>
              <a:t>como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referencia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el</a:t>
            </a:r>
            <a:r>
              <a:rPr lang="es-ES" sz="1800" b="1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archivo</a:t>
            </a:r>
            <a:r>
              <a:rPr lang="es-ES" sz="1800" b="1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silva_species_assignment_v132.fa.gz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que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contiene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datos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de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Silva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y de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66">
                <a:solidFill>
                  <a:srgbClr val="2C3E50"/>
                </a:solidFill>
                <a:latin typeface="Calibri"/>
              </a:rPr>
              <a:t>RDP.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ts val="2109"/>
              </a:lnSpc>
            </a:pPr>
            <a:r>
              <a:rPr lang="es-ES" sz="1800" b="0" strike="noStrike" spc="-26">
                <a:solidFill>
                  <a:srgbClr val="2C3E50"/>
                </a:solidFill>
                <a:latin typeface="Calibri"/>
              </a:rPr>
              <a:t>taxa</a:t>
            </a:r>
            <a:r>
              <a:rPr lang="es-ES" sz="1800" b="0" strike="noStrike" spc="5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&lt;-</a:t>
            </a:r>
            <a:r>
              <a:rPr lang="es-ES" sz="1800" b="0" strike="noStrike" spc="5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addSpecies(taxa,</a:t>
            </a:r>
            <a:r>
              <a:rPr lang="es-ES" sz="1800" b="0" strike="noStrike" spc="58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"~/tax/silva_species_assignment_v132.fa.gz") </a:t>
            </a:r>
            <a:r>
              <a:rPr lang="es-ES" sz="1800" b="0" strike="noStrike" spc="-392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taxa.print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&lt;- </a:t>
            </a:r>
            <a:r>
              <a:rPr lang="es-ES" sz="1800" b="0" strike="noStrike" spc="-26">
                <a:solidFill>
                  <a:srgbClr val="2C3E50"/>
                </a:solidFill>
                <a:latin typeface="Calibri"/>
              </a:rPr>
              <a:t>taxa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99"/>
              </a:spcBef>
            </a:pP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Cada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uno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la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FF0000"/>
                </a:solidFill>
                <a:latin typeface="Calibri"/>
              </a:rPr>
              <a:t>ruta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 donde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15">
                <a:solidFill>
                  <a:srgbClr val="FF0000"/>
                </a:solidFill>
                <a:latin typeface="Calibri"/>
              </a:rPr>
              <a:t>tenga</a:t>
            </a:r>
            <a:r>
              <a:rPr lang="es-ES" sz="1800" b="0" strike="noStrike" spc="4">
                <a:solidFill>
                  <a:srgbClr val="FF000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FF0000"/>
                </a:solidFill>
                <a:latin typeface="Calibri"/>
              </a:rPr>
              <a:t>los ficheros </a:t>
            </a:r>
            <a:r>
              <a:rPr lang="es-ES" sz="1800" b="0" strike="noStrike" spc="-1">
                <a:solidFill>
                  <a:srgbClr val="FF0000"/>
                </a:solidFill>
                <a:latin typeface="Calibri"/>
              </a:rPr>
              <a:t>*.gz</a:t>
            </a:r>
            <a:endParaRPr lang="es-E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Shape 1"/>
          <p:cNvSpPr txBox="1"/>
          <p:nvPr/>
        </p:nvSpPr>
        <p:spPr>
          <a:xfrm>
            <a:off x="336240" y="354960"/>
            <a:ext cx="20253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HANDS</a:t>
            </a:r>
            <a:r>
              <a:rPr lang="es-ES" sz="2000" b="0" strike="noStrike" spc="-35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7">
                <a:solidFill>
                  <a:srgbClr val="E7E6E6"/>
                </a:solidFill>
                <a:latin typeface="Calibri"/>
              </a:rPr>
              <a:t>ON!</a:t>
            </a:r>
            <a:r>
              <a:rPr lang="es-ES" sz="2000" b="0" strike="noStrike" spc="-41">
                <a:solidFill>
                  <a:srgbClr val="E7E6E6"/>
                </a:solidFill>
                <a:latin typeface="Calibri"/>
              </a:rPr>
              <a:t> </a:t>
            </a:r>
            <a:r>
              <a:rPr lang="es-ES" sz="2000" b="0" strike="noStrike" spc="-15">
                <a:solidFill>
                  <a:srgbClr val="E7E6E6"/>
                </a:solidFill>
                <a:latin typeface="Calibri"/>
              </a:rPr>
              <a:t>DADA2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914760" y="770760"/>
            <a:ext cx="4597560" cy="16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Asignar</a:t>
            </a:r>
            <a:r>
              <a:rPr lang="es-ES" sz="1800" b="1" strike="noStrike" spc="-2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1" strike="noStrike" spc="-7">
                <a:solidFill>
                  <a:srgbClr val="2C3E50"/>
                </a:solidFill>
                <a:latin typeface="Calibri"/>
              </a:rPr>
              <a:t>la</a:t>
            </a:r>
            <a:r>
              <a:rPr lang="es-ES" sz="1800" b="1" strike="noStrike" spc="-15">
                <a:solidFill>
                  <a:srgbClr val="2C3E50"/>
                </a:solidFill>
                <a:latin typeface="Calibri"/>
              </a:rPr>
              <a:t> taxonomía: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endParaRPr lang="es-ES" sz="1800" b="0" strike="noStrike" spc="-1">
              <a:latin typeface="Arial"/>
            </a:endParaRPr>
          </a:p>
          <a:p>
            <a:pPr marL="64800">
              <a:lnSpc>
                <a:spcPct val="101000"/>
              </a:lnSpc>
            </a:pP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#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Removing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sequence</a:t>
            </a:r>
            <a:r>
              <a:rPr lang="es-ES" sz="1800" b="0" strike="noStrike" spc="9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rownames </a:t>
            </a:r>
            <a:r>
              <a:rPr lang="es-ES" sz="1800" b="0" strike="noStrike" spc="-15">
                <a:solidFill>
                  <a:srgbClr val="2C3E50"/>
                </a:solidFill>
                <a:latin typeface="Calibri"/>
              </a:rPr>
              <a:t>for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display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7">
                <a:solidFill>
                  <a:srgbClr val="2C3E50"/>
                </a:solidFill>
                <a:latin typeface="Calibri"/>
              </a:rPr>
              <a:t>only </a:t>
            </a:r>
            <a:r>
              <a:rPr lang="es-ES" sz="1800" b="0" strike="noStrike" spc="-395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rownames(taxa.print)</a:t>
            </a:r>
            <a:r>
              <a:rPr lang="es-ES" sz="1800" b="0" strike="noStrike" spc="4">
                <a:solidFill>
                  <a:srgbClr val="2C3E50"/>
                </a:solidFill>
                <a:latin typeface="Calibri"/>
              </a:rPr>
              <a:t> </a:t>
            </a:r>
            <a:r>
              <a:rPr lang="es-ES" sz="1800" b="0" strike="noStrike" spc="-1">
                <a:solidFill>
                  <a:srgbClr val="2C3E50"/>
                </a:solidFill>
                <a:latin typeface="Calibri"/>
              </a:rPr>
              <a:t>&lt;- NULL</a:t>
            </a:r>
            <a:endParaRPr lang="es-ES" sz="1800" b="0" strike="noStrike" spc="-1">
              <a:latin typeface="Arial"/>
            </a:endParaRPr>
          </a:p>
          <a:p>
            <a:pPr marL="12600">
              <a:lnSpc>
                <a:spcPts val="2109"/>
              </a:lnSpc>
            </a:pPr>
            <a:r>
              <a:rPr lang="es-ES" sz="1800" b="0" strike="noStrike" spc="-12">
                <a:solidFill>
                  <a:srgbClr val="2C3E50"/>
                </a:solidFill>
                <a:latin typeface="Calibri"/>
              </a:rPr>
              <a:t>head(taxa.print)</a:t>
            </a:r>
            <a:endParaRPr lang="es-ES" sz="1800" b="0" strike="noStrike" spc="-1">
              <a:latin typeface="Arial"/>
            </a:endParaRPr>
          </a:p>
        </p:txBody>
      </p:sp>
      <p:pic>
        <p:nvPicPr>
          <p:cNvPr id="238" name="object 4"/>
          <p:cNvPicPr/>
          <p:nvPr/>
        </p:nvPicPr>
        <p:blipFill>
          <a:blip r:embed="rId2"/>
          <a:stretch/>
        </p:blipFill>
        <p:spPr>
          <a:xfrm>
            <a:off x="2013120" y="2995200"/>
            <a:ext cx="6950520" cy="2799360"/>
          </a:xfrm>
          <a:prstGeom prst="rect">
            <a:avLst/>
          </a:prstGeom>
          <a:ln>
            <a:noFill/>
          </a:ln>
        </p:spPr>
      </p:pic>
      <p:sp>
        <p:nvSpPr>
          <p:cNvPr id="239" name="TextShape 3"/>
          <p:cNvSpPr txBox="1"/>
          <p:nvPr/>
        </p:nvSpPr>
        <p:spPr>
          <a:xfrm>
            <a:off x="11360880" y="6426000"/>
            <a:ext cx="531720" cy="3982680"/>
          </a:xfrm>
          <a:prstGeom prst="rect">
            <a:avLst/>
          </a:prstGeom>
          <a:noFill/>
          <a:ln>
            <a:noFill/>
          </a:ln>
        </p:spPr>
        <p:txBody>
          <a:bodyPr lIns="0" tIns="504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40"/>
              </a:spcBef>
            </a:pPr>
            <a:r>
              <a:rPr lang="es-ES" sz="1200" b="0" strike="noStrike" spc="-7">
                <a:solidFill>
                  <a:srgbClr val="000000"/>
                </a:solidFill>
                <a:latin typeface="Calibri"/>
              </a:rPr>
              <a:t>15/3/23</a:t>
            </a:r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object 2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241" name="TextShape 1"/>
          <p:cNvSpPr txBox="1"/>
          <p:nvPr/>
        </p:nvSpPr>
        <p:spPr>
          <a:xfrm>
            <a:off x="434160" y="120240"/>
            <a:ext cx="3595680" cy="245088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s-ES" sz="8000" b="0" strike="noStrike" spc="-111">
                <a:solidFill>
                  <a:srgbClr val="000000"/>
                </a:solidFill>
                <a:latin typeface="Calibri"/>
              </a:rPr>
              <a:t>¡Gracias!</a:t>
            </a:r>
            <a:endParaRPr lang="es-ES" sz="80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1731</Words>
  <Application>Microsoft Macintosh PowerPoint</Application>
  <PresentationFormat>Panorámica</PresentationFormat>
  <Paragraphs>208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18</vt:i4>
      </vt:variant>
    </vt:vector>
  </HeadingPairs>
  <TitlesOfParts>
    <vt:vector size="34" baseType="lpstr">
      <vt:lpstr>Apex New</vt:lpstr>
      <vt:lpstr>Arial</vt:lpstr>
      <vt:lpstr>Arial MT</vt:lpstr>
      <vt:lpstr>Calibri</vt:lpstr>
      <vt:lpstr>Calibri Light</vt:lpstr>
      <vt:lpstr>Courier New</vt:lpstr>
      <vt:lpstr>Periodico Display</vt:lpstr>
      <vt:lpstr>Periodico Display UltraLight</vt:lpstr>
      <vt:lpstr>Symbol</vt:lpstr>
      <vt:lpstr>Times New Roman</vt:lpstr>
      <vt:lpstr>Visuelt Pro</vt:lpstr>
      <vt:lpstr>Wingdings</vt:lpstr>
      <vt:lpstr>Office Theme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Marta Sevillano González</cp:lastModifiedBy>
  <cp:revision>6</cp:revision>
  <dcterms:created xsi:type="dcterms:W3CDTF">2023-10-05T15:28:51Z</dcterms:created>
  <dcterms:modified xsi:type="dcterms:W3CDTF">2024-11-09T18:55:20Z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reated">
    <vt:filetime>2023-03-15T00:00:00Z</vt:filetime>
  </property>
  <property fmtid="{D5CDD505-2E9C-101B-9397-08002B2CF9AE}" pid="4" name="HyperlinksChanged">
    <vt:bool>false</vt:bool>
  </property>
  <property fmtid="{D5CDD505-2E9C-101B-9397-08002B2CF9AE}" pid="5" name="LastSaved">
    <vt:filetime>2023-10-05T00:00:00Z</vt:filetime>
  </property>
  <property fmtid="{D5CDD505-2E9C-101B-9397-08002B2CF9AE}" pid="6" name="LinksUpToDate">
    <vt:bool>false</vt:bool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</Properties>
</file>